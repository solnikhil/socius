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BF7F2AD-AA78-22E9-4EC3-CB81E878941D}">
          <p14:sldIdLst>
            <p14:sldId id="256"/>
          </p14:sldIdLst>
        </p14:section>
        <p14:section name="Pitch" id="{601EABAE-FBCC-D890-2D88-3B6E63AA42F6}">
          <p14:sldIdLst>
            <p14:sldId id="257"/>
            <p14:sldId id="258"/>
            <p14:sldId id="259"/>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62504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Team: California Burrito. Recommended track: AI Automation. The main outcome is end-to-end automation of user tasks across tools, local files and browser workflows. Open source, model choice and the marketplace differentiate the automation platform; Open Innovation is a broader fallback if event organisers direct general agent platforms there.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ns2:creationId val="1024086991"/>
      </p:ext>
    </p:extLst>
  </p:cSld>
  <p:clrMapOvr>
    <a:masterClrMapping/>
  </p:clrMapOvr>
</p:notes>
</file>

<file path=ppt/notesSlides/notesSlide2.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This slide states the problem and target users only. Treat audience pains as hypotheses to validate in interviews. Concrete examples include collecting deadlines across college portals and email, summarising documents, following up on client invoices and tracking routine business administration. Avoid claiming all competing assistants lack extensibility or charge in dollars: product features and access differ. Socius’s intended opportunity is the combination of local execution, provider choice and community-built skills for local workflows.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ns2:creationId val="1024086991"/>
      </p:ext>
    </p:extLst>
  </p:cSld>
  <p:clrMapOvr>
    <a:masterClrMapping/>
  </p:clrMapOvr>
</p:notes>
</file>

<file path=ppt/notesSlides/notesSlide3.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Socius brings personal assistance, teams of bots and ongoing responsibilities into one open platform. The phone controls the same local runtime through authenticated access, rather than running a second independent agent. Images describe product inspirations and the desired friendly companion experience; they do not imply partnerships, product integration or verified feature parity. Baymax is the user-selected visual metaphor, not an original Socius character. Local-first describes storage and execution. Cloud models and hosted tools receive the context routed to them, and the laptop must remain awake and reachable.</a:t>
            </a:r>
          </a:p>
          <a:p>
            <a:r>
              <a:t>Visual sources: Muse image selected from Google Images/Instagram, https://encrypted-tbn0.gstatic.com/images?q=tbn:ANd9GcS8gwfSd-W2bzOvTpeic2ETHjTcfSfJwpD1j1gWVdvByBq-Umytk7Mna8w&amp;s=10 ; Grok Bot from https://images.lumacdn.com/cdn-cgi/image/format=auto,fit=cover,dpr=2,background=white,quality=75,width=400,height=400/uploads/2v/d138a593-2147-414c-9933-c9a312a4b5ac.png ; dots artwork from https://cdn.mos.cms.futurecdn.net/v2/t:0,l:365,cw:941,ch:941,q:80,w:941/8VTccbXzN6iSXcm5UXhMGY.png . Transparent cutouts of these references were edited with the image tool. Baymax source: high-resolution original poster from FilmVandaag.nl, https://static.filmvandaag.nl/shows/original/8000/8142.jpg?v=1; original Disney artwork, https://press.disneyplus.com/disney-plus/baymax/logos . The original character pixels and lollipop pose are retained in a transparent PNG cutout. No banner is attached to the character. Character and product artwork belong to the respective owners.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ns2:creationId val="1024086991"/>
      </p:ext>
    </p:extLst>
  </p:cSld>
  <p:clrMapOvr>
    <a:masterClrMapping/>
  </p:clrMapOvr>
</p:notes>
</file>

<file path=ppt/notesSlides/notesSlide4.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The marketplace is the main extension mechanism. Socius owns the permissions, credential handling and approval boundary. MCP supplies a connector protocol, not a sandbox. All tools, scheduled jobs and delegated bots must use the same policy boundary. India-focused candidates include Sarvam AI and AI4Bharat for voice, Razorpay Route for payments/creator payouts and Setu for DigiLocker/Account Aggregator. These are roadmap candidates, not adopted or implemented integrations. Initial connector evaluation prioritises email/calendar and Notion. Paid marketplace processing and always-on cloud machines remain later decisions.</a:t>
            </a:r>
          </a:p>
          <a:p>
            <a:r>
              <a:t>Candidate documentation supplied in the brief: https://docs.sarvam.ai/api/getting-started/models ; https://huggingface.co/ai4bharat/indic-conformer-600m-multilingual ; https://razorpay.com/docs/payments/route/integration-guide/ ; https://docs.setu.co/data/digilocker/quickstart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ns2:creationId val="1024086991"/>
      </p:ext>
    </p:extLst>
  </p:cSld>
  <p:clrMapOvr>
    <a:masterClrMapping/>
  </p:clrMapOvr>
</p:notes>
</file>

<file path=ppt/notesSlides/notesSlide5.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Architecture supplied by the team, preserved as 13 editable nodes and 12 directed connections. Laptop web UI or Electron connects to the authenticated local API. Phone responsive UI connects through Tailscale Serve to the same API. The API connects to the agent runtime for tasks, bots and schedules. Runtime connects to model adapters, editable memory and policy/approvals/activity log. Policy connects to tools and MCP connectors. Tools connect to the browser worker and approved local files. The marketplace registry connects through reviewed installation to the runtime.</a:t>
            </a:r>
          </a:p>
          <a:p>
            <a:r>
              <a:t>Proposed implementation: React + TypeScript + Vite, Tailwind CSS + shadcn/ui for one shared UI; Tailscale Serve over private HTTPS, tailnet restrictions and Socius device pairing/authentication; AI SDK behind a Socius-owned model interface with direct cloud and Ollama adapters; SQLite for local task/approval/settings/schedule/installation/activity state, distinct from semantic memory and framework workflow storage; Playwright with a dedicated visible browser profile; a Socius connector host for MCP. Keep credentials out of the frontend and redact secrets from logs.</a:t>
            </a:r>
          </a:p>
          <a:p>
            <a:r>
              <a:t>Current foundation references in the brief: https://tailscale.com/docs/reference/tailscale-cli/serve ; https://ai-sdk.dev/docs/foundations/providers-and-models ; https://playwright.dev/docs/api/class-browsertype#browser-type-launch-persistent-context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ns2:creationId val="1024086991"/>
      </p:ext>
    </p:extLst>
  </p:cSld>
  <p:clrMapOvr>
    <a:masterClrMapping/>
  </p:clrMapOvr>
</p:notes>
</file>

<file path=ppt/notesSlides/notesSlide6.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The newer third-party selection takes priority over older LiteLLM/Cloudflare/Telegram examples elsewhere on the page. Start with the responsive web UI and local runtime. Electron packaging is a separate deliverable and should not block the web interface.</a:t>
            </a:r>
          </a:p>
          <a:p>
            <a:r>
              <a:t>Eve must demonstrate direct cloud and Ollama adapters, restart recovery, cancellation, approval enforcement across tools/subagents and local packaging. Supermemory local must demonstrate edit/delete propagation, provenance, export/backup, licensing and acceptable resource use; native Windows support needs investigation. Electron/Forge must pass secure IPC/preload, renderer sandboxing, credential storage, installers, signing and update checks. Plugin sandbox, registry hosting, email provider and connector packages remain open selections. A child process and permission manifest alone do not establish a safe plugin sandbox.</a:t>
            </a:r>
          </a:p>
          <a:p>
            <a:r>
              <a:t>The core is free/open source. Paid skills and payment processing are later commercial decisions. Optional cloud plans have compute/support costs. Validate repeat use and willingness to pay through pilots. Demo target is proposed, not a claim of completion. Use local inference to demonstrate that source PDF content stays on the laptop.</a:t>
            </a:r>
          </a:p>
          <a:p>
            <a:r>
              <a:t>Candidate documentation: https://github.com/vercel/eve/blob/main/docs/concepts/execution-model-and-durability.mdx ; https://github.com/supermemoryai/supermemory/blob/main/apps/docs/self-hosting/quickstart.mdx ; https://www.electronjs.org/docs/latest/tutorial/security ; https://www.electronforge.io/guides/code-signing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ns2:creationId val="1024086991"/>
      </p:ext>
    </p:extLst>
  </p:cSld>
  <p:clrMapOvr>
    <a:masterClrMapping/>
  </p:clrMapOvr>
</p:notes>
</file>

<file path=ppt/notesSlides/notesSlide7.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source, updated 14 October 2026: https://app.notion.com/p/Socius-Ideathon-3-0-3f910c43ad3e81198b7bdf7be7bf6b06 . Socius is a proposed personal AI platform. The updated Third-party tools and frameworks section explicitly says nothing listed is implemented yet. Recommended foundations are proposed selections, not completed integrations. Candidate frameworks and India-specific integrations require evaluation. No measured traction, time-saving, revenue or market-size figures are asserted.</a:t>
            </a:r>
          </a:p>
          <a:p>
            <a:r>
              <a:t>Expected impact, not measured results. Pilot with students, freelancers and small businesses. Measure end-to-end completion against an agreed task outcome, compare assisted time with the existing workflow, track return use, and inspect approval decisions including unwanted sends or changes. Ask skill creators whether the SDK and registry reduce the effort to distribute a reliable integration. Expand to Indian-language voice and India Stack integrations after validating the core automation experience.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ns2:creationId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lang="en-US" b="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685800"/>
            <a:ext cx="10908792" cy="777240"/>
          </a:xfrm>
          <a:prstGeom prst="rect">
            <a:avLst/>
          </a:prstGeom>
          <a:noFill/>
          <a:ln/>
        </p:spPr>
        <p:txBody>
          <a:bodyPr wrap="square" rtlCol="0"/>
          <a:lstStyle>
            <a:lvl1pPr marL="0" indent="0" algn="l">
              <a:buNone/>
              <a:defRPr lang="en-US" sz="3400" b="1" kern="0" spc="200" dirty="0">
                <a:solidFill>
                  <a:schemeClr val="tx1"/>
                </a:solidFill>
              </a:defRPr>
            </a:lvl1pPr>
          </a:lstStyle>
          <a:p>
            <a:pPr marL="0" indent="0" algn="l">
              <a:buNone/>
            </a:pPr>
            <a:r>
              <a:rPr lang="en-US" sz="3400" b="1" kern="0" spc="200" dirty="0">
                <a:solidFill>
                  <a:schemeClr val="tx1"/>
                </a:solidFill>
              </a:rPr>
              <a:t>Slide Title</a:t>
            </a:r>
            <a:endParaRPr lang="en-US" sz="3400" dirty="0"/>
          </a:p>
        </p:txBody>
      </p:sp>
      <p:sp>
        <p:nvSpPr>
          <p:cNvPr id="3" name="Text 0"/>
          <p:cNvSpPr>
            <a:spLocks noGrp="1"/>
          </p:cNvSpPr>
          <p:nvPr>
            <p:ph type="body" idx="101" hasCustomPrompt="1"/>
          </p:nvPr>
        </p:nvSpPr>
        <p:spPr>
          <a:xfrm>
            <a:off x="960120" y="1874520"/>
            <a:ext cx="10268712" cy="3931920"/>
          </a:xfrm>
          <a:prstGeom prst="rect">
            <a:avLst/>
          </a:prstGeom>
          <a:noFill/>
          <a:ln/>
        </p:spPr>
        <p:txBody>
          <a:bodyPr wrap="square" rtlCol="0"/>
          <a:lstStyle>
            <a:lvl1pPr marL="0" indent="0">
              <a:buNone/>
              <a:defRPr lang="en-US" sz="1800" dirty="0">
                <a:solidFill>
                  <a:schemeClr val="tx1"/>
                </a:solidFill>
              </a:defRPr>
            </a:lvl1pPr>
          </a:lstStyle>
          <a:p>
            <a:pPr marL="0" indent="0">
              <a:buNone/>
            </a:pPr>
            <a:r>
              <a:rPr lang="en-US" sz="1800" dirty="0">
                <a:solidFill>
                  <a:schemeClr val="tx1"/>
                </a:solidFill>
              </a:rPr>
              <a:t>Click to add content</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RO">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83080"/>
            <a:ext cx="8229600" cy="1371600"/>
          </a:xfrm>
          <a:prstGeom prst="rect">
            <a:avLst/>
          </a:prstGeom>
          <a:noFill/>
          <a:ln/>
        </p:spPr>
        <p:txBody>
          <a:bodyPr wrap="square" rtlCol="0"/>
          <a:lstStyle>
            <a:lvl1pPr marL="0" indent="0" algn="l">
              <a:buNone/>
              <a:defRPr lang="en-US" sz="7200" b="1" dirty="0">
                <a:solidFill>
                  <a:schemeClr val="tx1"/>
                </a:solidFill>
              </a:defRPr>
            </a:lvl1pPr>
          </a:lstStyle>
          <a:p>
            <a:pPr marL="0" indent="0" algn="l">
              <a:buNone/>
            </a:pPr>
            <a:r>
              <a:rPr lang="en-US" sz="7200" b="1" dirty="0">
                <a:solidFill>
                  <a:schemeClr val="tx1"/>
                </a:solidFill>
              </a:rPr>
              <a:t>Title</a:t>
            </a:r>
            <a:endParaRPr lang="en-US" sz="7200" dirty="0"/>
          </a:p>
        </p:txBody>
      </p:sp>
      <p:sp>
        <p:nvSpPr>
          <p:cNvPr id="3" name="Text 0"/>
          <p:cNvSpPr>
            <a:spLocks noGrp="1"/>
          </p:cNvSpPr>
          <p:nvPr>
            <p:ph type="body" idx="101" hasCustomPrompt="1"/>
          </p:nvPr>
        </p:nvSpPr>
        <p:spPr>
          <a:xfrm>
            <a:off x="777240" y="4480560"/>
            <a:ext cx="3017520" cy="548640"/>
          </a:xfrm>
          <a:prstGeom prst="rect">
            <a:avLst/>
          </a:prstGeom>
          <a:noFill/>
          <a:ln/>
        </p:spPr>
        <p:txBody>
          <a:bodyPr wrap="square" rtlCol="0"/>
          <a:lstStyle>
            <a:lvl1pPr marL="0" indent="0">
              <a:buNone/>
              <a:defRPr lang="en-US" sz="1600" dirty="0">
                <a:solidFill>
                  <a:schemeClr val="tx1"/>
                </a:solidFill>
              </a:defRPr>
            </a:lvl1pPr>
          </a:lstStyle>
          <a:p>
            <a:pPr marL="0" indent="0">
              <a:buNone/>
            </a:pPr>
            <a:r>
              <a:rPr lang="en-US" sz="1600" dirty="0">
                <a:solidFill>
                  <a:schemeClr val="tx1"/>
                </a:solidFill>
              </a:rPr>
              <a:t>Click to add</a:t>
            </a:r>
            <a:endParaRPr lang="en-US" sz="1600" dirty="0"/>
          </a:p>
        </p:txBody>
      </p:sp>
      <p:sp>
        <p:nvSpPr>
          <p:cNvPr id="4" name="Text 0"/>
          <p:cNvSpPr>
            <a:spLocks noGrp="1"/>
          </p:cNvSpPr>
          <p:nvPr>
            <p:ph type="body" idx="102" hasCustomPrompt="1"/>
          </p:nvPr>
        </p:nvSpPr>
        <p:spPr>
          <a:xfrm>
            <a:off x="4297680" y="4480560"/>
            <a:ext cx="3017520" cy="548640"/>
          </a:xfrm>
          <a:prstGeom prst="rect">
            <a:avLst/>
          </a:prstGeom>
          <a:noFill/>
          <a:ln/>
        </p:spPr>
        <p:txBody>
          <a:bodyPr wrap="square" rtlCol="0"/>
          <a:lstStyle>
            <a:lvl1pPr marL="0" indent="0">
              <a:buNone/>
              <a:defRPr lang="en-US" sz="1600" dirty="0">
                <a:solidFill>
                  <a:schemeClr val="tx1"/>
                </a:solidFill>
              </a:defRPr>
            </a:lvl1pPr>
          </a:lstStyle>
          <a:p>
            <a:pPr marL="0" indent="0">
              <a:buNone/>
            </a:pPr>
            <a:r>
              <a:rPr lang="en-US" sz="1600" dirty="0">
                <a:solidFill>
                  <a:schemeClr val="tx1"/>
                </a:solidFill>
              </a:rPr>
              <a:t>Click to add</a:t>
            </a:r>
            <a:endParaRPr lang="en-US" sz="1600" dirty="0"/>
          </a:p>
        </p:txBody>
      </p:sp>
      <p:sp>
        <p:nvSpPr>
          <p:cNvPr id="5" name="Text 0"/>
          <p:cNvSpPr>
            <a:spLocks noGrp="1"/>
          </p:cNvSpPr>
          <p:nvPr>
            <p:ph type="body" idx="103" hasCustomPrompt="1"/>
          </p:nvPr>
        </p:nvSpPr>
        <p:spPr>
          <a:xfrm>
            <a:off x="777240" y="5577840"/>
            <a:ext cx="3017520" cy="548640"/>
          </a:xfrm>
          <a:prstGeom prst="rect">
            <a:avLst/>
          </a:prstGeom>
          <a:noFill/>
          <a:ln/>
        </p:spPr>
        <p:txBody>
          <a:bodyPr wrap="square" rtlCol="0"/>
          <a:lstStyle>
            <a:lvl1pPr marL="0" indent="0">
              <a:buNone/>
              <a:defRPr lang="en-US" sz="1600" dirty="0">
                <a:solidFill>
                  <a:schemeClr val="tx1"/>
                </a:solidFill>
              </a:defRPr>
            </a:lvl1pPr>
          </a:lstStyle>
          <a:p>
            <a:pPr marL="0" indent="0">
              <a:buNone/>
            </a:pPr>
            <a:r>
              <a:rPr lang="en-US" sz="1600" dirty="0">
                <a:solidFill>
                  <a:schemeClr val="tx1"/>
                </a:solidFill>
              </a:rPr>
              <a:t>Click to add</a:t>
            </a:r>
            <a:endParaRPr lang="en-US" sz="1600" dirty="0"/>
          </a:p>
        </p:txBody>
      </p:sp>
      <p:sp>
        <p:nvSpPr>
          <p:cNvPr id="6" name="Text 0"/>
          <p:cNvSpPr>
            <a:spLocks noGrp="1"/>
          </p:cNvSpPr>
          <p:nvPr>
            <p:ph type="body" idx="104" hasCustomPrompt="1"/>
          </p:nvPr>
        </p:nvSpPr>
        <p:spPr>
          <a:xfrm>
            <a:off x="4297680" y="5577840"/>
            <a:ext cx="3017520" cy="548640"/>
          </a:xfrm>
          <a:prstGeom prst="rect">
            <a:avLst/>
          </a:prstGeom>
          <a:noFill/>
          <a:ln/>
        </p:spPr>
        <p:txBody>
          <a:bodyPr wrap="square" rtlCol="0"/>
          <a:lstStyle>
            <a:lvl1pPr marL="0" indent="0">
              <a:buNone/>
              <a:defRPr lang="en-US" sz="1600" dirty="0">
                <a:solidFill>
                  <a:schemeClr val="tx1"/>
                </a:solidFill>
              </a:defRPr>
            </a:lvl1pPr>
          </a:lstStyle>
          <a:p>
            <a:pPr marL="0" indent="0">
              <a:buNone/>
            </a:pPr>
            <a:r>
              <a:rPr lang="en-US" sz="1600" dirty="0">
                <a:solidFill>
                  <a:schemeClr val="tx1"/>
                </a:solidFill>
              </a:rPr>
              <a:t>Click to add</a:t>
            </a: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ns0:Relationships xmlns:ns0="http://schemas.openxmlformats.org/package/2006/relationships"><ns0:Relationship Id="rId3" Type="http://schemas.openxmlformats.org/officeDocument/2006/relationships/image" Target="../media/image1.png" /><ns0:Relationship Id="rId2" Type="http://schemas.openxmlformats.org/officeDocument/2006/relationships/notesSlide" Target="../notesSlides/notesSlide1.xml" /><ns0:Relationship Id="rId1" Type="http://schemas.openxmlformats.org/officeDocument/2006/relationships/slideLayout" Target="../slideLayouts/slideLayout3.xml" /><ns0:Relationship Id="rId5" Type="http://schemas.openxmlformats.org/officeDocument/2006/relationships/image" Target="../media/image3.jpeg" /><ns0:Relationship Id="rId4" Type="http://schemas.openxmlformats.org/officeDocument/2006/relationships/image" Target="../media/image2.png" /></ns0:Relationships>
</file>

<file path=ppt/slides/_rels/slide2.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2.xml" /><ns0:Relationship Id="rId1" Type="http://schemas.openxmlformats.org/officeDocument/2006/relationships/slideLayout" Target="../slideLayouts/slideLayout2.xml" /><ns0:Relationship Id="rId4" Type="http://schemas.openxmlformats.org/officeDocument/2006/relationships/image" Target="../media/image3.jpeg" /></ns0:Relationships>
</file>

<file path=ppt/slides/_rels/slide3.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3.xml" /><ns0:Relationship Id="rId1" Type="http://schemas.openxmlformats.org/officeDocument/2006/relationships/slideLayout" Target="../slideLayouts/slideLayout2.xml" /><ns0:Relationship Id="rId4" Type="http://schemas.openxmlformats.org/officeDocument/2006/relationships/image" Target="../media/image3.jpeg" /><ns0:Relationship Type="http://schemas.openxmlformats.org/officeDocument/2006/relationships/image" Target="../media/socius_image.png" Id="rIdSocius1" /><ns0:Relationship Type="http://schemas.openxmlformats.org/officeDocument/2006/relationships/image" Target="../media/socius_image2.png" Id="rIdSocius2" /><ns0:Relationship Type="http://schemas.openxmlformats.org/officeDocument/2006/relationships/image" Target="../media/socius_image3.png" Id="rIdSocius3" /><ns0:Relationship Type="http://schemas.openxmlformats.org/officeDocument/2006/relationships/image" Target="../media/socius_image4.png" Id="rIdSocius4" /></ns0:Relationships>
</file>

<file path=ppt/slides/_rels/slide4.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4.xml" /><ns0:Relationship Id="rId1" Type="http://schemas.openxmlformats.org/officeDocument/2006/relationships/slideLayout" Target="../slideLayouts/slideLayout2.xml" /><ns0:Relationship Id="rId4" Type="http://schemas.openxmlformats.org/officeDocument/2006/relationships/image" Target="../media/image3.jpeg" /></ns0:Relationships>
</file>

<file path=ppt/slides/_rels/slide5.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5.xml" /><ns0:Relationship Id="rId1" Type="http://schemas.openxmlformats.org/officeDocument/2006/relationships/slideLayout" Target="../slideLayouts/slideLayout2.xml" /><ns0:Relationship Id="rId4" Type="http://schemas.openxmlformats.org/officeDocument/2006/relationships/image" Target="../media/image3.jpeg" /></ns0:Relationships>
</file>

<file path=ppt/slides/_rels/slide6.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6.xml" /><ns0:Relationship Id="rId1" Type="http://schemas.openxmlformats.org/officeDocument/2006/relationships/slideLayout" Target="../slideLayouts/slideLayout2.xml" /><ns0:Relationship Id="rId4" Type="http://schemas.openxmlformats.org/officeDocument/2006/relationships/image" Target="../media/image3.jpeg" /></ns0:Relationships>
</file>

<file path=ppt/slides/_rels/slide7.xml.rels><?xml version='1.0' encoding='utf-8'?>
<ns0:Relationships xmlns:ns0="http://schemas.openxmlformats.org/package/2006/relationships"><ns0:Relationship Id="rId3" Type="http://schemas.openxmlformats.org/officeDocument/2006/relationships/image" Target="../media/image4.png" /><ns0:Relationship Id="rId2" Type="http://schemas.openxmlformats.org/officeDocument/2006/relationships/notesSlide" Target="../notesSlides/notesSlide7.xml" /><ns0:Relationship Id="rId1" Type="http://schemas.openxmlformats.org/officeDocument/2006/relationships/slideLayout" Target="../slideLayouts/slideLayout2.xml" /><ns0:Relationship Id="rId4" Type="http://schemas.openxmlformats.org/officeDocument/2006/relationships/image" Target="../media/image3.jpeg" /></ns0: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Association Name"/>
          <p:cNvSpPr txBox="1"/>
          <p:nvPr/>
        </p:nvSpPr>
        <p:spPr>
          <a:xfrm>
            <a:off x="640080" y="1325880"/>
            <a:ext cx="7315200" cy="365760"/>
          </a:xfrm>
          <a:prstGeom prst="rect">
            <a:avLst/>
          </a:prstGeom>
          <a:noFill/>
          <a:ln/>
        </p:spPr>
        <p:txBody>
          <a:bodyPr wrap="square" lIns="0" tIns="0" rIns="0" bIns="0" rtlCol="0" anchor="ctr"/>
          <a:lstStyle/>
          <a:p>
            <a:pPr marL="0" indent="0">
              <a:buNone/>
            </a:pPr>
            <a:r>
              <a:rPr lang="en-US" sz="1600" b="1" kern="0" spc="800" dirty="0">
                <a:solidFill>
                  <a:schemeClr val="accent1"/>
                </a:solidFill>
                <a:latin typeface="Arial Black" panose="020B0A04020102020204" pitchFamily="34" charset="0"/>
              </a:rPr>
              <a:t>CINTEL STUDENT ASSOCIATION</a:t>
            </a:r>
            <a:endParaRPr lang="en-US" sz="1600" dirty="0">
              <a:latin typeface="Arial Black" panose="020B0A04020102020204" pitchFamily="34" charset="0"/>
            </a:endParaRPr>
          </a:p>
        </p:txBody>
      </p:sp>
      <p:sp>
        <p:nvSpPr>
          <p:cNvPr id="4" name="Text 0"/>
          <p:cNvSpPr>
            <a:spLocks noGrp="1"/>
          </p:cNvSpPr>
          <p:nvPr>
            <p:ph type="title" idx="100" hasCustomPrompt="1"/>
          </p:nvPr>
        </p:nvSpPr>
        <p:spPr>
          <a:xfrm>
            <a:off x="640080" y="1759418"/>
            <a:ext cx="8229600" cy="1371600"/>
          </a:xfrm>
          <a:prstGeom prst="rect">
            <a:avLst/>
          </a:prstGeom>
          <a:noFill/>
          <a:ln/>
        </p:spPr>
        <p:txBody>
          <a:bodyPr wrap="square" lIns="0" tIns="0" rIns="0" bIns="0" rtlCol="0" anchor="ctr"/>
          <a:lstStyle/>
          <a:p>
            <a:pPr marL="0" indent="0" algn="l">
              <a:buNone/>
            </a:pPr>
            <a:r>
              <a:rPr lang="en-US" sz="7200" b="1" dirty="0">
                <a:solidFill>
                  <a:schemeClr val="tx1"/>
                </a:solidFill>
              </a:rPr>
              <a:t>IDEATHON 3.0</a:t>
            </a:r>
            <a:endParaRPr lang="en-US" sz="7200" dirty="0"/>
          </a:p>
        </p:txBody>
      </p:sp>
      <p:sp>
        <p:nvSpPr>
          <p:cNvPr id="5" name="Subtitle"/>
          <p:cNvSpPr txBox="1"/>
          <p:nvPr/>
        </p:nvSpPr>
        <p:spPr>
          <a:xfrm>
            <a:off x="640080" y="3200400"/>
            <a:ext cx="5486400" cy="457200"/>
          </a:xfrm>
          <a:prstGeom prst="rect">
            <a:avLst/>
          </a:prstGeom>
          <a:noFill/>
          <a:ln/>
        </p:spPr>
        <p:txBody>
          <a:bodyPr wrap="square" lIns="0" tIns="0" rIns="0" bIns="0" rtlCol="0" anchor="ctr"/>
          <a:lstStyle/>
          <a:p>
            <a:pPr marL="0" indent="0">
              <a:buNone/>
            </a:pPr>
            <a:r>
              <a:rPr lang="en-US" sz="2400" b="1" kern="0" spc="1000" dirty="0">
                <a:solidFill>
                  <a:schemeClr val="accent2"/>
                </a:solidFill>
              </a:rPr>
              <a:t>PITCH DECK</a:t>
            </a:r>
            <a:endParaRPr lang="en-US" sz="2400" dirty="0"/>
          </a:p>
        </p:txBody>
      </p:sp>
      <p:sp>
        <p:nvSpPr>
          <p:cNvPr id="6" name="Label PROJECT TITLE"/>
          <p:cNvSpPr txBox="1"/>
          <p:nvPr/>
        </p:nvSpPr>
        <p:spPr>
          <a:xfrm>
            <a:off x="622434" y="4148489"/>
            <a:ext cx="3291840" cy="274320"/>
          </a:xfrm>
          <a:prstGeom prst="rect">
            <a:avLst/>
          </a:prstGeom>
          <a:noFill/>
          <a:ln/>
        </p:spPr>
        <p:txBody>
          <a:bodyPr wrap="square" lIns="0" tIns="0" rIns="0" bIns="0" rtlCol="0" anchor="ctr"/>
          <a:lstStyle/>
          <a:p>
            <a:pPr marL="0" indent="0">
              <a:buNone/>
            </a:pPr>
            <a:r>
              <a:rPr lang="en-US" sz="1100" b="1" kern="0" spc="400" dirty="0">
                <a:solidFill>
                  <a:schemeClr val="accent1"/>
                </a:solidFill>
              </a:rPr>
              <a:t>TITLE</a:t>
            </a:r>
            <a:endParaRPr lang="en-US" sz="1100" dirty="0"/>
          </a:p>
        </p:txBody>
      </p:sp>
      <p:sp>
        <p:nvSpPr>
          <p:cNvPr id="7" name="Field Box 1"/>
          <p:cNvSpPr/>
          <p:nvPr/>
        </p:nvSpPr>
        <p:spPr>
          <a:xfrm>
            <a:off x="640080" y="4480560"/>
            <a:ext cx="3291840" cy="548640"/>
          </a:xfrm>
          <a:prstGeom prst="rect">
            <a:avLst/>
          </a:prstGeom>
          <a:solidFill>
            <a:schemeClr val="bg2">
              <a:alpha val="65000"/>
            </a:schemeClr>
          </a:solidFill>
          <a:ln w="15875">
            <a:solidFill>
              <a:schemeClr val="accent1"/>
            </a:solidFill>
            <a:prstDash val="solid"/>
          </a:ln>
        </p:spPr>
      </p:sp>
      <p:sp>
        <p:nvSpPr>
          <p:cNvPr id="8" name="Text 0"/>
          <p:cNvSpPr>
            <a:spLocks noGrp="1"/>
          </p:cNvSpPr>
          <p:nvPr>
            <p:ph type="body" idx="101" hasCustomPrompt="1"/>
          </p:nvPr>
        </p:nvSpPr>
        <p:spPr>
          <a:xfrm>
            <a:off x="777240" y="4480560"/>
            <a:ext cx="3017520" cy="548640"/>
          </a:xfrm>
          <a:prstGeom prst="rect">
            <a:avLst/>
          </a:prstGeom>
          <a:noFill/>
          <a:ln/>
        </p:spPr>
        <p:txBody>
          <a:bodyPr anchor="ctr" lIns="0" rIns="0"/>
          <a:lstStyle/>
          <a:p>
            <a:r>
              <a:rPr sz="1600" lang="en-US">
                <a:solidFill>
                  <a:srgbClr val="FFFFFF"/>
                </a:solidFill>
                <a:latin typeface="Calibri"/>
              </a:rPr>
              <a:t>Socius</a:t>
            </a:r>
          </a:p>
        </p:txBody>
      </p:sp>
      <p:sp>
        <p:nvSpPr>
          <p:cNvPr id="9" name="Label TEAM NAME"/>
          <p:cNvSpPr txBox="1"/>
          <p:nvPr/>
        </p:nvSpPr>
        <p:spPr>
          <a:xfrm>
            <a:off x="4160520" y="4160520"/>
            <a:ext cx="3291840" cy="274320"/>
          </a:xfrm>
          <a:prstGeom prst="rect">
            <a:avLst/>
          </a:prstGeom>
          <a:noFill/>
          <a:ln/>
        </p:spPr>
        <p:txBody>
          <a:bodyPr wrap="square" lIns="0" tIns="0" rIns="0" bIns="0" rtlCol="0" anchor="ctr"/>
          <a:lstStyle/>
          <a:p>
            <a:pPr marL="0" indent="0">
              <a:buNone/>
            </a:pPr>
            <a:r>
              <a:rPr lang="en-US" sz="1100" b="1" kern="0" spc="400" dirty="0">
                <a:solidFill>
                  <a:schemeClr val="accent1"/>
                </a:solidFill>
              </a:rPr>
              <a:t>TEAM NAME</a:t>
            </a:r>
            <a:endParaRPr lang="en-US" sz="1100" dirty="0"/>
          </a:p>
        </p:txBody>
      </p:sp>
      <p:sp>
        <p:nvSpPr>
          <p:cNvPr id="10" name="Field Box 2"/>
          <p:cNvSpPr/>
          <p:nvPr/>
        </p:nvSpPr>
        <p:spPr>
          <a:xfrm>
            <a:off x="4160520" y="4480560"/>
            <a:ext cx="3291840" cy="548640"/>
          </a:xfrm>
          <a:prstGeom prst="rect">
            <a:avLst/>
          </a:prstGeom>
          <a:solidFill>
            <a:schemeClr val="bg2">
              <a:alpha val="65000"/>
            </a:schemeClr>
          </a:solidFill>
          <a:ln w="15875">
            <a:solidFill>
              <a:schemeClr val="accent2"/>
            </a:solidFill>
            <a:prstDash val="solid"/>
          </a:ln>
        </p:spPr>
      </p:sp>
      <p:sp>
        <p:nvSpPr>
          <p:cNvPr id="11" name="Text 0"/>
          <p:cNvSpPr>
            <a:spLocks noGrp="1"/>
          </p:cNvSpPr>
          <p:nvPr>
            <p:ph type="body" idx="102" hasCustomPrompt="1"/>
          </p:nvPr>
        </p:nvSpPr>
        <p:spPr>
          <a:xfrm>
            <a:off x="4297680" y="4480560"/>
            <a:ext cx="3017520" cy="548640"/>
          </a:xfrm>
          <a:prstGeom prst="rect">
            <a:avLst/>
          </a:prstGeom>
          <a:noFill/>
          <a:ln/>
        </p:spPr>
        <p:txBody>
          <a:bodyPr anchor="ctr" lIns="0" rIns="0"/>
          <a:lstStyle/>
          <a:p>
            <a:r>
              <a:rPr sz="1600" lang="en-US">
                <a:solidFill>
                  <a:srgbClr val="FFFFFF"/>
                </a:solidFill>
                <a:latin typeface="Calibri"/>
              </a:rPr>
              <a:t>California Burrito</a:t>
            </a:r>
          </a:p>
        </p:txBody>
      </p:sp>
      <p:sp>
        <p:nvSpPr>
          <p:cNvPr id="12" name="Label TRACK"/>
          <p:cNvSpPr txBox="1"/>
          <p:nvPr/>
        </p:nvSpPr>
        <p:spPr>
          <a:xfrm>
            <a:off x="640080" y="5257800"/>
            <a:ext cx="3291840" cy="274320"/>
          </a:xfrm>
          <a:prstGeom prst="rect">
            <a:avLst/>
          </a:prstGeom>
          <a:noFill/>
          <a:ln/>
        </p:spPr>
        <p:txBody>
          <a:bodyPr wrap="square" lIns="0" tIns="0" rIns="0" bIns="0" rtlCol="0" anchor="ctr"/>
          <a:lstStyle/>
          <a:p>
            <a:pPr marL="0" indent="0">
              <a:buNone/>
            </a:pPr>
            <a:r>
              <a:rPr lang="en-US" sz="1100" b="1" kern="0" spc="400" dirty="0">
                <a:solidFill>
                  <a:schemeClr val="accent1"/>
                </a:solidFill>
              </a:rPr>
              <a:t>TRACK</a:t>
            </a:r>
            <a:endParaRPr lang="en-US" sz="1100" dirty="0"/>
          </a:p>
        </p:txBody>
      </p:sp>
      <p:sp>
        <p:nvSpPr>
          <p:cNvPr id="13" name="Field Box 3"/>
          <p:cNvSpPr/>
          <p:nvPr/>
        </p:nvSpPr>
        <p:spPr>
          <a:xfrm>
            <a:off x="640080" y="5577840"/>
            <a:ext cx="3291840" cy="548640"/>
          </a:xfrm>
          <a:prstGeom prst="rect">
            <a:avLst/>
          </a:prstGeom>
          <a:solidFill>
            <a:schemeClr val="bg2">
              <a:alpha val="65000"/>
            </a:schemeClr>
          </a:solidFill>
          <a:ln w="15875">
            <a:solidFill>
              <a:schemeClr val="accent1"/>
            </a:solidFill>
            <a:prstDash val="solid"/>
          </a:ln>
        </p:spPr>
      </p:sp>
      <p:sp>
        <p:nvSpPr>
          <p:cNvPr id="14" name="Text 0"/>
          <p:cNvSpPr>
            <a:spLocks noGrp="1"/>
          </p:cNvSpPr>
          <p:nvPr>
            <p:ph type="body" idx="103" hasCustomPrompt="1"/>
          </p:nvPr>
        </p:nvSpPr>
        <p:spPr>
          <a:xfrm>
            <a:off x="777240" y="5577840"/>
            <a:ext cx="3017520" cy="548640"/>
          </a:xfrm>
          <a:prstGeom prst="rect">
            <a:avLst/>
          </a:prstGeom>
          <a:noFill/>
          <a:ln/>
        </p:spPr>
        <p:txBody>
          <a:bodyPr anchor="ctr" lIns="0" rIns="0"/>
          <a:lstStyle/>
          <a:p>
            <a:r>
              <a:rPr sz="1600" lang="en-US">
                <a:solidFill>
                  <a:srgbClr val="FFFFFF"/>
                </a:solidFill>
                <a:latin typeface="Calibri"/>
              </a:rPr>
              <a:t>AI Automation</a:t>
            </a:r>
          </a:p>
        </p:txBody>
      </p:sp>
      <p:sp>
        <p:nvSpPr>
          <p:cNvPr id="18" name="Tagline"/>
          <p:cNvSpPr txBox="1"/>
          <p:nvPr/>
        </p:nvSpPr>
        <p:spPr>
          <a:xfrm>
            <a:off x="7498080" y="6355080"/>
            <a:ext cx="4050792" cy="274320"/>
          </a:xfrm>
          <a:prstGeom prst="rect">
            <a:avLst/>
          </a:prstGeom>
          <a:noFill/>
          <a:ln/>
        </p:spPr>
        <p:txBody>
          <a:bodyPr wrap="square" lIns="0" tIns="0" rIns="0" bIns="0" rtlCol="0" anchor="ctr"/>
          <a:lstStyle/>
          <a:p>
            <a:pPr marL="0" indent="0" algn="r">
              <a:buNone/>
            </a:pPr>
            <a:r>
              <a:rPr lang="en-US" sz="1000" kern="0" spc="400" dirty="0"/>
              <a:t>TURN IDEAS INTO REAL SOLUTIONS</a:t>
            </a:r>
            <a:endParaRPr lang="en-US" sz="1000" dirty="0"/>
          </a:p>
        </p:txBody>
      </p:sp>
      <p:pic>
        <p:nvPicPr>
          <p:cNvPr id="15" name="Picture 14">
            <a:extLst>
              <a:ext uri="{FF2B5EF4-FFF2-40B4-BE49-F238E27FC236}">
                <ns3:creationId id="{C4B93741-B75A-7C08-C14C-9C6452E393BD}"/>
              </a:ext>
            </a:extLst>
          </p:cNvPr>
          <p:cNvPicPr>
            <a:picLocks noChangeAspect="1"/>
          </p:cNvPicPr>
          <p:nvPr/>
        </p:nvPicPr>
        <p:blipFill>
          <a:blip r:embed="rId4"/>
          <a:stretch>
            <a:fillRect/>
          </a:stretch>
        </p:blipFill>
        <p:spPr>
          <a:xfrm>
            <a:off x="219777" y="182078"/>
            <a:ext cx="931244" cy="931244"/>
          </a:xfrm>
          <a:prstGeom prst="rect">
            <a:avLst/>
          </a:prstGeom>
        </p:spPr>
      </p:pic>
      <p:pic>
        <p:nvPicPr>
          <p:cNvPr id="17" name="Picture 16" descr="Cintel Association (@cintel_association) · Chennai">
            <a:extLst>
              <a:ext uri="{FF2B5EF4-FFF2-40B4-BE49-F238E27FC236}">
                <ns3:creationId id="{E2C38E2C-1821-0E08-9437-5235DCA0F8B0}"/>
              </a:ext>
            </a:extLst>
          </p:cNvPr>
          <p:cNvPicPr>
            <a:picLocks noChangeAspect="1"/>
          </p:cNvPicPr>
          <p:nvPr/>
        </p:nvPicPr>
        <p:blipFill>
          <a:blip r:embed="rId5"/>
          <a:stretch>
            <a:fillRect/>
          </a:stretch>
        </p:blipFill>
        <p:spPr>
          <a:xfrm>
            <a:off x="11069052" y="244642"/>
            <a:ext cx="815691" cy="815691"/>
          </a:xfrm>
          <a:prstGeom prst="rect">
            <a:avLst/>
          </a:prstGeom>
        </p:spPr>
      </p:pic>
    </p:spTree>
  </p:cSld>
  <p:clrMapOvr>
    <a:masterClrMapping/>
  </p:clrMapOvr>
</p:sld>
</file>

<file path=ppt/slides/slide2.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01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PROBLEM STATEMENT</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2</a:t>
            </a:fld>
            <a:endParaRPr lang="en-US"/>
          </a:p>
        </p:txBody>
      </p:sp>
      <p:pic>
        <p:nvPicPr>
          <p:cNvPr id="8" name="Picture 7" descr="Cintel Association (@cintel_association) · Chennai">
            <a:extLst>
              <a:ext uri="{FF2B5EF4-FFF2-40B4-BE49-F238E27FC236}">
                <ns4:creationId id="{A72662FD-D237-A963-9179-40B012F5139D}"/>
              </a:ext>
            </a:extLst>
          </p:cNvPr>
          <p:cNvPicPr>
            <a:picLocks noChangeAspect="1"/>
          </p:cNvPicPr>
          <p:nvPr/>
        </p:nvPicPr>
        <p:blipFill>
          <a:blip r:embed="rId4"/>
          <a:stretch>
            <a:fillRect/>
          </a:stretch>
        </p:blipFill>
        <p:spPr>
          <a:xfrm>
            <a:off x="11069052" y="228600"/>
            <a:ext cx="815691" cy="815691"/>
          </a:xfrm>
          <a:prstGeom prst="rect">
            <a:avLst/>
          </a:prstGeom>
        </p:spPr>
      </p:pic>
      <p:sp>
        <p:nvSpPr>
          <p:cNvPr id="138" name="Everyday digital work requires too much manual coordination">
            <a:extLst>
              <a:ext uri="{FF2B5EF4-FFF2-40B4-BE49-F238E27FC236}">
                <ns4:creationId id="{F2FCE75B-A8B0-4C7A-841E-638CA4D083DA}"/>
              </a:ext>
            </a:extLst>
          </p:cNvPr>
          <p:cNvSpPr>
            <a:spLocks noGrp="1"/>
          </p:cNvSpPr>
          <p:nvPr/>
        </p:nvSpPr>
        <p:spPr>
          <a:xfrm>
            <a:off x="990600" y="1876425"/>
            <a:ext cx="10048875" cy="428625"/>
          </a:xfrm>
          <a:prstGeom prst="rect">
            <a:avLst/>
          </a:prstGeom>
          <a:noFill/>
          <a:ln w="0">
            <a:noFill/>
          </a:ln>
        </p:spPr>
        <p:txBody>
          <a:bodyPr lIns="0" tIns="0" rIns="0" bIns="0" anchor="t"/>
          <a:lstStyle>
            <a:defPPr algn="l">
              <a:defRPr sz="2250" b="1">
                <a:solidFill>
                  <a:srgbClr val="FFFFFF"/>
                </a:solidFill>
                <a:latin typeface="Calibri"/>
                <a:ea typeface="Calibri"/>
                <a:cs typeface="Calibri"/>
              </a:defRPr>
            </a:defPPr>
          </a:lstStyle>
          <a:p>
            <a:pPr algn="l">
              <a:defRPr sz="2250" b="1">
                <a:solidFill>
                  <a:srgbClr val="FFFFFF"/>
                </a:solidFill>
                <a:latin typeface="Calibri"/>
                <a:ea typeface="Calibri"/>
                <a:cs typeface="Calibri"/>
              </a:defRPr>
            </a:pPr>
            <a:r>
              <a:rPr sz="2250" b="1">
                <a:solidFill>
                  <a:srgbClr val="FFFFFF"/>
                </a:solidFill>
                <a:latin typeface="Calibri"/>
                <a:ea typeface="Calibri"/>
                <a:cs typeface="Calibri"/>
              </a:rPr>
              <a:t>Everyday digital work requires too much manual coordination</a:t>
            </a:r>
          </a:p>
        </p:txBody>
      </p:sp>
      <p:sp>
        <p:nvSpPr>
          <p:cNvPr id="127" name="01">
            <a:extLst>
              <a:ext uri="{FF2B5EF4-FFF2-40B4-BE49-F238E27FC236}">
                <ns4:creationId id="{318B7260-570D-4506-A311-FA6F05198459}"/>
              </a:ext>
            </a:extLst>
          </p:cNvPr>
          <p:cNvSpPr>
            <a:spLocks noGrp="1"/>
          </p:cNvSpPr>
          <p:nvPr/>
        </p:nvSpPr>
        <p:spPr>
          <a:xfrm>
            <a:off x="990600" y="2619375"/>
            <a:ext cx="514350" cy="419100"/>
          </a:xfrm>
          <a:prstGeom prst="rect">
            <a:avLst/>
          </a:prstGeom>
          <a:noFill/>
          <a:ln w="0">
            <a:noFill/>
          </a:ln>
        </p:spPr>
        <p:txBody>
          <a:bodyPr lIns="0" tIns="0" rIns="0" bIns="0" anchor="t"/>
          <a:lstStyle>
            <a:defPPr algn="l">
              <a:defRPr sz="2625" b="1">
                <a:solidFill>
                  <a:srgbClr val="FF2BD6"/>
                </a:solidFill>
                <a:latin typeface="Calibri"/>
                <a:ea typeface="Calibri"/>
                <a:cs typeface="Calibri"/>
              </a:defRPr>
            </a:defPPr>
          </a:lstStyle>
          <a:p>
            <a:pPr algn="l">
              <a:defRPr sz="2625" b="1">
                <a:solidFill>
                  <a:srgbClr val="FF2BD6"/>
                </a:solidFill>
                <a:latin typeface="Calibri"/>
                <a:ea typeface="Calibri"/>
                <a:cs typeface="Calibri"/>
              </a:defRPr>
            </a:pPr>
            <a:r>
              <a:rPr sz="2625" b="1">
                <a:solidFill>
                  <a:srgbClr val="FF2BD6"/>
                </a:solidFill>
                <a:latin typeface="Calibri"/>
                <a:ea typeface="Calibri"/>
                <a:cs typeface="Calibri"/>
              </a:rPr>
              <a:t>01</a:t>
            </a:r>
          </a:p>
        </p:txBody>
      </p:sp>
      <p:sp>
        <p:nvSpPr>
          <p:cNvPr id="128" name="Repetitive administration">
            <a:extLst>
              <a:ext uri="{FF2B5EF4-FFF2-40B4-BE49-F238E27FC236}">
                <ns4:creationId id="{8AB81AF4-2E09-43A9-93FB-D6F144093194}"/>
              </a:ext>
            </a:extLst>
          </p:cNvPr>
          <p:cNvSpPr>
            <a:spLocks noGrp="1"/>
          </p:cNvSpPr>
          <p:nvPr/>
        </p:nvSpPr>
        <p:spPr>
          <a:xfrm>
            <a:off x="1695450" y="2619375"/>
            <a:ext cx="9429750" cy="333375"/>
          </a:xfrm>
          <a:prstGeom prst="rect">
            <a:avLst/>
          </a:prstGeom>
          <a:noFill/>
          <a:ln w="0">
            <a:noFill/>
          </a:ln>
        </p:spPr>
        <p:txBody>
          <a:bodyPr lIns="0" tIns="0" rIns="0" bIns="0" anchor="t"/>
          <a:lstStyle>
            <a:defPPr algn="l">
              <a:defRPr sz="2025" b="1">
                <a:solidFill>
                  <a:srgbClr val="00E5FF"/>
                </a:solidFill>
                <a:latin typeface="Calibri"/>
                <a:ea typeface="Calibri"/>
                <a:cs typeface="Calibri"/>
              </a:defRPr>
            </a:defPPr>
          </a:lstStyle>
          <a:p>
            <a:pPr algn="l">
              <a:defRPr sz="2025" b="1">
                <a:solidFill>
                  <a:srgbClr val="00E5FF"/>
                </a:solidFill>
                <a:latin typeface="Calibri"/>
                <a:ea typeface="Calibri"/>
                <a:cs typeface="Calibri"/>
              </a:defRPr>
            </a:pPr>
            <a:r>
              <a:rPr sz="2025" b="1">
                <a:solidFill>
                  <a:srgbClr val="00E5FF"/>
                </a:solidFill>
                <a:latin typeface="Calibri"/>
                <a:ea typeface="Calibri"/>
                <a:cs typeface="Calibri"/>
              </a:rPr>
              <a:t>Repetitive administration</a:t>
            </a:r>
          </a:p>
        </p:txBody>
      </p:sp>
      <p:sp>
        <p:nvSpPr>
          <p:cNvPr id="129" name="Deadlines, inbox follow-ups and document handling require re">
            <a:extLst>
              <a:ext uri="{FF2B5EF4-FFF2-40B4-BE49-F238E27FC236}">
                <ns4:creationId id="{2912B4CD-E86C-4C87-8FD4-72DE578671C2}"/>
              </a:ext>
            </a:extLst>
          </p:cNvPr>
          <p:cNvSpPr>
            <a:spLocks noGrp="1"/>
          </p:cNvSpPr>
          <p:nvPr/>
        </p:nvSpPr>
        <p:spPr>
          <a:xfrm>
            <a:off x="1695450" y="2990850"/>
            <a:ext cx="9429750" cy="542925"/>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Deadlines, inbox follow-ups and document handling require repeated steps across disconnected apps.</a:t>
            </a:r>
          </a:p>
        </p:txBody>
      </p:sp>
      <p:sp>
        <p:nvSpPr>
          <p:cNvPr id="130" name="02">
            <a:extLst>
              <a:ext uri="{FF2B5EF4-FFF2-40B4-BE49-F238E27FC236}">
                <ns4:creationId id="{E6669F48-9828-4CE9-AA08-67675E378F87}"/>
              </a:ext>
            </a:extLst>
          </p:cNvPr>
          <p:cNvSpPr>
            <a:spLocks noGrp="1"/>
          </p:cNvSpPr>
          <p:nvPr/>
        </p:nvSpPr>
        <p:spPr>
          <a:xfrm>
            <a:off x="990600" y="3581400"/>
            <a:ext cx="514350" cy="419100"/>
          </a:xfrm>
          <a:prstGeom prst="rect">
            <a:avLst/>
          </a:prstGeom>
          <a:noFill/>
          <a:ln w="0">
            <a:noFill/>
          </a:ln>
        </p:spPr>
        <p:txBody>
          <a:bodyPr lIns="0" tIns="0" rIns="0" bIns="0" anchor="t"/>
          <a:lstStyle>
            <a:defPPr algn="l">
              <a:defRPr sz="2625" b="1">
                <a:solidFill>
                  <a:srgbClr val="FF2BD6"/>
                </a:solidFill>
                <a:latin typeface="Calibri"/>
                <a:ea typeface="Calibri"/>
                <a:cs typeface="Calibri"/>
              </a:defRPr>
            </a:defPPr>
          </a:lstStyle>
          <a:p>
            <a:pPr algn="l">
              <a:defRPr sz="2625" b="1">
                <a:solidFill>
                  <a:srgbClr val="FF2BD6"/>
                </a:solidFill>
                <a:latin typeface="Calibri"/>
                <a:ea typeface="Calibri"/>
                <a:cs typeface="Calibri"/>
              </a:defRPr>
            </a:pPr>
            <a:r>
              <a:rPr sz="2625" b="1">
                <a:solidFill>
                  <a:srgbClr val="FF2BD6"/>
                </a:solidFill>
                <a:latin typeface="Calibri"/>
                <a:ea typeface="Calibri"/>
                <a:cs typeface="Calibri"/>
              </a:rPr>
              <a:t>02</a:t>
            </a:r>
          </a:p>
        </p:txBody>
      </p:sp>
      <p:sp>
        <p:nvSpPr>
          <p:cNvPr id="131" name="Control, cost and privacy trade-offs">
            <a:extLst>
              <a:ext uri="{FF2B5EF4-FFF2-40B4-BE49-F238E27FC236}">
                <ns4:creationId id="{72ED1C52-45F8-49C2-96AA-3E777C1D22AB}"/>
              </a:ext>
            </a:extLst>
          </p:cNvPr>
          <p:cNvSpPr>
            <a:spLocks noGrp="1"/>
          </p:cNvSpPr>
          <p:nvPr/>
        </p:nvSpPr>
        <p:spPr>
          <a:xfrm>
            <a:off x="1695450" y="3581400"/>
            <a:ext cx="9429750" cy="333375"/>
          </a:xfrm>
          <a:prstGeom prst="rect">
            <a:avLst/>
          </a:prstGeom>
          <a:noFill/>
          <a:ln w="0">
            <a:noFill/>
          </a:ln>
        </p:spPr>
        <p:txBody>
          <a:bodyPr lIns="0" tIns="0" rIns="0" bIns="0" anchor="t"/>
          <a:lstStyle>
            <a:defPPr algn="l">
              <a:defRPr sz="2025" b="1">
                <a:solidFill>
                  <a:srgbClr val="00E5FF"/>
                </a:solidFill>
                <a:latin typeface="Calibri"/>
                <a:ea typeface="Calibri"/>
                <a:cs typeface="Calibri"/>
              </a:defRPr>
            </a:defPPr>
          </a:lstStyle>
          <a:p>
            <a:pPr algn="l">
              <a:defRPr sz="2025" b="1">
                <a:solidFill>
                  <a:srgbClr val="00E5FF"/>
                </a:solidFill>
                <a:latin typeface="Calibri"/>
                <a:ea typeface="Calibri"/>
                <a:cs typeface="Calibri"/>
              </a:defRPr>
            </a:pPr>
            <a:r>
              <a:rPr sz="2025" b="1">
                <a:solidFill>
                  <a:srgbClr val="00E5FF"/>
                </a:solidFill>
                <a:latin typeface="Calibri"/>
                <a:ea typeface="Calibri"/>
                <a:cs typeface="Calibri"/>
              </a:rPr>
              <a:t>Control, cost and privacy trade-offs</a:t>
            </a:r>
          </a:p>
        </p:txBody>
      </p:sp>
      <p:sp>
        <p:nvSpPr>
          <p:cNvPr id="132" name="Provider ecosystems and cloud usage create decisions about m">
            <a:extLst>
              <a:ext uri="{FF2B5EF4-FFF2-40B4-BE49-F238E27FC236}">
                <ns4:creationId id="{F7AFF9B2-AF03-40D3-91EE-A834B0C62CC4}"/>
              </a:ext>
            </a:extLst>
          </p:cNvPr>
          <p:cNvSpPr>
            <a:spLocks noGrp="1"/>
          </p:cNvSpPr>
          <p:nvPr/>
        </p:nvSpPr>
        <p:spPr>
          <a:xfrm>
            <a:off x="1695450" y="3952875"/>
            <a:ext cx="9429750" cy="542925"/>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Provider ecosystems and cloud usage create decisions about model access, recurring cost and where data goes.</a:t>
            </a:r>
          </a:p>
        </p:txBody>
      </p:sp>
      <p:sp>
        <p:nvSpPr>
          <p:cNvPr id="133" name="03">
            <a:extLst>
              <a:ext uri="{FF2B5EF4-FFF2-40B4-BE49-F238E27FC236}">
                <ns4:creationId id="{15FE5B87-40A4-4DBB-8A72-21D4D25A1075}"/>
              </a:ext>
            </a:extLst>
          </p:cNvPr>
          <p:cNvSpPr>
            <a:spLocks noGrp="1"/>
          </p:cNvSpPr>
          <p:nvPr/>
        </p:nvSpPr>
        <p:spPr>
          <a:xfrm>
            <a:off x="990600" y="4543425"/>
            <a:ext cx="514350" cy="419100"/>
          </a:xfrm>
          <a:prstGeom prst="rect">
            <a:avLst/>
          </a:prstGeom>
          <a:noFill/>
          <a:ln w="0">
            <a:noFill/>
          </a:ln>
        </p:spPr>
        <p:txBody>
          <a:bodyPr lIns="0" tIns="0" rIns="0" bIns="0" anchor="t"/>
          <a:lstStyle>
            <a:defPPr algn="l">
              <a:defRPr sz="2625" b="1">
                <a:solidFill>
                  <a:srgbClr val="FF2BD6"/>
                </a:solidFill>
                <a:latin typeface="Calibri"/>
                <a:ea typeface="Calibri"/>
                <a:cs typeface="Calibri"/>
              </a:defRPr>
            </a:defPPr>
          </a:lstStyle>
          <a:p>
            <a:pPr algn="l">
              <a:defRPr sz="2625" b="1">
                <a:solidFill>
                  <a:srgbClr val="FF2BD6"/>
                </a:solidFill>
                <a:latin typeface="Calibri"/>
                <a:ea typeface="Calibri"/>
                <a:cs typeface="Calibri"/>
              </a:defRPr>
            </a:pPr>
            <a:r>
              <a:rPr sz="2625" b="1">
                <a:solidFill>
                  <a:srgbClr val="FF2BD6"/>
                </a:solidFill>
                <a:latin typeface="Calibri"/>
                <a:ea typeface="Calibri"/>
                <a:cs typeface="Calibri"/>
              </a:rPr>
              <a:t>03</a:t>
            </a:r>
          </a:p>
        </p:txBody>
      </p:sp>
      <p:sp>
        <p:nvSpPr>
          <p:cNvPr id="134" name="Gaps in local workflows">
            <a:extLst>
              <a:ext uri="{FF2B5EF4-FFF2-40B4-BE49-F238E27FC236}">
                <ns4:creationId id="{FD221DF3-1AFC-4AD1-A675-FBAC1D54AAD9}"/>
              </a:ext>
            </a:extLst>
          </p:cNvPr>
          <p:cNvSpPr>
            <a:spLocks noGrp="1"/>
          </p:cNvSpPr>
          <p:nvPr/>
        </p:nvSpPr>
        <p:spPr>
          <a:xfrm>
            <a:off x="1695450" y="4543425"/>
            <a:ext cx="9429750" cy="333375"/>
          </a:xfrm>
          <a:prstGeom prst="rect">
            <a:avLst/>
          </a:prstGeom>
          <a:noFill/>
          <a:ln w="0">
            <a:noFill/>
          </a:ln>
        </p:spPr>
        <p:txBody>
          <a:bodyPr lIns="0" tIns="0" rIns="0" bIns="0" anchor="t"/>
          <a:lstStyle>
            <a:defPPr algn="l">
              <a:defRPr sz="2025" b="1">
                <a:solidFill>
                  <a:srgbClr val="00E5FF"/>
                </a:solidFill>
                <a:latin typeface="Calibri"/>
                <a:ea typeface="Calibri"/>
                <a:cs typeface="Calibri"/>
              </a:defRPr>
            </a:defPPr>
          </a:lstStyle>
          <a:p>
            <a:pPr algn="l">
              <a:defRPr sz="2025" b="1">
                <a:solidFill>
                  <a:srgbClr val="00E5FF"/>
                </a:solidFill>
                <a:latin typeface="Calibri"/>
                <a:ea typeface="Calibri"/>
                <a:cs typeface="Calibri"/>
              </a:defRPr>
            </a:pPr>
            <a:r>
              <a:rPr sz="2025" b="1">
                <a:solidFill>
                  <a:srgbClr val="00E5FF"/>
                </a:solidFill>
                <a:latin typeface="Calibri"/>
                <a:ea typeface="Calibri"/>
                <a:cs typeface="Calibri"/>
              </a:rPr>
              <a:t>Gaps in local workflows</a:t>
            </a:r>
          </a:p>
        </p:txBody>
      </p:sp>
      <p:sp>
        <p:nvSpPr>
          <p:cNvPr id="135" name="College portals, GST tasks and communication in Indian langu">
            <a:extLst>
              <a:ext uri="{FF2B5EF4-FFF2-40B4-BE49-F238E27FC236}">
                <ns4:creationId id="{53E3B59D-B58F-4B43-AEF8-F00C0F2CC46B}"/>
              </a:ext>
            </a:extLst>
          </p:cNvPr>
          <p:cNvSpPr>
            <a:spLocks noGrp="1"/>
          </p:cNvSpPr>
          <p:nvPr/>
        </p:nvSpPr>
        <p:spPr>
          <a:xfrm>
            <a:off x="1695450" y="4914900"/>
            <a:ext cx="9429750" cy="542925"/>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College portals, GST tasks and communication in Indian languages often need task-specific support.</a:t>
            </a:r>
          </a:p>
        </p:txBody>
      </p:sp>
      <p:sp>
        <p:nvSpPr>
          <p:cNvPr id="136" name="WHO FEELS IT">
            <a:extLst>
              <a:ext uri="{FF2B5EF4-FFF2-40B4-BE49-F238E27FC236}">
                <ns4:creationId id="{E0BD77AD-18B2-48F0-A895-DCDF94A8D59D}"/>
              </a:ext>
            </a:extLst>
          </p:cNvPr>
          <p:cNvSpPr>
            <a:spLocks noGrp="1"/>
          </p:cNvSpPr>
          <p:nvPr/>
        </p:nvSpPr>
        <p:spPr>
          <a:xfrm>
            <a:off x="990600" y="5629275"/>
            <a:ext cx="1714500" cy="266700"/>
          </a:xfrm>
          <a:prstGeom prst="rect">
            <a:avLst/>
          </a:prstGeom>
          <a:noFill/>
          <a:ln w="0">
            <a:noFill/>
          </a:ln>
        </p:spPr>
        <p:txBody>
          <a:bodyPr lIns="0" tIns="0" rIns="0" bIns="0" anchor="t"/>
          <a:lstStyle>
            <a:defPPr algn="l">
              <a:defRPr sz="1350" b="1">
                <a:solidFill>
                  <a:srgbClr val="FF2BD6"/>
                </a:solidFill>
                <a:latin typeface="Calibri"/>
                <a:ea typeface="Calibri"/>
                <a:cs typeface="Calibri"/>
              </a:defRPr>
            </a:defPPr>
          </a:lstStyle>
          <a:p>
            <a:pPr algn="l">
              <a:defRPr sz="1350" b="1">
                <a:solidFill>
                  <a:srgbClr val="FF2BD6"/>
                </a:solidFill>
                <a:latin typeface="Calibri"/>
                <a:ea typeface="Calibri"/>
                <a:cs typeface="Calibri"/>
              </a:defRPr>
            </a:pPr>
            <a:r>
              <a:rPr sz="1350" b="1">
                <a:solidFill>
                  <a:srgbClr val="FF2BD6"/>
                </a:solidFill>
                <a:latin typeface="Calibri"/>
                <a:ea typeface="Calibri"/>
                <a:cs typeface="Calibri"/>
              </a:rPr>
              <a:t>WHO FEELS IT</a:t>
            </a:r>
          </a:p>
        </p:txBody>
      </p:sp>
      <p:sp>
        <p:nvSpPr>
          <p:cNvPr id="137" name="Students, freelancers and small businesses lose time coordin">
            <a:extLst>
              <a:ext uri="{FF2B5EF4-FFF2-40B4-BE49-F238E27FC236}">
                <ns4:creationId id="{4CB49565-ADF7-4803-AA7A-CBA0434E22E5}"/>
              </a:ext>
            </a:extLst>
          </p:cNvPr>
          <p:cNvSpPr>
            <a:spLocks noGrp="1"/>
          </p:cNvSpPr>
          <p:nvPr/>
        </p:nvSpPr>
        <p:spPr>
          <a:xfrm>
            <a:off x="2743200" y="5600700"/>
            <a:ext cx="8439150" cy="323850"/>
          </a:xfrm>
          <a:prstGeom prst="rect">
            <a:avLst/>
          </a:prstGeom>
          <a:noFill/>
          <a:ln w="0">
            <a:noFill/>
          </a:ln>
        </p:spPr>
        <p:txBody>
          <a:bodyPr lIns="0" tIns="0" rIns="0" bIns="0" anchor="t"/>
          <a:lstStyle>
            <a:defPPr algn="l">
              <a:defRPr sz="1650" b="0">
                <a:solidFill>
                  <a:srgbClr val="AEB6CC"/>
                </a:solidFill>
                <a:latin typeface="Calibri"/>
                <a:ea typeface="Calibri"/>
                <a:cs typeface="Calibri"/>
              </a:defRPr>
            </a:defPPr>
          </a:lstStyle>
          <a:p>
            <a:pPr algn="l">
              <a:defRPr sz="1650" b="0">
                <a:solidFill>
                  <a:srgbClr val="AEB6CC"/>
                </a:solidFill>
                <a:latin typeface="Calibri"/>
                <a:ea typeface="Calibri"/>
                <a:cs typeface="Calibri"/>
              </a:defRPr>
            </a:pPr>
            <a:r>
              <a:rPr sz="1650" b="0">
                <a:solidFill>
                  <a:srgbClr val="AEB6CC"/>
                </a:solidFill>
                <a:latin typeface="Calibri"/>
                <a:ea typeface="Calibri"/>
                <a:cs typeface="Calibri"/>
              </a:rPr>
              <a:t>Students, freelancers and small businesses lose time coordinating routine work.</a:t>
            </a:r>
          </a:p>
        </p:txBody>
      </p:sp>
    </p:spTree>
  </p:cSld>
  <p:clrMapOvr>
    <a:masterClrMapping/>
  </p:clrMapOvr>
</p:sld>
</file>

<file path=ppt/slides/slide3.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02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PROPOSED SOLUTION</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3</a:t>
            </a:fld>
            <a:endParaRPr lang="en-US"/>
          </a:p>
        </p:txBody>
      </p:sp>
      <p:pic>
        <p:nvPicPr>
          <p:cNvPr id="8" name="Picture 7" descr="Cintel Association (@cintel_association) · Chennai">
            <a:extLst>
              <a:ext uri="{FF2B5EF4-FFF2-40B4-BE49-F238E27FC236}">
                <ns4:creationId id="{DE1B24FC-6170-B47A-1F69-CBDCC9A33F5D}"/>
              </a:ext>
            </a:extLst>
          </p:cNvPr>
          <p:cNvPicPr>
            <a:picLocks noChangeAspect="1"/>
          </p:cNvPicPr>
          <p:nvPr/>
        </p:nvPicPr>
        <p:blipFill>
          <a:blip r:embed="rId4"/>
          <a:stretch>
            <a:fillRect/>
          </a:stretch>
        </p:blipFill>
        <p:spPr>
          <a:xfrm>
            <a:off x="11069052" y="228600"/>
            <a:ext cx="815691" cy="815691"/>
          </a:xfrm>
          <a:prstGeom prst="rect">
            <a:avLst/>
          </a:prstGeom>
        </p:spPr>
      </p:pic>
      <p:sp>
        <p:nvSpPr>
          <p:cNvPr id="141" name="Socius: an open personal AI agent on your laptop">
            <a:extLst>
              <a:ext uri="{FF2B5EF4-FFF2-40B4-BE49-F238E27FC236}">
                <ns4:creationId id="{381C3F01-7B91-428B-8D6B-C18165ED0544}"/>
              </a:ext>
            </a:extLst>
          </p:cNvPr>
          <p:cNvSpPr>
            <a:spLocks noGrp="1"/>
          </p:cNvSpPr>
          <p:nvPr/>
        </p:nvSpPr>
        <p:spPr>
          <a:xfrm>
            <a:off x="990600" y="1857375"/>
            <a:ext cx="10144125" cy="409575"/>
          </a:xfrm>
          <a:prstGeom prst="rect">
            <a:avLst/>
          </a:prstGeom>
          <a:noFill/>
          <a:ln w="0">
            <a:noFill/>
          </a:ln>
        </p:spPr>
        <p:txBody>
          <a:bodyPr lIns="0" tIns="0" rIns="0" bIns="0" anchor="t"/>
          <a:lstStyle>
            <a:defPPr algn="l">
              <a:defRPr sz="2325" b="1">
                <a:solidFill>
                  <a:srgbClr val="00E5FF"/>
                </a:solidFill>
                <a:latin typeface="Calibri"/>
                <a:ea typeface="Calibri"/>
                <a:cs typeface="Calibri"/>
              </a:defRPr>
            </a:defPPr>
          </a:lstStyle>
          <a:p>
            <a:pPr algn="l">
              <a:defRPr sz="2325" b="1">
                <a:solidFill>
                  <a:srgbClr val="00E5FF"/>
                </a:solidFill>
                <a:latin typeface="Calibri"/>
                <a:ea typeface="Calibri"/>
                <a:cs typeface="Calibri"/>
              </a:defRPr>
            </a:pPr>
            <a:r>
              <a:rPr sz="2325" b="1">
                <a:solidFill>
                  <a:srgbClr val="00E5FF"/>
                </a:solidFill>
                <a:latin typeface="Calibri"/>
                <a:ea typeface="Calibri"/>
                <a:cs typeface="Calibri"/>
              </a:rPr>
              <a:t>Socius: an open personal AI agent on your laptop</a:t>
            </a:r>
          </a:p>
        </p:txBody>
      </p:sp>
      <p:sp>
        <p:nvSpPr>
          <p:cNvPr id="127" name="Use the same interface from your laptop or phone to run task">
            <a:extLst>
              <a:ext uri="{FF2B5EF4-FFF2-40B4-BE49-F238E27FC236}">
                <ns4:creationId id="{95CA615B-2BCB-4DCB-9F87-BC16CE80BCA3}"/>
              </a:ext>
            </a:extLst>
          </p:cNvPr>
          <p:cNvSpPr>
            <a:spLocks noGrp="1"/>
          </p:cNvSpPr>
          <p:nvPr/>
        </p:nvSpPr>
        <p:spPr>
          <a:xfrm>
            <a:off x="990600" y="2343150"/>
            <a:ext cx="10096500" cy="590550"/>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Use the same interface from your laptop or phone to run tasks, install skills and choose local or cloud models.</a:t>
            </a:r>
          </a:p>
        </p:txBody>
      </p:sp>
      <p:pic>
        <p:nvPicPr>
          <p:cNvPr id="128" name="">
            <a:extLst>
              <a:ext uri="{FF2B5EF4-FFF2-40B4-BE49-F238E27FC236}">
                <ns4:creationId id="{781722A2-D5D1-4766-9386-887CB7C4F4C6}"/>
              </a:ext>
            </a:extLst>
          </p:cNvPr>
          <p:cNvPicPr>
            <a:picLocks noChangeAspect="1"/>
          </p:cNvPicPr>
          <p:nvPr/>
        </p:nvPicPr>
        <p:blipFill>
          <a:blip r:embed="rIdSocius1"/>
          <a:stretch/>
        </p:blipFill>
        <p:spPr>
          <a:xfrm>
            <a:off x="1058556" y="3257550"/>
            <a:ext cx="1426187" cy="1790700"/>
          </a:xfrm>
          <a:prstGeom prst="rect">
            <a:avLst/>
          </a:prstGeom>
        </p:spPr>
      </p:pic>
      <p:pic>
        <p:nvPicPr>
          <p:cNvPr id="129" name="">
            <a:extLst>
              <a:ext uri="{FF2B5EF4-FFF2-40B4-BE49-F238E27FC236}">
                <ns4:creationId id="{425C4E35-649E-4ED3-838F-4E42B117DDA3}"/>
              </a:ext>
            </a:extLst>
          </p:cNvPr>
          <p:cNvPicPr>
            <a:picLocks noChangeAspect="1"/>
          </p:cNvPicPr>
          <p:nvPr/>
        </p:nvPicPr>
        <p:blipFill>
          <a:blip r:embed="rIdSocius2"/>
          <a:stretch/>
        </p:blipFill>
        <p:spPr>
          <a:xfrm>
            <a:off x="3133725" y="3371850"/>
            <a:ext cx="1638300" cy="1638300"/>
          </a:xfrm>
          <a:prstGeom prst="rect">
            <a:avLst/>
          </a:prstGeom>
        </p:spPr>
      </p:pic>
      <p:pic>
        <p:nvPicPr>
          <p:cNvPr id="130" name="">
            <a:extLst>
              <a:ext uri="{FF2B5EF4-FFF2-40B4-BE49-F238E27FC236}">
                <ns4:creationId id="{69837A8B-B0A7-456D-A3F5-602B779C704A}"/>
              </a:ext>
            </a:extLst>
          </p:cNvPr>
          <p:cNvPicPr>
            <a:picLocks noChangeAspect="1"/>
          </p:cNvPicPr>
          <p:nvPr/>
        </p:nvPicPr>
        <p:blipFill>
          <a:blip r:embed="rIdSocius3"/>
          <a:stretch/>
        </p:blipFill>
        <p:spPr>
          <a:xfrm>
            <a:off x="5276850" y="3635788"/>
            <a:ext cx="2667000" cy="1034224"/>
          </a:xfrm>
          <a:prstGeom prst="rect">
            <a:avLst/>
          </a:prstGeom>
        </p:spPr>
      </p:pic>
      <p:pic>
        <p:nvPicPr>
          <p:cNvPr id="131" name="">
            <a:extLst>
              <a:ext uri="{FF2B5EF4-FFF2-40B4-BE49-F238E27FC236}">
                <ns4:creationId id="{F93696EE-C1BF-45E2-9AEA-A5DC770FFBD2}"/>
              </a:ext>
            </a:extLst>
          </p:cNvPr>
          <p:cNvPicPr>
            <a:picLocks noChangeAspect="1"/>
          </p:cNvPicPr>
          <p:nvPr/>
        </p:nvPicPr>
        <p:blipFill>
          <a:blip r:embed="rIdSocius4"/>
          <a:stretch/>
        </p:blipFill>
        <p:spPr>
          <a:xfrm>
            <a:off x="8734425" y="3078575"/>
            <a:ext cx="2409825" cy="2072449"/>
          </a:xfrm>
          <a:prstGeom prst="rect">
            <a:avLst/>
          </a:prstGeom>
        </p:spPr>
      </p:pic>
      <p:sp>
        <p:nvSpPr>
          <p:cNvPr id="132" name="+">
            <a:extLst>
              <a:ext uri="{FF2B5EF4-FFF2-40B4-BE49-F238E27FC236}">
                <ns4:creationId id="{AD58C756-495C-4139-BC45-A84A25540CF0}"/>
              </a:ext>
            </a:extLst>
          </p:cNvPr>
          <p:cNvSpPr>
            <a:spLocks noGrp="1"/>
          </p:cNvSpPr>
          <p:nvPr/>
        </p:nvSpPr>
        <p:spPr>
          <a:xfrm>
            <a:off x="2638425" y="3914775"/>
            <a:ext cx="409575" cy="504825"/>
          </a:xfrm>
          <a:prstGeom prst="rect">
            <a:avLst/>
          </a:prstGeom>
          <a:noFill/>
          <a:ln w="0">
            <a:noFill/>
          </a:ln>
        </p:spPr>
        <p:txBody>
          <a:bodyPr lIns="0" tIns="0" rIns="0" bIns="0" anchor="t"/>
          <a:lstStyle>
            <a:defPPr algn="ctr">
              <a:defRPr sz="3075" b="1">
                <a:solidFill>
                  <a:srgbClr val="FF2BD6"/>
                </a:solidFill>
                <a:latin typeface="Calibri"/>
                <a:ea typeface="Calibri"/>
                <a:cs typeface="Calibri"/>
              </a:defRPr>
            </a:defPPr>
          </a:lstStyle>
          <a:p>
            <a:pPr algn="ctr">
              <a:defRPr sz="3075" b="1">
                <a:solidFill>
                  <a:srgbClr val="FF2BD6"/>
                </a:solidFill>
                <a:latin typeface="Calibri"/>
                <a:ea typeface="Calibri"/>
                <a:cs typeface="Calibri"/>
              </a:defRPr>
            </a:pPr>
            <a:r>
              <a:rPr sz="3075" b="1">
                <a:solidFill>
                  <a:srgbClr val="FF2BD6"/>
                </a:solidFill>
                <a:latin typeface="Calibri"/>
                <a:ea typeface="Calibri"/>
                <a:cs typeface="Calibri"/>
              </a:rPr>
              <a:t>+</a:t>
            </a:r>
          </a:p>
        </p:txBody>
      </p:sp>
      <p:sp>
        <p:nvSpPr>
          <p:cNvPr id="133" name="+">
            <a:extLst>
              <a:ext uri="{FF2B5EF4-FFF2-40B4-BE49-F238E27FC236}">
                <ns4:creationId id="{C9712992-696B-4522-9C73-40DC63A46CCE}"/>
              </a:ext>
            </a:extLst>
          </p:cNvPr>
          <p:cNvSpPr>
            <a:spLocks noGrp="1"/>
          </p:cNvSpPr>
          <p:nvPr/>
        </p:nvSpPr>
        <p:spPr>
          <a:xfrm>
            <a:off x="4848225" y="3914775"/>
            <a:ext cx="381000" cy="504825"/>
          </a:xfrm>
          <a:prstGeom prst="rect">
            <a:avLst/>
          </a:prstGeom>
          <a:noFill/>
          <a:ln w="0">
            <a:noFill/>
          </a:ln>
        </p:spPr>
        <p:txBody>
          <a:bodyPr lIns="0" tIns="0" rIns="0" bIns="0" anchor="t"/>
          <a:lstStyle>
            <a:defPPr algn="ctr">
              <a:defRPr sz="3075" b="1">
                <a:solidFill>
                  <a:srgbClr val="FF2BD6"/>
                </a:solidFill>
                <a:latin typeface="Calibri"/>
                <a:ea typeface="Calibri"/>
                <a:cs typeface="Calibri"/>
              </a:defRPr>
            </a:defPPr>
          </a:lstStyle>
          <a:p>
            <a:pPr algn="ctr">
              <a:defRPr sz="3075" b="1">
                <a:solidFill>
                  <a:srgbClr val="FF2BD6"/>
                </a:solidFill>
                <a:latin typeface="Calibri"/>
                <a:ea typeface="Calibri"/>
                <a:cs typeface="Calibri"/>
              </a:defRPr>
            </a:pPr>
            <a:r>
              <a:rPr sz="3075" b="1">
                <a:solidFill>
                  <a:srgbClr val="FF2BD6"/>
                </a:solidFill>
                <a:latin typeface="Calibri"/>
                <a:ea typeface="Calibri"/>
                <a:cs typeface="Calibri"/>
              </a:rPr>
              <a:t>+</a:t>
            </a:r>
          </a:p>
        </p:txBody>
      </p:sp>
      <p:sp>
        <p:nvSpPr>
          <p:cNvPr id="134" name="=">
            <a:extLst>
              <a:ext uri="{FF2B5EF4-FFF2-40B4-BE49-F238E27FC236}">
                <ns4:creationId id="{F5CAFA13-76AD-490C-8F05-A29A54AE3F42}"/>
              </a:ext>
            </a:extLst>
          </p:cNvPr>
          <p:cNvSpPr>
            <a:spLocks noGrp="1"/>
          </p:cNvSpPr>
          <p:nvPr/>
        </p:nvSpPr>
        <p:spPr>
          <a:xfrm>
            <a:off x="8096250" y="3914775"/>
            <a:ext cx="523875" cy="504825"/>
          </a:xfrm>
          <a:prstGeom prst="rect">
            <a:avLst/>
          </a:prstGeom>
          <a:noFill/>
          <a:ln w="0">
            <a:noFill/>
          </a:ln>
        </p:spPr>
        <p:txBody>
          <a:bodyPr lIns="0" tIns="0" rIns="0" bIns="0" anchor="t"/>
          <a:lstStyle>
            <a:defPPr algn="ctr">
              <a:defRPr sz="3450" b="1">
                <a:solidFill>
                  <a:srgbClr val="00E5FF"/>
                </a:solidFill>
                <a:latin typeface="Calibri"/>
                <a:ea typeface="Calibri"/>
                <a:cs typeface="Calibri"/>
              </a:defRPr>
            </a:defPPr>
          </a:lstStyle>
          <a:p>
            <a:pPr algn="ctr">
              <a:defRPr sz="3450" b="1">
                <a:solidFill>
                  <a:srgbClr val="00E5FF"/>
                </a:solidFill>
                <a:latin typeface="Calibri"/>
                <a:ea typeface="Calibri"/>
                <a:cs typeface="Calibri"/>
              </a:defRPr>
            </a:pPr>
            <a:r>
              <a:rPr sz="3450" b="1">
                <a:solidFill>
                  <a:srgbClr val="00E5FF"/>
                </a:solidFill>
                <a:latin typeface="Calibri"/>
                <a:ea typeface="Calibri"/>
                <a:cs typeface="Calibri"/>
              </a:rPr>
              <a:t>=</a:t>
            </a:r>
          </a:p>
        </p:txBody>
      </p:sp>
      <p:sp>
        <p:nvSpPr>
          <p:cNvPr id="135" name="Meta Muse">
            <a:extLst>
              <a:ext uri="{FF2B5EF4-FFF2-40B4-BE49-F238E27FC236}">
                <ns4:creationId id="{D00B06E1-3E76-488C-9D6B-21A8D4EA6906}"/>
              </a:ext>
            </a:extLst>
          </p:cNvPr>
          <p:cNvSpPr>
            <a:spLocks noGrp="1"/>
          </p:cNvSpPr>
          <p:nvPr/>
        </p:nvSpPr>
        <p:spPr>
          <a:xfrm>
            <a:off x="981075" y="5219700"/>
            <a:ext cx="1581150" cy="333375"/>
          </a:xfrm>
          <a:prstGeom prst="rect">
            <a:avLst/>
          </a:prstGeom>
          <a:noFill/>
          <a:ln w="0">
            <a:noFill/>
          </a:ln>
        </p:spPr>
        <p:txBody>
          <a:bodyPr lIns="0" tIns="0" rIns="0" bIns="0" anchor="t"/>
          <a:lstStyle>
            <a:defPPr algn="ctr">
              <a:defRPr sz="1875" b="1">
                <a:solidFill>
                  <a:srgbClr val="FFFFFF"/>
                </a:solidFill>
                <a:latin typeface="Calibri"/>
                <a:ea typeface="Calibri"/>
                <a:cs typeface="Calibri"/>
              </a:defRPr>
            </a:defP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Meta Muse</a:t>
            </a:r>
          </a:p>
        </p:txBody>
      </p:sp>
      <p:sp>
        <p:nvSpPr>
          <p:cNvPr id="136" name="Grok Bot">
            <a:extLst>
              <a:ext uri="{FF2B5EF4-FFF2-40B4-BE49-F238E27FC236}">
                <ns4:creationId id="{625698C3-17A5-4B2F-8897-16EFD5A1264B}"/>
              </a:ext>
            </a:extLst>
          </p:cNvPr>
          <p:cNvSpPr>
            <a:spLocks noGrp="1"/>
          </p:cNvSpPr>
          <p:nvPr/>
        </p:nvSpPr>
        <p:spPr>
          <a:xfrm>
            <a:off x="3133725" y="5219700"/>
            <a:ext cx="1638300" cy="333375"/>
          </a:xfrm>
          <a:prstGeom prst="rect">
            <a:avLst/>
          </a:prstGeom>
          <a:noFill/>
          <a:ln w="0">
            <a:noFill/>
          </a:ln>
        </p:spPr>
        <p:txBody>
          <a:bodyPr lIns="0" tIns="0" rIns="0" bIns="0" anchor="t"/>
          <a:lstStyle>
            <a:defPPr algn="ctr">
              <a:defRPr sz="1875" b="1">
                <a:solidFill>
                  <a:srgbClr val="FFFFFF"/>
                </a:solidFill>
                <a:latin typeface="Calibri"/>
                <a:ea typeface="Calibri"/>
                <a:cs typeface="Calibri"/>
              </a:defRPr>
            </a:defP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Grok Bot</a:t>
            </a:r>
          </a:p>
        </p:txBody>
      </p:sp>
      <p:sp>
        <p:nvSpPr>
          <p:cNvPr id="137" name="OpenAI dots">
            <a:extLst>
              <a:ext uri="{FF2B5EF4-FFF2-40B4-BE49-F238E27FC236}">
                <ns4:creationId id="{38C1E1E1-08F9-4110-807F-BAD4C6139EE7}"/>
              </a:ext>
            </a:extLst>
          </p:cNvPr>
          <p:cNvSpPr>
            <a:spLocks noGrp="1"/>
          </p:cNvSpPr>
          <p:nvPr/>
        </p:nvSpPr>
        <p:spPr>
          <a:xfrm>
            <a:off x="5276850" y="5219700"/>
            <a:ext cx="2667000" cy="333375"/>
          </a:xfrm>
          <a:prstGeom prst="rect">
            <a:avLst/>
          </a:prstGeom>
          <a:noFill/>
          <a:ln w="0">
            <a:noFill/>
          </a:ln>
        </p:spPr>
        <p:txBody>
          <a:bodyPr lIns="0" tIns="0" rIns="0" bIns="0" anchor="t"/>
          <a:lstStyle>
            <a:defPPr algn="ctr">
              <a:defRPr sz="1875" b="1">
                <a:solidFill>
                  <a:srgbClr val="FFFFFF"/>
                </a:solidFill>
                <a:latin typeface="Calibri"/>
                <a:ea typeface="Calibri"/>
                <a:cs typeface="Calibri"/>
              </a:defRPr>
            </a:defP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OpenAI dots</a:t>
            </a:r>
          </a:p>
        </p:txBody>
      </p:sp>
      <p:sp>
        <p:nvSpPr>
          <p:cNvPr id="138" name="Personal assistance">
            <a:extLst>
              <a:ext uri="{FF2B5EF4-FFF2-40B4-BE49-F238E27FC236}">
                <ns4:creationId id="{2CFE916C-54DA-4329-9DC5-5B3CE7CC671C}"/>
              </a:ext>
            </a:extLst>
          </p:cNvPr>
          <p:cNvSpPr>
            <a:spLocks noGrp="1"/>
          </p:cNvSpPr>
          <p:nvPr/>
        </p:nvSpPr>
        <p:spPr>
          <a:xfrm>
            <a:off x="866775" y="5562600"/>
            <a:ext cx="1809750" cy="257175"/>
          </a:xfrm>
          <a:prstGeom prst="rect">
            <a:avLst/>
          </a:prstGeom>
          <a:noFill/>
          <a:ln w="0">
            <a:noFill/>
          </a:ln>
        </p:spPr>
        <p:txBody>
          <a:bodyPr lIns="0" tIns="0" rIns="0" bIns="0" anchor="t"/>
          <a:lstStyle>
            <a:defPPr algn="ctr">
              <a:defRPr sz="1350" b="0">
                <a:solidFill>
                  <a:srgbClr val="AEB6CC"/>
                </a:solidFill>
                <a:latin typeface="Calibri"/>
                <a:ea typeface="Calibri"/>
                <a:cs typeface="Calibri"/>
              </a:defRPr>
            </a:defPPr>
          </a:lstStyle>
          <a:p>
            <a:pPr algn="ctr">
              <a:defRPr sz="1350" b="0">
                <a:solidFill>
                  <a:srgbClr val="AEB6CC"/>
                </a:solidFill>
                <a:latin typeface="Calibri"/>
                <a:ea typeface="Calibri"/>
                <a:cs typeface="Calibri"/>
              </a:defRPr>
            </a:pPr>
            <a:r>
              <a:rPr sz="1350" b="0">
                <a:solidFill>
                  <a:srgbClr val="AEB6CC"/>
                </a:solidFill>
                <a:latin typeface="Calibri"/>
                <a:ea typeface="Calibri"/>
                <a:cs typeface="Calibri"/>
              </a:rPr>
              <a:t>Personal assistance</a:t>
            </a:r>
          </a:p>
        </p:txBody>
      </p:sp>
      <p:sp>
        <p:nvSpPr>
          <p:cNvPr id="139" name="Teams of agents">
            <a:extLst>
              <a:ext uri="{FF2B5EF4-FFF2-40B4-BE49-F238E27FC236}">
                <ns4:creationId id="{22377E8E-E414-48DA-ACB0-6F3C28E9E7A0}"/>
              </a:ext>
            </a:extLst>
          </p:cNvPr>
          <p:cNvSpPr>
            <a:spLocks noGrp="1"/>
          </p:cNvSpPr>
          <p:nvPr/>
        </p:nvSpPr>
        <p:spPr>
          <a:xfrm>
            <a:off x="3028950" y="5562600"/>
            <a:ext cx="1857375" cy="257175"/>
          </a:xfrm>
          <a:prstGeom prst="rect">
            <a:avLst/>
          </a:prstGeom>
          <a:noFill/>
          <a:ln w="0">
            <a:noFill/>
          </a:ln>
        </p:spPr>
        <p:txBody>
          <a:bodyPr lIns="0" tIns="0" rIns="0" bIns="0" anchor="t"/>
          <a:lstStyle>
            <a:defPPr algn="ctr">
              <a:defRPr sz="1350" b="0">
                <a:solidFill>
                  <a:srgbClr val="AEB6CC"/>
                </a:solidFill>
                <a:latin typeface="Calibri"/>
                <a:ea typeface="Calibri"/>
                <a:cs typeface="Calibri"/>
              </a:defRPr>
            </a:defPPr>
          </a:lstStyle>
          <a:p>
            <a:pPr algn="ctr">
              <a:defRPr sz="1350" b="0">
                <a:solidFill>
                  <a:srgbClr val="AEB6CC"/>
                </a:solidFill>
                <a:latin typeface="Calibri"/>
                <a:ea typeface="Calibri"/>
                <a:cs typeface="Calibri"/>
              </a:defRPr>
            </a:pPr>
            <a:r>
              <a:rPr sz="1350" b="0">
                <a:solidFill>
                  <a:srgbClr val="AEB6CC"/>
                </a:solidFill>
                <a:latin typeface="Calibri"/>
                <a:ea typeface="Calibri"/>
                <a:cs typeface="Calibri"/>
              </a:rPr>
              <a:t>Teams of agents</a:t>
            </a:r>
          </a:p>
        </p:txBody>
      </p:sp>
      <p:sp>
        <p:nvSpPr>
          <p:cNvPr id="140" name="Ongoing work">
            <a:extLst>
              <a:ext uri="{FF2B5EF4-FFF2-40B4-BE49-F238E27FC236}">
                <ns4:creationId id="{9C9717D3-9EC4-4483-AFBC-2D8EDD55E0B6}"/>
              </a:ext>
            </a:extLst>
          </p:cNvPr>
          <p:cNvSpPr>
            <a:spLocks noGrp="1"/>
          </p:cNvSpPr>
          <p:nvPr/>
        </p:nvSpPr>
        <p:spPr>
          <a:xfrm>
            <a:off x="5276850" y="5562600"/>
            <a:ext cx="2667000" cy="257175"/>
          </a:xfrm>
          <a:prstGeom prst="rect">
            <a:avLst/>
          </a:prstGeom>
          <a:noFill/>
          <a:ln w="0">
            <a:noFill/>
          </a:ln>
        </p:spPr>
        <p:txBody>
          <a:bodyPr lIns="0" tIns="0" rIns="0" bIns="0" anchor="t"/>
          <a:lstStyle>
            <a:defPPr algn="ctr">
              <a:defRPr sz="1350" b="0">
                <a:solidFill>
                  <a:srgbClr val="AEB6CC"/>
                </a:solidFill>
                <a:latin typeface="Calibri"/>
                <a:ea typeface="Calibri"/>
                <a:cs typeface="Calibri"/>
              </a:defRPr>
            </a:defPPr>
          </a:lstStyle>
          <a:p>
            <a:pPr algn="ctr">
              <a:defRPr sz="1350" b="0">
                <a:solidFill>
                  <a:srgbClr val="AEB6CC"/>
                </a:solidFill>
                <a:latin typeface="Calibri"/>
                <a:ea typeface="Calibri"/>
                <a:cs typeface="Calibri"/>
              </a:defRPr>
            </a:pPr>
            <a:r>
              <a:rPr sz="1350" b="0">
                <a:solidFill>
                  <a:srgbClr val="AEB6CC"/>
                </a:solidFill>
                <a:latin typeface="Calibri"/>
                <a:ea typeface="Calibri"/>
                <a:cs typeface="Calibri"/>
              </a:rPr>
              <a:t>Ongoing work</a:t>
            </a:r>
          </a:p>
        </p:txBody>
      </p:sp>
    </p:spTree>
  </p:cSld>
  <p:clrMapOvr>
    <a:masterClrMapping/>
  </p:clrMapOvr>
</p:sld>
</file>

<file path=ppt/slides/slide4.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03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INNOVATION &amp; KEY FEATURES</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4</a:t>
            </a:fld>
            <a:endParaRPr lang="en-US"/>
          </a:p>
        </p:txBody>
      </p:sp>
      <p:pic>
        <p:nvPicPr>
          <p:cNvPr id="8" name="Picture 7" descr="Cintel Association (@cintel_association) · Chennai">
            <a:extLst>
              <a:ext uri="{FF2B5EF4-FFF2-40B4-BE49-F238E27FC236}">
                <ns4:creationId id="{EC790905-5120-D107-BB0F-EE3D491B4C0D}"/>
              </a:ext>
            </a:extLst>
          </p:cNvPr>
          <p:cNvPicPr>
            <a:picLocks noChangeAspect="1"/>
          </p:cNvPicPr>
          <p:nvPr/>
        </p:nvPicPr>
        <p:blipFill>
          <a:blip r:embed="rId4"/>
          <a:stretch>
            <a:fillRect/>
          </a:stretch>
        </p:blipFill>
        <p:spPr>
          <a:xfrm>
            <a:off x="11069052" y="228600"/>
            <a:ext cx="815691" cy="815691"/>
          </a:xfrm>
          <a:prstGeom prst="rect">
            <a:avLst/>
          </a:prstGeom>
        </p:spPr>
      </p:pic>
      <p:sp>
        <p:nvSpPr>
          <p:cNvPr id="139" name="Skills and bot marketplace">
            <a:extLst>
              <a:ext uri="{FF2B5EF4-FFF2-40B4-BE49-F238E27FC236}">
                <ns4:creationId id="{33DBAA01-7B3D-485C-BD87-C14CBB387C9F}"/>
              </a:ext>
            </a:extLst>
          </p:cNvPr>
          <p:cNvSpPr>
            <a:spLocks noGrp="1"/>
          </p:cNvSpPr>
          <p:nvPr/>
        </p:nvSpPr>
        <p:spPr>
          <a:xfrm>
            <a:off x="990600" y="19145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Skills and bot marketplace</a:t>
            </a:r>
          </a:p>
        </p:txBody>
      </p:sp>
      <p:sp>
        <p:nvSpPr>
          <p:cNvPr id="127" name="Build, share and install reusable skills, MCP connectors and">
            <a:extLst>
              <a:ext uri="{FF2B5EF4-FFF2-40B4-BE49-F238E27FC236}">
                <ns4:creationId id="{25C66AB5-EC4A-4E00-83D4-67E346BD6580}"/>
              </a:ext>
            </a:extLst>
          </p:cNvPr>
          <p:cNvSpPr>
            <a:spLocks noGrp="1"/>
          </p:cNvSpPr>
          <p:nvPr/>
        </p:nvSpPr>
        <p:spPr>
          <a:xfrm>
            <a:off x="990600" y="23050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Build, share and install reusable skills, MCP connectors and ready-made bot templates.</a:t>
            </a:r>
          </a:p>
        </p:txBody>
      </p:sp>
      <p:sp>
        <p:nvSpPr>
          <p:cNvPr id="128" name="Model choice">
            <a:extLst>
              <a:ext uri="{FF2B5EF4-FFF2-40B4-BE49-F238E27FC236}">
                <ns4:creationId id="{EEEEB7AB-B5CA-4869-883C-4F4B0884257E}"/>
              </a:ext>
            </a:extLst>
          </p:cNvPr>
          <p:cNvSpPr>
            <a:spLocks noGrp="1"/>
          </p:cNvSpPr>
          <p:nvPr/>
        </p:nvSpPr>
        <p:spPr>
          <a:xfrm>
            <a:off x="6267450" y="19145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Model choice</a:t>
            </a:r>
          </a:p>
        </p:txBody>
      </p:sp>
      <p:sp>
        <p:nvSpPr>
          <p:cNvPr id="129" name="Switch between Ollama and direct cloud providers through a c">
            <a:extLst>
              <a:ext uri="{FF2B5EF4-FFF2-40B4-BE49-F238E27FC236}">
                <ns4:creationId id="{66A2B834-73FB-495C-B938-A7EA1E395783}"/>
              </a:ext>
            </a:extLst>
          </p:cNvPr>
          <p:cNvSpPr>
            <a:spLocks noGrp="1"/>
          </p:cNvSpPr>
          <p:nvPr/>
        </p:nvSpPr>
        <p:spPr>
          <a:xfrm>
            <a:off x="6267450" y="23050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Switch between Ollama and direct cloud providers through a common model interface.</a:t>
            </a:r>
          </a:p>
        </p:txBody>
      </p:sp>
      <p:sp>
        <p:nvSpPr>
          <p:cNvPr id="130" name="Editable memory">
            <a:extLst>
              <a:ext uri="{FF2B5EF4-FFF2-40B4-BE49-F238E27FC236}">
                <ns4:creationId id="{2DBE271D-48FE-4329-95CC-E373C361A726}"/>
              </a:ext>
            </a:extLst>
          </p:cNvPr>
          <p:cNvSpPr>
            <a:spLocks noGrp="1"/>
          </p:cNvSpPr>
          <p:nvPr/>
        </p:nvSpPr>
        <p:spPr>
          <a:xfrm>
            <a:off x="990600" y="31718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Editable memory</a:t>
            </a:r>
          </a:p>
        </p:txBody>
      </p:sp>
      <p:sp>
        <p:nvSpPr>
          <p:cNvPr id="131" name="Inspect remembered preferences and facts, correct them, expo">
            <a:extLst>
              <a:ext uri="{FF2B5EF4-FFF2-40B4-BE49-F238E27FC236}">
                <ns4:creationId id="{159450F0-AD95-4E72-8AB3-BE0C036BF01C}"/>
              </a:ext>
            </a:extLst>
          </p:cNvPr>
          <p:cNvSpPr>
            <a:spLocks noGrp="1"/>
          </p:cNvSpPr>
          <p:nvPr/>
        </p:nvSpPr>
        <p:spPr>
          <a:xfrm>
            <a:off x="990600" y="35623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Inspect remembered preferences and facts, correct them, export them or delete them.</a:t>
            </a:r>
          </a:p>
        </p:txBody>
      </p:sp>
      <p:sp>
        <p:nvSpPr>
          <p:cNvPr id="132" name="Bots, goals and routines">
            <a:extLst>
              <a:ext uri="{FF2B5EF4-FFF2-40B4-BE49-F238E27FC236}">
                <ns4:creationId id="{83E419DE-C9D6-4FAE-92B5-1FB2F77EDD45}"/>
              </a:ext>
            </a:extLst>
          </p:cNvPr>
          <p:cNvSpPr>
            <a:spLocks noGrp="1"/>
          </p:cNvSpPr>
          <p:nvPr/>
        </p:nvSpPr>
        <p:spPr>
          <a:xfrm>
            <a:off x="6267450" y="31718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Bots, goals and routines</a:t>
            </a:r>
          </a:p>
        </p:txBody>
      </p:sp>
      <p:sp>
        <p:nvSpPr>
          <p:cNvPr id="133" name="Delegate work to specialist bots, track goals and schedule r">
            <a:extLst>
              <a:ext uri="{FF2B5EF4-FFF2-40B4-BE49-F238E27FC236}">
                <ns4:creationId id="{C67F7A77-3699-4843-84C1-5D817F3F9164}"/>
              </a:ext>
            </a:extLst>
          </p:cNvPr>
          <p:cNvSpPr>
            <a:spLocks noGrp="1"/>
          </p:cNvSpPr>
          <p:nvPr/>
        </p:nvSpPr>
        <p:spPr>
          <a:xfrm>
            <a:off x="6267450" y="35623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Delegate work to specialist bots, track goals and schedule recurring tasks or watchers.</a:t>
            </a:r>
          </a:p>
        </p:txBody>
      </p:sp>
      <p:sp>
        <p:nvSpPr>
          <p:cNvPr id="134" name="Actions under your control">
            <a:extLst>
              <a:ext uri="{FF2B5EF4-FFF2-40B4-BE49-F238E27FC236}">
                <ns4:creationId id="{7AA9D600-91DF-4A3F-AF51-FA5319E38672}"/>
              </a:ext>
            </a:extLst>
          </p:cNvPr>
          <p:cNvSpPr>
            <a:spLocks noGrp="1"/>
          </p:cNvSpPr>
          <p:nvPr/>
        </p:nvSpPr>
        <p:spPr>
          <a:xfrm>
            <a:off x="990600" y="44291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Actions under your control</a:t>
            </a:r>
          </a:p>
        </p:txBody>
      </p:sp>
      <p:sp>
        <p:nvSpPr>
          <p:cNvPr id="135" name="Use action-level approvals, human login handoffs and an insp">
            <a:extLst>
              <a:ext uri="{FF2B5EF4-FFF2-40B4-BE49-F238E27FC236}">
                <ns4:creationId id="{AC306C26-95DB-4978-87E5-E8457615B80F}"/>
              </a:ext>
            </a:extLst>
          </p:cNvPr>
          <p:cNvSpPr>
            <a:spLocks noGrp="1"/>
          </p:cNvSpPr>
          <p:nvPr/>
        </p:nvSpPr>
        <p:spPr>
          <a:xfrm>
            <a:off x="990600" y="48196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Use action-level approvals, human login handoffs and an inspectable activity history.</a:t>
            </a:r>
          </a:p>
        </p:txBody>
      </p:sp>
      <p:sp>
        <p:nvSpPr>
          <p:cNvPr id="136" name="India-focused roadmap">
            <a:extLst>
              <a:ext uri="{FF2B5EF4-FFF2-40B4-BE49-F238E27FC236}">
                <ns4:creationId id="{5E1F5EC5-B06E-485A-BD44-7B60363FB6B8}"/>
              </a:ext>
            </a:extLst>
          </p:cNvPr>
          <p:cNvSpPr>
            <a:spLocks noGrp="1"/>
          </p:cNvSpPr>
          <p:nvPr/>
        </p:nvSpPr>
        <p:spPr>
          <a:xfrm>
            <a:off x="6267450" y="44291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India-focused roadmap</a:t>
            </a:r>
          </a:p>
        </p:txBody>
      </p:sp>
      <p:sp>
        <p:nvSpPr>
          <p:cNvPr id="137" name="Indian-language voice, UPI reminders, college portals, GST a">
            <a:extLst>
              <a:ext uri="{FF2B5EF4-FFF2-40B4-BE49-F238E27FC236}">
                <ns4:creationId id="{958ED7F3-2772-406F-9745-5ADCED996D08}"/>
              </a:ext>
            </a:extLst>
          </p:cNvPr>
          <p:cNvSpPr>
            <a:spLocks noGrp="1"/>
          </p:cNvSpPr>
          <p:nvPr/>
        </p:nvSpPr>
        <p:spPr>
          <a:xfrm>
            <a:off x="6267450" y="4819650"/>
            <a:ext cx="4533900" cy="742950"/>
          </a:xfrm>
          <a:prstGeom prst="rect">
            <a:avLst/>
          </a:prstGeom>
          <a:noFill/>
          <a:ln w="0">
            <a:noFill/>
          </a:ln>
        </p:spPr>
        <p:txBody>
          <a:bodyPr lIns="0" tIns="0" rIns="0" bIns="0" anchor="t"/>
          <a:lstStyle>
            <a:defPPr algn="l">
              <a:defRPr sz="1725" b="0">
                <a:solidFill>
                  <a:srgbClr val="FFFFFF"/>
                </a:solidFill>
                <a:latin typeface="Calibri"/>
                <a:ea typeface="Calibri"/>
                <a:cs typeface="Calibri"/>
              </a:defRPr>
            </a:defPPr>
          </a:lstStyle>
          <a:p>
            <a:pPr algn="l">
              <a:defRPr sz="1725" b="0">
                <a:solidFill>
                  <a:srgbClr val="FFFFFF"/>
                </a:solidFill>
                <a:latin typeface="Calibri"/>
                <a:ea typeface="Calibri"/>
                <a:cs typeface="Calibri"/>
              </a:defRPr>
            </a:pPr>
            <a:r>
              <a:rPr sz="1725" b="0">
                <a:solidFill>
                  <a:srgbClr val="FFFFFF"/>
                </a:solidFill>
                <a:latin typeface="Calibri"/>
                <a:ea typeface="Calibri"/>
                <a:cs typeface="Calibri"/>
              </a:rPr>
              <a:t>Indian-language voice, UPI reminders, college portals, GST and DigiLocker skills.</a:t>
            </a:r>
          </a:p>
        </p:txBody>
      </p:sp>
      <p:sp>
        <p:nvSpPr>
          <p:cNvPr id="138" name="Planned capabilities. Initial connector packages and the plu">
            <a:extLst>
              <a:ext uri="{FF2B5EF4-FFF2-40B4-BE49-F238E27FC236}">
                <ns4:creationId id="{53FEBB70-7B93-424B-9062-A6A801462E55}"/>
              </a:ext>
            </a:extLst>
          </p:cNvPr>
          <p:cNvSpPr>
            <a:spLocks noGrp="1"/>
          </p:cNvSpPr>
          <p:nvPr/>
        </p:nvSpPr>
        <p:spPr>
          <a:xfrm>
            <a:off x="990600" y="5772150"/>
            <a:ext cx="10096500" cy="219075"/>
          </a:xfrm>
          <a:prstGeom prst="rect">
            <a:avLst/>
          </a:prstGeom>
          <a:noFill/>
          <a:ln w="0">
            <a:noFill/>
          </a:ln>
        </p:spPr>
        <p:txBody>
          <a:bodyPr lIns="0" tIns="0" rIns="0" bIns="0" anchor="t"/>
          <a:lstStyle>
            <a:defPPr algn="l">
              <a:defRPr sz="1350" b="0">
                <a:solidFill>
                  <a:srgbClr val="AEB6CC"/>
                </a:solidFill>
                <a:latin typeface="Calibri"/>
                <a:ea typeface="Calibri"/>
                <a:cs typeface="Calibri"/>
              </a:defRPr>
            </a:defPPr>
          </a:lstStyle>
          <a:p>
            <a:pPr algn="l">
              <a:defRPr sz="1350" b="0">
                <a:solidFill>
                  <a:srgbClr val="AEB6CC"/>
                </a:solidFill>
                <a:latin typeface="Calibri"/>
                <a:ea typeface="Calibri"/>
                <a:cs typeface="Calibri"/>
              </a:defRPr>
            </a:pPr>
            <a:r>
              <a:rPr sz="1350" b="0">
                <a:solidFill>
                  <a:srgbClr val="AEB6CC"/>
                </a:solidFill>
                <a:latin typeface="Calibri"/>
                <a:ea typeface="Calibri"/>
                <a:cs typeface="Calibri"/>
              </a:rPr>
              <a:t>Planned capabilities. Initial connector packages and the plugin sandbox remain to be selected.</a:t>
            </a:r>
          </a:p>
        </p:txBody>
      </p:sp>
    </p:spTree>
  </p:cSld>
  <p:clrMapOvr>
    <a:masterClrMapping/>
  </p:clrMapOvr>
</p:sld>
</file>

<file path=ppt/slides/slide5.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04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TECHNICAL APPROACH &amp; PROTOTYPE</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5</a:t>
            </a:fld>
            <a:endParaRPr lang="en-US"/>
          </a:p>
        </p:txBody>
      </p:sp>
      <p:pic>
        <p:nvPicPr>
          <p:cNvPr id="8" name="Picture 7" descr="Cintel Association (@cintel_association) · Chennai">
            <a:extLst>
              <a:ext uri="{FF2B5EF4-FFF2-40B4-BE49-F238E27FC236}">
                <ns4:creationId id="{E7AC66BE-200B-F622-1B08-CBD3C0757E20}"/>
              </a:ext>
            </a:extLst>
          </p:cNvPr>
          <p:cNvPicPr>
            <a:picLocks noChangeAspect="1"/>
          </p:cNvPicPr>
          <p:nvPr/>
        </p:nvPicPr>
        <p:blipFill>
          <a:blip r:embed="rId4"/>
          <a:stretch>
            <a:fillRect/>
          </a:stretch>
        </p:blipFill>
        <p:spPr>
          <a:xfrm>
            <a:off x="11069052" y="228600"/>
            <a:ext cx="815691" cy="815691"/>
          </a:xfrm>
          <a:prstGeom prst="rect">
            <a:avLst/>
          </a:prstGeom>
        </p:spPr>
      </p:pic>
      <p:cxnSp>
        <p:nvCxnSpPr>
          <p:cNvPr id="150" name="">
            <a:extLst>
              <a:ext uri="{FF2B5EF4-FFF2-40B4-BE49-F238E27FC236}">
                <ns4:creationId id="{CFD38DD8-77DD-480B-8CC3-4CC8B4BB0DE9}"/>
              </a:ext>
            </a:extLst>
          </p:cNvPr>
          <p:cNvCxnSpPr>
            <a:stCxn id="131" idx="1"/>
            <a:endCxn id="130" idx="3"/>
          </p:cNvCxnSpPr>
          <p:nvPr/>
        </p:nvCxnSpPr>
        <p:spPr>
          <a:xfrm flipH="1">
            <a:off x="4381500" y="3638550"/>
            <a:ext cx="1809750" cy="0"/>
          </a:xfrm>
          <a:prstGeom prst="straightConnector1">
            <a:avLst/>
          </a:prstGeom>
          <a:ln w="16193">
            <a:solidFill>
              <a:srgbClr val="00E5FF"/>
            </a:solidFill>
            <a:tailEnd type="triangle" w="sm" len="sm"/>
          </a:ln>
        </p:spPr>
      </p:cxnSp>
      <p:cxnSp>
        <p:nvCxnSpPr>
          <p:cNvPr id="149" name="">
            <a:extLst>
              <a:ext uri="{FF2B5EF4-FFF2-40B4-BE49-F238E27FC236}">
                <ns4:creationId id="{CFD84123-5DB9-4056-91DE-E3F7FA97A4C9}"/>
              </a:ext>
            </a:extLst>
          </p:cNvPr>
          <p:cNvCxnSpPr>
            <a:stCxn id="132" idx="1"/>
            <a:endCxn id="131" idx="3"/>
          </p:cNvCxnSpPr>
          <p:nvPr/>
        </p:nvCxnSpPr>
        <p:spPr>
          <a:xfrm flipH="1">
            <a:off x="8382000" y="3638550"/>
            <a:ext cx="619125" cy="0"/>
          </a:xfrm>
          <a:prstGeom prst="straightConnector1">
            <a:avLst/>
          </a:prstGeom>
          <a:ln w="16193">
            <a:solidFill>
              <a:srgbClr val="00E5FF"/>
            </a:solidFill>
            <a:tailEnd type="triangle" w="sm" len="sm"/>
          </a:ln>
        </p:spPr>
      </p:cxnSp>
      <p:cxnSp>
        <p:nvCxnSpPr>
          <p:cNvPr id="148" name="">
            <a:extLst>
              <a:ext uri="{FF2B5EF4-FFF2-40B4-BE49-F238E27FC236}">
                <ns4:creationId id="{E7CD7506-9556-41E0-9205-7B6104D393A5}"/>
              </a:ext>
            </a:extLst>
          </p:cNvPr>
          <p:cNvCxnSpPr>
            <a:stCxn id="136" idx="2"/>
            <a:endCxn id="138" idx="0"/>
          </p:cNvCxnSpPr>
          <p:nvPr/>
        </p:nvCxnSpPr>
        <p:spPr>
          <a:xfrm>
            <a:off x="9072563" y="5314950"/>
            <a:ext cx="1119188" cy="266700"/>
          </a:xfrm>
          <a:prstGeom prst="bentConnector4">
            <a:avLst>
              <a:gd name="adj1" fmla="val 0"/>
              <a:gd name="adj2" fmla="val 50000"/>
            </a:avLst>
          </a:prstGeom>
          <a:ln w="16193">
            <a:solidFill>
              <a:srgbClr val="00E5FF"/>
            </a:solidFill>
            <a:tailEnd type="triangle" w="sm" len="sm"/>
          </a:ln>
        </p:spPr>
      </p:cxnSp>
      <p:cxnSp>
        <p:nvCxnSpPr>
          <p:cNvPr id="147" name="">
            <a:extLst>
              <a:ext uri="{FF2B5EF4-FFF2-40B4-BE49-F238E27FC236}">
                <ns4:creationId id="{A239C4EF-6A3D-4B1E-A4D4-0281E74E6054}"/>
              </a:ext>
            </a:extLst>
          </p:cNvPr>
          <p:cNvCxnSpPr>
            <a:stCxn id="136" idx="2"/>
            <a:endCxn id="137" idx="0"/>
          </p:cNvCxnSpPr>
          <p:nvPr/>
        </p:nvCxnSpPr>
        <p:spPr>
          <a:xfrm flipH="1">
            <a:off x="7953375" y="5314950"/>
            <a:ext cx="1119188" cy="266700"/>
          </a:xfrm>
          <a:prstGeom prst="bentConnector4">
            <a:avLst>
              <a:gd name="adj1" fmla="val 0"/>
              <a:gd name="adj2" fmla="val 50000"/>
            </a:avLst>
          </a:prstGeom>
          <a:ln w="16193">
            <a:solidFill>
              <a:srgbClr val="00E5FF"/>
            </a:solidFill>
            <a:tailEnd type="triangle" w="sm" len="sm"/>
          </a:ln>
        </p:spPr>
      </p:cxnSp>
      <p:cxnSp>
        <p:nvCxnSpPr>
          <p:cNvPr id="146" name="">
            <a:extLst>
              <a:ext uri="{FF2B5EF4-FFF2-40B4-BE49-F238E27FC236}">
                <ns4:creationId id="{649F93C9-C5AA-4CE0-A6A8-176923B70AD2}"/>
              </a:ext>
            </a:extLst>
          </p:cNvPr>
          <p:cNvCxnSpPr>
            <a:stCxn id="135" idx="2"/>
            <a:endCxn id="136" idx="0"/>
          </p:cNvCxnSpPr>
          <p:nvPr/>
        </p:nvCxnSpPr>
        <p:spPr>
          <a:xfrm>
            <a:off x="9072563" y="4686300"/>
            <a:ext cx="0" cy="228600"/>
          </a:xfrm>
          <a:prstGeom prst="straightConnector1">
            <a:avLst/>
          </a:prstGeom>
          <a:ln w="16193">
            <a:solidFill>
              <a:srgbClr val="00E5FF"/>
            </a:solidFill>
            <a:tailEnd type="triangle" w="sm" len="sm"/>
          </a:ln>
        </p:spPr>
      </p:cxnSp>
      <p:cxnSp>
        <p:nvCxnSpPr>
          <p:cNvPr id="145" name="">
            <a:extLst>
              <a:ext uri="{FF2B5EF4-FFF2-40B4-BE49-F238E27FC236}">
                <ns4:creationId id="{C47EC7B0-223D-4694-84EA-DAB8C78BA4A7}"/>
              </a:ext>
            </a:extLst>
          </p:cNvPr>
          <p:cNvCxnSpPr>
            <a:stCxn id="130" idx="2"/>
            <a:endCxn id="135" idx="0"/>
          </p:cNvCxnSpPr>
          <p:nvPr/>
        </p:nvCxnSpPr>
        <p:spPr>
          <a:xfrm>
            <a:off x="3048000" y="3905250"/>
            <a:ext cx="6024563" cy="304800"/>
          </a:xfrm>
          <a:prstGeom prst="bentConnector4">
            <a:avLst>
              <a:gd name="adj1" fmla="val 0"/>
              <a:gd name="adj2" fmla="val 50000"/>
            </a:avLst>
          </a:prstGeom>
          <a:ln w="16193">
            <a:solidFill>
              <a:srgbClr val="00E5FF"/>
            </a:solidFill>
            <a:tailEnd type="triangle" w="sm" len="sm"/>
          </a:ln>
        </p:spPr>
      </p:cxnSp>
      <p:cxnSp>
        <p:nvCxnSpPr>
          <p:cNvPr id="144" name="">
            <a:extLst>
              <a:ext uri="{FF2B5EF4-FFF2-40B4-BE49-F238E27FC236}">
                <ns4:creationId id="{F21BF616-E60C-47EB-B3AC-8AE81BE5A6FA}"/>
              </a:ext>
            </a:extLst>
          </p:cNvPr>
          <p:cNvCxnSpPr>
            <a:stCxn id="130" idx="2"/>
            <a:endCxn id="134" idx="0"/>
          </p:cNvCxnSpPr>
          <p:nvPr/>
        </p:nvCxnSpPr>
        <p:spPr>
          <a:xfrm>
            <a:off x="3048000" y="3905250"/>
            <a:ext cx="2190750" cy="304800"/>
          </a:xfrm>
          <a:prstGeom prst="bentConnector4">
            <a:avLst>
              <a:gd name="adj1" fmla="val 0"/>
              <a:gd name="adj2" fmla="val 50000"/>
            </a:avLst>
          </a:prstGeom>
          <a:ln w="16193">
            <a:solidFill>
              <a:srgbClr val="00E5FF"/>
            </a:solidFill>
            <a:tailEnd type="triangle" w="sm" len="sm"/>
          </a:ln>
        </p:spPr>
      </p:cxnSp>
      <p:cxnSp>
        <p:nvCxnSpPr>
          <p:cNvPr id="143" name="">
            <a:extLst>
              <a:ext uri="{FF2B5EF4-FFF2-40B4-BE49-F238E27FC236}">
                <ns4:creationId id="{534BA1FB-0AB5-4A92-B85D-0F3D38159E32}"/>
              </a:ext>
            </a:extLst>
          </p:cNvPr>
          <p:cNvCxnSpPr>
            <a:stCxn id="130" idx="2"/>
            <a:endCxn id="133" idx="0"/>
          </p:cNvCxnSpPr>
          <p:nvPr/>
        </p:nvCxnSpPr>
        <p:spPr>
          <a:xfrm flipH="1">
            <a:off x="2276475" y="3905250"/>
            <a:ext cx="771525" cy="304800"/>
          </a:xfrm>
          <a:prstGeom prst="bentConnector4">
            <a:avLst>
              <a:gd name="adj1" fmla="val 0"/>
              <a:gd name="adj2" fmla="val 50000"/>
            </a:avLst>
          </a:prstGeom>
          <a:ln w="16193">
            <a:solidFill>
              <a:srgbClr val="00E5FF"/>
            </a:solidFill>
            <a:tailEnd type="triangle" w="sm" len="sm"/>
          </a:ln>
        </p:spPr>
      </p:cxnSp>
      <p:cxnSp>
        <p:nvCxnSpPr>
          <p:cNvPr id="142" name="">
            <a:extLst>
              <a:ext uri="{FF2B5EF4-FFF2-40B4-BE49-F238E27FC236}">
                <ns4:creationId id="{1A4E1336-1A94-4C87-BF1E-85CD6E1633C3}"/>
              </a:ext>
            </a:extLst>
          </p:cNvPr>
          <p:cNvCxnSpPr>
            <a:stCxn id="128" idx="2"/>
            <a:endCxn id="130" idx="0"/>
          </p:cNvCxnSpPr>
          <p:nvPr/>
        </p:nvCxnSpPr>
        <p:spPr>
          <a:xfrm>
            <a:off x="3048000" y="3124200"/>
            <a:ext cx="0" cy="247650"/>
          </a:xfrm>
          <a:prstGeom prst="straightConnector1">
            <a:avLst/>
          </a:prstGeom>
          <a:ln w="16193">
            <a:solidFill>
              <a:srgbClr val="00E5FF"/>
            </a:solidFill>
            <a:tailEnd type="triangle" w="sm" len="sm"/>
          </a:ln>
        </p:spPr>
      </p:cxnSp>
      <p:cxnSp>
        <p:nvCxnSpPr>
          <p:cNvPr id="141" name="">
            <a:extLst>
              <a:ext uri="{FF2B5EF4-FFF2-40B4-BE49-F238E27FC236}">
                <ns4:creationId id="{774887BA-9440-4403-8417-120FC8539203}"/>
              </a:ext>
            </a:extLst>
          </p:cNvPr>
          <p:cNvCxnSpPr>
            <a:stCxn id="129" idx="1"/>
            <a:endCxn id="128" idx="3"/>
          </p:cNvCxnSpPr>
          <p:nvPr/>
        </p:nvCxnSpPr>
        <p:spPr>
          <a:xfrm flipH="1">
            <a:off x="4381500" y="2867025"/>
            <a:ext cx="3048000" cy="0"/>
          </a:xfrm>
          <a:prstGeom prst="straightConnector1">
            <a:avLst/>
          </a:prstGeom>
          <a:ln w="16193">
            <a:solidFill>
              <a:srgbClr val="00E5FF"/>
            </a:solidFill>
            <a:tailEnd type="triangle" w="sm" len="sm"/>
          </a:ln>
        </p:spPr>
      </p:cxnSp>
      <p:cxnSp>
        <p:nvCxnSpPr>
          <p:cNvPr id="140" name="">
            <a:extLst>
              <a:ext uri="{FF2B5EF4-FFF2-40B4-BE49-F238E27FC236}">
                <ns4:creationId id="{CEF4667F-1FEB-4602-8688-D865C396DEA7}"/>
              </a:ext>
            </a:extLst>
          </p:cNvPr>
          <p:cNvCxnSpPr>
            <a:stCxn id="127" idx="2"/>
            <a:endCxn id="129" idx="0"/>
          </p:cNvCxnSpPr>
          <p:nvPr/>
        </p:nvCxnSpPr>
        <p:spPr>
          <a:xfrm>
            <a:off x="8763000" y="2362200"/>
            <a:ext cx="0" cy="247650"/>
          </a:xfrm>
          <a:prstGeom prst="straightConnector1">
            <a:avLst/>
          </a:prstGeom>
          <a:ln w="16193">
            <a:solidFill>
              <a:srgbClr val="00E5FF"/>
            </a:solidFill>
            <a:tailEnd type="triangle" w="sm" len="sm"/>
          </a:ln>
        </p:spPr>
      </p:cxnSp>
      <p:cxnSp>
        <p:nvCxnSpPr>
          <p:cNvPr id="139" name="">
            <a:extLst>
              <a:ext uri="{FF2B5EF4-FFF2-40B4-BE49-F238E27FC236}">
                <ns4:creationId id="{7D813A67-9A8A-44B7-8823-BB0AA417DB3E}"/>
              </a:ext>
            </a:extLst>
          </p:cNvPr>
          <p:cNvCxnSpPr>
            <a:stCxn id="151" idx="2"/>
            <a:endCxn id="128" idx="0"/>
          </p:cNvCxnSpPr>
          <p:nvPr/>
        </p:nvCxnSpPr>
        <p:spPr>
          <a:xfrm>
            <a:off x="3048000" y="2362200"/>
            <a:ext cx="0" cy="247650"/>
          </a:xfrm>
          <a:prstGeom prst="straightConnector1">
            <a:avLst/>
          </a:prstGeom>
          <a:ln w="16193">
            <a:solidFill>
              <a:srgbClr val="00E5FF"/>
            </a:solidFill>
            <a:tailEnd type="triangle" w="sm" len="sm"/>
          </a:ln>
        </p:spPr>
      </p:cxnSp>
      <p:sp>
        <p:nvSpPr>
          <p:cNvPr id="151" name="Desktop">
            <a:extLst>
              <a:ext uri="{FF2B5EF4-FFF2-40B4-BE49-F238E27FC236}">
                <ns4:creationId id="{BD13608A-3ECB-4056-A271-F636C1D03F0D}"/>
              </a:ext>
            </a:extLst>
          </p:cNvPr>
          <p:cNvSpPr>
            <a:spLocks noGrp="1"/>
          </p:cNvSpPr>
          <p:nvPr/>
        </p:nvSpPr>
        <p:spPr>
          <a:xfrm>
            <a:off x="1714500" y="1847850"/>
            <a:ext cx="2667000" cy="51435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Laptop: web UI</a:t>
            </a:r>
          </a:p>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or Electron</a:t>
            </a:r>
          </a:p>
        </p:txBody>
      </p:sp>
      <p:sp>
        <p:nvSpPr>
          <p:cNvPr id="127" name="Phone">
            <a:extLst>
              <a:ext uri="{FF2B5EF4-FFF2-40B4-BE49-F238E27FC236}">
                <ns4:creationId id="{DC0E8FF4-8F31-4BB8-B5BD-3091229CC38A}"/>
              </a:ext>
            </a:extLst>
          </p:cNvPr>
          <p:cNvSpPr>
            <a:spLocks noGrp="1"/>
          </p:cNvSpPr>
          <p:nvPr/>
        </p:nvSpPr>
        <p:spPr>
          <a:xfrm>
            <a:off x="7429500" y="1847850"/>
            <a:ext cx="2667000" cy="51435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Phone: same</a:t>
            </a:r>
          </a:p>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responsive web UI</a:t>
            </a:r>
          </a:p>
        </p:txBody>
      </p:sp>
      <p:sp>
        <p:nvSpPr>
          <p:cNvPr id="128" name="API">
            <a:extLst>
              <a:ext uri="{FF2B5EF4-FFF2-40B4-BE49-F238E27FC236}">
                <ns4:creationId id="{C3E6C02B-9666-4C94-A733-C24D99EFFEC2}"/>
              </a:ext>
            </a:extLst>
          </p:cNvPr>
          <p:cNvSpPr>
            <a:spLocks noGrp="1"/>
          </p:cNvSpPr>
          <p:nvPr/>
        </p:nvSpPr>
        <p:spPr>
          <a:xfrm>
            <a:off x="1714500" y="2609850"/>
            <a:ext cx="2667000" cy="514350"/>
          </a:xfrm>
          <a:prstGeom prst="rect">
            <a:avLst/>
          </a:prstGeom>
          <a:solidFill>
            <a:srgbClr val="0B1020"/>
          </a:solidFill>
          <a:ln w="13335">
            <a:solidFill>
              <a:srgbClr val="00E5FF"/>
            </a:solidFill>
          </a:ln>
        </p:spPr>
        <p:txBody>
          <a:bodyPr lIns="38100" tIns="38100" rIns="38100" bIns="38100" anchor="ctr"/>
          <a:lstStyle>
            <a:defPPr algn="ctr">
              <a:defRPr sz="1500" b="1">
                <a:solidFill>
                  <a:srgbClr val="FFFFFF"/>
                </a:solidFill>
                <a:latin typeface="Calibri"/>
                <a:ea typeface="Calibri"/>
                <a:cs typeface="Calibri"/>
              </a:defRPr>
            </a:defPPr>
          </a:lstStyle>
          <a:p>
            <a:pPr algn="ctr">
              <a:defRPr sz="1500" b="1">
                <a:solidFill>
                  <a:srgbClr val="FFFFFF"/>
                </a:solidFill>
                <a:latin typeface="Calibri"/>
                <a:ea typeface="Calibri"/>
                <a:cs typeface="Calibri"/>
              </a:defRPr>
            </a:pPr>
            <a:r>
              <a:rPr sz="1500" b="1">
                <a:solidFill>
                  <a:srgbClr val="FFFFFF"/>
                </a:solidFill>
                <a:latin typeface="Calibri"/>
                <a:ea typeface="Calibri"/>
                <a:cs typeface="Calibri"/>
              </a:rPr>
              <a:t>Authenticated</a:t>
            </a:r>
          </a:p>
          <a:p>
            <a:pPr algn="ctr">
              <a:defRPr sz="1500" b="1">
                <a:solidFill>
                  <a:srgbClr val="FFFFFF"/>
                </a:solidFill>
                <a:latin typeface="Calibri"/>
                <a:ea typeface="Calibri"/>
                <a:cs typeface="Calibri"/>
              </a:defRPr>
            </a:pPr>
            <a:r>
              <a:rPr sz="1500" b="1">
                <a:solidFill>
                  <a:srgbClr val="FFFFFF"/>
                </a:solidFill>
                <a:latin typeface="Calibri"/>
                <a:ea typeface="Calibri"/>
                <a:cs typeface="Calibri"/>
              </a:rPr>
              <a:t>local API</a:t>
            </a:r>
          </a:p>
        </p:txBody>
      </p:sp>
      <p:sp>
        <p:nvSpPr>
          <p:cNvPr id="129" name="Tailscale">
            <a:extLst>
              <a:ext uri="{FF2B5EF4-FFF2-40B4-BE49-F238E27FC236}">
                <ns4:creationId id="{99D7B456-FE70-459A-8BEB-96F2B239FB06}"/>
              </a:ext>
            </a:extLst>
          </p:cNvPr>
          <p:cNvSpPr>
            <a:spLocks noGrp="1"/>
          </p:cNvSpPr>
          <p:nvPr/>
        </p:nvSpPr>
        <p:spPr>
          <a:xfrm>
            <a:off x="7429500" y="2609850"/>
            <a:ext cx="2667000" cy="514350"/>
          </a:xfrm>
          <a:prstGeom prst="rect">
            <a:avLst/>
          </a:prstGeom>
          <a:solidFill>
            <a:srgbClr val="0B1020"/>
          </a:solidFill>
          <a:ln w="13335">
            <a:solidFill>
              <a:srgbClr val="00E5FF"/>
            </a:solidFill>
          </a:ln>
        </p:spPr>
        <p:txBody>
          <a:bodyPr lIns="38100" tIns="38100" rIns="38100" bIns="38100" anchor="ctr"/>
          <a:lstStyle>
            <a:defPPr algn="ctr">
              <a:defRPr sz="1500" b="1">
                <a:solidFill>
                  <a:srgbClr val="FFFFFF"/>
                </a:solidFill>
                <a:latin typeface="Calibri"/>
                <a:ea typeface="Calibri"/>
                <a:cs typeface="Calibri"/>
              </a:defRPr>
            </a:defPPr>
          </a:lstStyle>
          <a:p>
            <a:pPr algn="ctr">
              <a:defRPr sz="1500" b="1">
                <a:solidFill>
                  <a:srgbClr val="FFFFFF"/>
                </a:solidFill>
                <a:latin typeface="Calibri"/>
                <a:ea typeface="Calibri"/>
                <a:cs typeface="Calibri"/>
              </a:defRPr>
            </a:pPr>
            <a:r>
              <a:rPr sz="1500" b="1">
                <a:solidFill>
                  <a:srgbClr val="FFFFFF"/>
                </a:solidFill>
                <a:latin typeface="Calibri"/>
                <a:ea typeface="Calibri"/>
                <a:cs typeface="Calibri"/>
              </a:rPr>
              <a:t>Tailscale Serve</a:t>
            </a:r>
          </a:p>
        </p:txBody>
      </p:sp>
      <p:sp>
        <p:nvSpPr>
          <p:cNvPr id="130" name="Runtime">
            <a:extLst>
              <a:ext uri="{FF2B5EF4-FFF2-40B4-BE49-F238E27FC236}">
                <ns4:creationId id="{9BC073D9-8A3C-4EA0-B02E-000C146621C5}"/>
              </a:ext>
            </a:extLst>
          </p:cNvPr>
          <p:cNvSpPr>
            <a:spLocks noGrp="1"/>
          </p:cNvSpPr>
          <p:nvPr/>
        </p:nvSpPr>
        <p:spPr>
          <a:xfrm>
            <a:off x="1714500" y="3371850"/>
            <a:ext cx="2667000" cy="533400"/>
          </a:xfrm>
          <a:prstGeom prst="rect">
            <a:avLst/>
          </a:prstGeom>
          <a:solidFill>
            <a:srgbClr val="0B1020"/>
          </a:solidFill>
          <a:ln w="13335">
            <a:solidFill>
              <a:srgbClr val="FF2BD6"/>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Agent runtime:</a:t>
            </a:r>
          </a:p>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tasks, bots, schedules</a:t>
            </a:r>
          </a:p>
        </p:txBody>
      </p:sp>
      <p:sp>
        <p:nvSpPr>
          <p:cNvPr id="131" name="Install">
            <a:extLst>
              <a:ext uri="{FF2B5EF4-FFF2-40B4-BE49-F238E27FC236}">
                <ns4:creationId id="{C293CAD0-CBA0-4649-8B24-3EAC02AA12DA}"/>
              </a:ext>
            </a:extLst>
          </p:cNvPr>
          <p:cNvSpPr>
            <a:spLocks noGrp="1"/>
          </p:cNvSpPr>
          <p:nvPr/>
        </p:nvSpPr>
        <p:spPr>
          <a:xfrm>
            <a:off x="6191250" y="3371850"/>
            <a:ext cx="2190750" cy="53340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Reviewed installation</a:t>
            </a:r>
          </a:p>
        </p:txBody>
      </p:sp>
      <p:sp>
        <p:nvSpPr>
          <p:cNvPr id="132" name="Registry">
            <a:extLst>
              <a:ext uri="{FF2B5EF4-FFF2-40B4-BE49-F238E27FC236}">
                <ns4:creationId id="{13352C48-739D-4390-B998-57684A91DF6C}"/>
              </a:ext>
            </a:extLst>
          </p:cNvPr>
          <p:cNvSpPr>
            <a:spLocks noGrp="1"/>
          </p:cNvSpPr>
          <p:nvPr/>
        </p:nvSpPr>
        <p:spPr>
          <a:xfrm>
            <a:off x="9001125" y="3371850"/>
            <a:ext cx="2190750" cy="53340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Marketplace registry</a:t>
            </a:r>
          </a:p>
        </p:txBody>
      </p:sp>
      <p:sp>
        <p:nvSpPr>
          <p:cNvPr id="133" name="Models">
            <a:extLst>
              <a:ext uri="{FF2B5EF4-FFF2-40B4-BE49-F238E27FC236}">
                <ns4:creationId id="{86A620CD-8F8C-464C-AD8C-D2C216045EDB}"/>
              </a:ext>
            </a:extLst>
          </p:cNvPr>
          <p:cNvSpPr>
            <a:spLocks noGrp="1"/>
          </p:cNvSpPr>
          <p:nvPr/>
        </p:nvSpPr>
        <p:spPr>
          <a:xfrm>
            <a:off x="990600" y="4210050"/>
            <a:ext cx="2571750" cy="476250"/>
          </a:xfrm>
          <a:prstGeom prst="rect">
            <a:avLst/>
          </a:prstGeom>
          <a:solidFill>
            <a:srgbClr val="0B1020"/>
          </a:solidFill>
          <a:ln w="13335">
            <a:solidFill>
              <a:srgbClr val="00E5FF"/>
            </a:solidFill>
          </a:ln>
        </p:spPr>
        <p:txBody>
          <a:bodyPr lIns="38100" tIns="38100" rIns="38100" bIns="38100" anchor="ctr"/>
          <a:lstStyle>
            <a:defPPr algn="ctr">
              <a:defRPr sz="1350" b="1">
                <a:solidFill>
                  <a:srgbClr val="FFFFFF"/>
                </a:solidFill>
                <a:latin typeface="Calibri"/>
                <a:ea typeface="Calibri"/>
                <a:cs typeface="Calibri"/>
              </a:defRPr>
            </a:defPPr>
          </a:lstStyle>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Model adapters:</a:t>
            </a:r>
          </a:p>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local or cloud</a:t>
            </a:r>
          </a:p>
        </p:txBody>
      </p:sp>
      <p:sp>
        <p:nvSpPr>
          <p:cNvPr id="134" name="Memory">
            <a:extLst>
              <a:ext uri="{FF2B5EF4-FFF2-40B4-BE49-F238E27FC236}">
                <ns4:creationId id="{EDC443E9-70AE-4914-AE7C-30FFC6D4904F}"/>
              </a:ext>
            </a:extLst>
          </p:cNvPr>
          <p:cNvSpPr>
            <a:spLocks noGrp="1"/>
          </p:cNvSpPr>
          <p:nvPr/>
        </p:nvSpPr>
        <p:spPr>
          <a:xfrm>
            <a:off x="4095750" y="4210050"/>
            <a:ext cx="2286000" cy="47625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Editable memory</a:t>
            </a:r>
          </a:p>
        </p:txBody>
      </p:sp>
      <p:sp>
        <p:nvSpPr>
          <p:cNvPr id="135" name="Policy">
            <a:extLst>
              <a:ext uri="{FF2B5EF4-FFF2-40B4-BE49-F238E27FC236}">
                <ns4:creationId id="{86B81429-57A8-4942-A111-138E7BA02F65}"/>
              </a:ext>
            </a:extLst>
          </p:cNvPr>
          <p:cNvSpPr>
            <a:spLocks noGrp="1"/>
          </p:cNvSpPr>
          <p:nvPr/>
        </p:nvSpPr>
        <p:spPr>
          <a:xfrm>
            <a:off x="6953250" y="4210050"/>
            <a:ext cx="4238625" cy="476250"/>
          </a:xfrm>
          <a:prstGeom prst="rect">
            <a:avLst/>
          </a:prstGeom>
          <a:solidFill>
            <a:srgbClr val="0B1020"/>
          </a:solidFill>
          <a:ln w="13335">
            <a:solidFill>
              <a:srgbClr val="FF2BD6"/>
            </a:solidFill>
          </a:ln>
        </p:spPr>
        <p:txBody>
          <a:bodyPr lIns="38100" tIns="38100" rIns="38100" bIns="38100" anchor="ctr"/>
          <a:lstStyle>
            <a:defPPr algn="ctr">
              <a:defRPr sz="1350" b="1">
                <a:solidFill>
                  <a:srgbClr val="FFFFFF"/>
                </a:solidFill>
                <a:latin typeface="Calibri"/>
                <a:ea typeface="Calibri"/>
                <a:cs typeface="Calibri"/>
              </a:defRPr>
            </a:defPPr>
          </a:lstStyle>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Policy, approvals</a:t>
            </a:r>
          </a:p>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and activity log</a:t>
            </a:r>
          </a:p>
        </p:txBody>
      </p:sp>
      <p:sp>
        <p:nvSpPr>
          <p:cNvPr id="136" name="Tools">
            <a:extLst>
              <a:ext uri="{FF2B5EF4-FFF2-40B4-BE49-F238E27FC236}">
                <ns4:creationId id="{6F099E57-7623-44D9-BD62-BDEAD11824C5}"/>
              </a:ext>
            </a:extLst>
          </p:cNvPr>
          <p:cNvSpPr>
            <a:spLocks noGrp="1"/>
          </p:cNvSpPr>
          <p:nvPr/>
        </p:nvSpPr>
        <p:spPr>
          <a:xfrm>
            <a:off x="6953250" y="4914900"/>
            <a:ext cx="4238625" cy="400050"/>
          </a:xfrm>
          <a:prstGeom prst="rect">
            <a:avLst/>
          </a:prstGeom>
          <a:solidFill>
            <a:srgbClr val="0B1020"/>
          </a:solidFill>
          <a:ln w="13335">
            <a:solidFill>
              <a:srgbClr val="00E5FF"/>
            </a:solidFill>
          </a:ln>
        </p:spPr>
        <p:txBody>
          <a:bodyPr lIns="38100" tIns="38100" rIns="38100" bIns="38100" anchor="ctr"/>
          <a:lstStyle>
            <a:defPPr algn="ctr">
              <a:defRPr sz="1425" b="1">
                <a:solidFill>
                  <a:srgbClr val="FFFFFF"/>
                </a:solidFill>
                <a:latin typeface="Calibri"/>
                <a:ea typeface="Calibri"/>
                <a:cs typeface="Calibri"/>
              </a:defRPr>
            </a:defPPr>
          </a:lstStyle>
          <a:p>
            <a:pPr algn="ctr">
              <a:defRPr sz="1425" b="1">
                <a:solidFill>
                  <a:srgbClr val="FFFFFF"/>
                </a:solidFill>
                <a:latin typeface="Calibri"/>
                <a:ea typeface="Calibri"/>
                <a:cs typeface="Calibri"/>
              </a:defRPr>
            </a:pPr>
            <a:r>
              <a:rPr sz="1425" b="1">
                <a:solidFill>
                  <a:srgbClr val="FFFFFF"/>
                </a:solidFill>
                <a:latin typeface="Calibri"/>
                <a:ea typeface="Calibri"/>
                <a:cs typeface="Calibri"/>
              </a:rPr>
              <a:t>Tools and MCP connectors</a:t>
            </a:r>
          </a:p>
        </p:txBody>
      </p:sp>
      <p:sp>
        <p:nvSpPr>
          <p:cNvPr id="137" name="Browser">
            <a:extLst>
              <a:ext uri="{FF2B5EF4-FFF2-40B4-BE49-F238E27FC236}">
                <ns4:creationId id="{C1FC6071-FA33-46A7-BE37-7169DFB12B5C}"/>
              </a:ext>
            </a:extLst>
          </p:cNvPr>
          <p:cNvSpPr>
            <a:spLocks noGrp="1"/>
          </p:cNvSpPr>
          <p:nvPr/>
        </p:nvSpPr>
        <p:spPr>
          <a:xfrm>
            <a:off x="6953250" y="5581650"/>
            <a:ext cx="2000250" cy="361950"/>
          </a:xfrm>
          <a:prstGeom prst="rect">
            <a:avLst/>
          </a:prstGeom>
          <a:solidFill>
            <a:srgbClr val="0B1020"/>
          </a:solidFill>
          <a:ln w="13335">
            <a:solidFill>
              <a:srgbClr val="00E5FF"/>
            </a:solidFill>
          </a:ln>
        </p:spPr>
        <p:txBody>
          <a:bodyPr lIns="38100" tIns="38100" rIns="38100" bIns="38100" anchor="ctr"/>
          <a:lstStyle>
            <a:defPPr algn="ctr">
              <a:defRPr sz="1350" b="1">
                <a:solidFill>
                  <a:srgbClr val="FFFFFF"/>
                </a:solidFill>
                <a:latin typeface="Calibri"/>
                <a:ea typeface="Calibri"/>
                <a:cs typeface="Calibri"/>
              </a:defRPr>
            </a:defPPr>
          </a:lstStyle>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Browser worker</a:t>
            </a:r>
          </a:p>
        </p:txBody>
      </p:sp>
      <p:sp>
        <p:nvSpPr>
          <p:cNvPr id="138" name="Files">
            <a:extLst>
              <a:ext uri="{FF2B5EF4-FFF2-40B4-BE49-F238E27FC236}">
                <ns4:creationId id="{D74ACB1B-161D-4C9B-B92B-3FBACA054EB1}"/>
              </a:ext>
            </a:extLst>
          </p:cNvPr>
          <p:cNvSpPr>
            <a:spLocks noGrp="1"/>
          </p:cNvSpPr>
          <p:nvPr/>
        </p:nvSpPr>
        <p:spPr>
          <a:xfrm>
            <a:off x="9191625" y="5581650"/>
            <a:ext cx="2000250" cy="361950"/>
          </a:xfrm>
          <a:prstGeom prst="rect">
            <a:avLst/>
          </a:prstGeom>
          <a:solidFill>
            <a:srgbClr val="0B1020"/>
          </a:solidFill>
          <a:ln w="13335">
            <a:solidFill>
              <a:srgbClr val="00E5FF"/>
            </a:solidFill>
          </a:ln>
        </p:spPr>
        <p:txBody>
          <a:bodyPr lIns="38100" tIns="38100" rIns="38100" bIns="38100" anchor="ctr"/>
          <a:lstStyle>
            <a:defPPr algn="ctr">
              <a:defRPr sz="1350" b="1">
                <a:solidFill>
                  <a:srgbClr val="FFFFFF"/>
                </a:solidFill>
                <a:latin typeface="Calibri"/>
                <a:ea typeface="Calibri"/>
                <a:cs typeface="Calibri"/>
              </a:defRPr>
            </a:defPPr>
          </a:lstStyle>
          <a:p>
            <a:pPr algn="ctr">
              <a:defRPr sz="1350" b="1">
                <a:solidFill>
                  <a:srgbClr val="FFFFFF"/>
                </a:solidFill>
                <a:latin typeface="Calibri"/>
                <a:ea typeface="Calibri"/>
                <a:cs typeface="Calibri"/>
              </a:defRPr>
            </a:pPr>
            <a:r>
              <a:rPr sz="1350" b="1">
                <a:solidFill>
                  <a:srgbClr val="FFFFFF"/>
                </a:solidFill>
                <a:latin typeface="Calibri"/>
                <a:ea typeface="Calibri"/>
                <a:cs typeface="Calibri"/>
              </a:rPr>
              <a:t>Approved local files</a:t>
            </a:r>
          </a:p>
        </p:txBody>
      </p:sp>
    </p:spTree>
  </p:cSld>
  <p:clrMapOvr>
    <a:masterClrMapping/>
  </p:clrMapOvr>
</p:sld>
</file>

<file path=ppt/slides/slide6.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05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FEASIBILITY &amp; VIABILITY</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6</a:t>
            </a:fld>
            <a:endParaRPr lang="en-US"/>
          </a:p>
        </p:txBody>
      </p:sp>
      <p:pic>
        <p:nvPicPr>
          <p:cNvPr id="8" name="Picture 7" descr="Cintel Association (@cintel_association) · Chennai">
            <a:extLst>
              <a:ext uri="{FF2B5EF4-FFF2-40B4-BE49-F238E27FC236}">
                <ns4:creationId id="{B3F9C345-3175-0FC3-774D-B65145684CE2}"/>
              </a:ext>
            </a:extLst>
          </p:cNvPr>
          <p:cNvPicPr>
            <a:picLocks noChangeAspect="1"/>
          </p:cNvPicPr>
          <p:nvPr/>
        </p:nvPicPr>
        <p:blipFill>
          <a:blip r:embed="rId4"/>
          <a:stretch>
            <a:fillRect/>
          </a:stretch>
        </p:blipFill>
        <p:spPr>
          <a:xfrm>
            <a:off x="11069052" y="228600"/>
            <a:ext cx="815691" cy="815691"/>
          </a:xfrm>
          <a:prstGeom prst="rect">
            <a:avLst/>
          </a:prstGeom>
        </p:spPr>
      </p:pic>
      <p:sp>
        <p:nvSpPr>
          <p:cNvPr id="140" name="Proposed V1 foundations">
            <a:extLst>
              <a:ext uri="{FF2B5EF4-FFF2-40B4-BE49-F238E27FC236}">
                <ns4:creationId id="{1FE1396B-BE9E-44EB-A726-0204016ADA27}"/>
              </a:ext>
            </a:extLst>
          </p:cNvPr>
          <p:cNvSpPr>
            <a:spLocks noGrp="1"/>
          </p:cNvSpPr>
          <p:nvPr/>
        </p:nvSpPr>
        <p:spPr>
          <a:xfrm>
            <a:off x="990600" y="1876425"/>
            <a:ext cx="4762500" cy="342900"/>
          </a:xfrm>
          <a:prstGeom prst="rect">
            <a:avLst/>
          </a:prstGeom>
          <a:noFill/>
          <a:ln w="0">
            <a:noFill/>
          </a:ln>
        </p:spPr>
        <p:txBody>
          <a:bodyPr lIns="0" tIns="0" rIns="0" bIns="0" anchor="t"/>
          <a:lstStyle>
            <a:defPPr algn="l">
              <a:defRPr sz="2025" b="1">
                <a:solidFill>
                  <a:srgbClr val="00E5FF"/>
                </a:solidFill>
                <a:latin typeface="Calibri"/>
                <a:ea typeface="Calibri"/>
                <a:cs typeface="Calibri"/>
              </a:defRPr>
            </a:defPPr>
          </a:lstStyle>
          <a:p>
            <a:pPr algn="l">
              <a:defRPr sz="2025" b="1">
                <a:solidFill>
                  <a:srgbClr val="00E5FF"/>
                </a:solidFill>
                <a:latin typeface="Calibri"/>
                <a:ea typeface="Calibri"/>
                <a:cs typeface="Calibri"/>
              </a:defRPr>
            </a:pPr>
            <a:r>
              <a:rPr sz="2025" b="1">
                <a:solidFill>
                  <a:srgbClr val="00E5FF"/>
                </a:solidFill>
                <a:latin typeface="Calibri"/>
                <a:ea typeface="Calibri"/>
                <a:cs typeface="Calibri"/>
              </a:rPr>
              <a:t>Proposed V1 foundations</a:t>
            </a:r>
          </a:p>
        </p:txBody>
      </p:sp>
      <p:sp>
        <p:nvSpPr>
          <p:cNvPr id="127" name="Business model">
            <a:extLst>
              <a:ext uri="{FF2B5EF4-FFF2-40B4-BE49-F238E27FC236}">
                <ns4:creationId id="{14AEC921-CA55-4747-9FDD-286BECF1BC95}"/>
              </a:ext>
            </a:extLst>
          </p:cNvPr>
          <p:cNvSpPr>
            <a:spLocks noGrp="1"/>
          </p:cNvSpPr>
          <p:nvPr/>
        </p:nvSpPr>
        <p:spPr>
          <a:xfrm>
            <a:off x="6267450" y="1876425"/>
            <a:ext cx="4572000" cy="342900"/>
          </a:xfrm>
          <a:prstGeom prst="rect">
            <a:avLst/>
          </a:prstGeom>
          <a:noFill/>
          <a:ln w="0">
            <a:noFill/>
          </a:ln>
        </p:spPr>
        <p:txBody>
          <a:bodyPr lIns="0" tIns="0" rIns="0" bIns="0" anchor="t"/>
          <a:lstStyle>
            <a:defPPr algn="l">
              <a:defRPr sz="2025" b="1">
                <a:solidFill>
                  <a:srgbClr val="00E5FF"/>
                </a:solidFill>
                <a:latin typeface="Calibri"/>
                <a:ea typeface="Calibri"/>
                <a:cs typeface="Calibri"/>
              </a:defRPr>
            </a:defPPr>
          </a:lstStyle>
          <a:p>
            <a:pPr algn="l">
              <a:defRPr sz="2025" b="1">
                <a:solidFill>
                  <a:srgbClr val="00E5FF"/>
                </a:solidFill>
                <a:latin typeface="Calibri"/>
                <a:ea typeface="Calibri"/>
                <a:cs typeface="Calibri"/>
              </a:defRPr>
            </a:pPr>
            <a:r>
              <a:rPr sz="2025" b="1">
                <a:solidFill>
                  <a:srgbClr val="00E5FF"/>
                </a:solidFill>
                <a:latin typeface="Calibri"/>
                <a:ea typeface="Calibri"/>
                <a:cs typeface="Calibri"/>
              </a:rPr>
              <a:t>Business model</a:t>
            </a:r>
          </a:p>
        </p:txBody>
      </p:sp>
      <p:sp>
        <p:nvSpPr>
          <p:cNvPr id="128" name="Shared UI and remote access">
            <a:extLst>
              <a:ext uri="{FF2B5EF4-FFF2-40B4-BE49-F238E27FC236}">
                <ns4:creationId id="{0E705971-B392-4A9E-96BF-544A87F8BDC8}"/>
              </a:ext>
            </a:extLst>
          </p:cNvPr>
          <p:cNvSpPr>
            <a:spLocks noGrp="1"/>
          </p:cNvSpPr>
          <p:nvPr/>
        </p:nvSpPr>
        <p:spPr>
          <a:xfrm>
            <a:off x="990600" y="2400300"/>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Shared UI and remote access</a:t>
            </a:r>
          </a:p>
        </p:txBody>
      </p:sp>
      <p:sp>
        <p:nvSpPr>
          <p:cNvPr id="129" name="React, TypeScript and Vite, with Tailwind/shadcn and Tailsca">
            <a:extLst>
              <a:ext uri="{FF2B5EF4-FFF2-40B4-BE49-F238E27FC236}">
                <ns4:creationId id="{F5E76CE2-AA24-47FE-A6CE-6540FB2F4FD8}"/>
              </a:ext>
            </a:extLst>
          </p:cNvPr>
          <p:cNvSpPr>
            <a:spLocks noGrp="1"/>
          </p:cNvSpPr>
          <p:nvPr/>
        </p:nvSpPr>
        <p:spPr>
          <a:xfrm>
            <a:off x="990600" y="2790825"/>
            <a:ext cx="4533900" cy="7429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React, TypeScript and Vite, with Tailwind/shadcn and Tailscale Serve.</a:t>
            </a:r>
          </a:p>
        </p:txBody>
      </p:sp>
      <p:sp>
        <p:nvSpPr>
          <p:cNvPr id="130" name="Local execution and tools">
            <a:extLst>
              <a:ext uri="{FF2B5EF4-FFF2-40B4-BE49-F238E27FC236}">
                <ns4:creationId id="{0314870B-40B5-4A6F-B008-811B5C64049D}"/>
              </a:ext>
            </a:extLst>
          </p:cNvPr>
          <p:cNvSpPr>
            <a:spLocks noGrp="1"/>
          </p:cNvSpPr>
          <p:nvPr/>
        </p:nvSpPr>
        <p:spPr>
          <a:xfrm>
            <a:off x="990600" y="345757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Local execution and tools</a:t>
            </a:r>
          </a:p>
        </p:txBody>
      </p:sp>
      <p:sp>
        <p:nvSpPr>
          <p:cNvPr id="131" name="AI SDK, Ollama, SQLite, Playwright and MCP. Validate model/t">
            <a:extLst>
              <a:ext uri="{FF2B5EF4-FFF2-40B4-BE49-F238E27FC236}">
                <ns4:creationId id="{C106F6F6-EAB0-48D9-9691-06045B62A912}"/>
              </a:ext>
            </a:extLst>
          </p:cNvPr>
          <p:cNvSpPr>
            <a:spLocks noGrp="1"/>
          </p:cNvSpPr>
          <p:nvPr/>
        </p:nvSpPr>
        <p:spPr>
          <a:xfrm>
            <a:off x="990600" y="3848100"/>
            <a:ext cx="4533900" cy="7429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AI SDK, Ollama, SQLite, Playwright and MCP. Validate model/tool support on real devices.</a:t>
            </a:r>
          </a:p>
        </p:txBody>
      </p:sp>
      <p:sp>
        <p:nvSpPr>
          <p:cNvPr id="132" name="Candidates to evaluate">
            <a:extLst>
              <a:ext uri="{FF2B5EF4-FFF2-40B4-BE49-F238E27FC236}">
                <ns4:creationId id="{D5E3B59C-9487-4802-8F6C-0BCBC06AB372}"/>
              </a:ext>
            </a:extLst>
          </p:cNvPr>
          <p:cNvSpPr>
            <a:spLocks noGrp="1"/>
          </p:cNvSpPr>
          <p:nvPr/>
        </p:nvSpPr>
        <p:spPr>
          <a:xfrm>
            <a:off x="990600" y="4514850"/>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Candidates to evaluate</a:t>
            </a:r>
          </a:p>
        </p:txBody>
      </p:sp>
      <p:sp>
        <p:nvSpPr>
          <p:cNvPr id="133" name="Eve for runtime, Supermemory local for memory, Electron/Forg">
            <a:extLst>
              <a:ext uri="{FF2B5EF4-FFF2-40B4-BE49-F238E27FC236}">
                <ns4:creationId id="{2F795D3C-A78C-4CC8-A657-80D083AF5B37}"/>
              </a:ext>
            </a:extLst>
          </p:cNvPr>
          <p:cNvSpPr>
            <a:spLocks noGrp="1"/>
          </p:cNvSpPr>
          <p:nvPr/>
        </p:nvSpPr>
        <p:spPr>
          <a:xfrm>
            <a:off x="990600" y="4905375"/>
            <a:ext cx="4533900" cy="7429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Eve for runtime, Supermemory local for memory, Electron/Forge for desktop packaging.</a:t>
            </a:r>
          </a:p>
        </p:txBody>
      </p:sp>
      <p:sp>
        <p:nvSpPr>
          <p:cNvPr id="134" name="Free, open-source core">
            <a:extLst>
              <a:ext uri="{FF2B5EF4-FFF2-40B4-BE49-F238E27FC236}">
                <ns4:creationId id="{690C705D-A8E2-46B6-A9E2-4CF8630A722B}"/>
              </a:ext>
            </a:extLst>
          </p:cNvPr>
          <p:cNvSpPr>
            <a:spLocks noGrp="1"/>
          </p:cNvSpPr>
          <p:nvPr/>
        </p:nvSpPr>
        <p:spPr>
          <a:xfrm>
            <a:off x="6267450" y="2400300"/>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Free, open-source core</a:t>
            </a:r>
          </a:p>
        </p:txBody>
      </p:sp>
      <p:sp>
        <p:nvSpPr>
          <p:cNvPr id="135" name="Proposed revenue: paid-skill commission, optional INR cloud ">
            <a:extLst>
              <a:ext uri="{FF2B5EF4-FFF2-40B4-BE49-F238E27FC236}">
                <ns4:creationId id="{B7217614-6AE4-4D6D-A6D0-F50CB68DADBC}"/>
              </a:ext>
            </a:extLst>
          </p:cNvPr>
          <p:cNvSpPr>
            <a:spLocks noGrp="1"/>
          </p:cNvSpPr>
          <p:nvPr/>
        </p:nvSpPr>
        <p:spPr>
          <a:xfrm>
            <a:off x="6267450" y="2790825"/>
            <a:ext cx="4533900" cy="7429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Proposed revenue: paid-skill commission, optional INR cloud plans and team/enterprise plans.</a:t>
            </a:r>
          </a:p>
        </p:txBody>
      </p:sp>
      <p:sp>
        <p:nvSpPr>
          <p:cNvPr id="136" name="Feasibility checks">
            <a:extLst>
              <a:ext uri="{FF2B5EF4-FFF2-40B4-BE49-F238E27FC236}">
                <ns4:creationId id="{9EF7F5F3-9AC2-4464-9A9B-0F27B6E8B2F9}"/>
              </a:ext>
            </a:extLst>
          </p:cNvPr>
          <p:cNvSpPr>
            <a:spLocks noGrp="1"/>
          </p:cNvSpPr>
          <p:nvPr/>
        </p:nvSpPr>
        <p:spPr>
          <a:xfrm>
            <a:off x="6267450" y="368617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Feasibility checks</a:t>
            </a:r>
          </a:p>
        </p:txBody>
      </p:sp>
      <p:sp>
        <p:nvSpPr>
          <p:cNvPr id="137" name="Laptop awake and connected, local hardware capacity, reliabl">
            <a:extLst>
              <a:ext uri="{FF2B5EF4-FFF2-40B4-BE49-F238E27FC236}">
                <ns4:creationId id="{5CE1D511-2C70-4C17-9998-635501381B1F}"/>
              </a:ext>
            </a:extLst>
          </p:cNvPr>
          <p:cNvSpPr>
            <a:spLocks noGrp="1"/>
          </p:cNvSpPr>
          <p:nvPr/>
        </p:nvSpPr>
        <p:spPr>
          <a:xfrm>
            <a:off x="6267450" y="4076700"/>
            <a:ext cx="4533900" cy="7429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Laptop awake and connected, local hardware capacity, reliable tools and one approval boundary.</a:t>
            </a:r>
          </a:p>
        </p:txBody>
      </p:sp>
      <p:sp>
        <p:nvSpPr>
          <p:cNvPr id="138" name="MVP DEMO">
            <a:extLst>
              <a:ext uri="{FF2B5EF4-FFF2-40B4-BE49-F238E27FC236}">
                <ns4:creationId id="{21279B2B-DB9F-4919-8A02-9DFEAD9DFBA5}"/>
              </a:ext>
            </a:extLst>
          </p:cNvPr>
          <p:cNvSpPr>
            <a:spLocks noGrp="1"/>
          </p:cNvSpPr>
          <p:nvPr/>
        </p:nvSpPr>
        <p:spPr>
          <a:xfrm>
            <a:off x="6267450" y="4991100"/>
            <a:ext cx="1428750" cy="228600"/>
          </a:xfrm>
          <a:prstGeom prst="rect">
            <a:avLst/>
          </a:prstGeom>
          <a:noFill/>
          <a:ln w="0">
            <a:noFill/>
          </a:ln>
        </p:spPr>
        <p:txBody>
          <a:bodyPr lIns="0" tIns="0" rIns="0" bIns="0" anchor="t"/>
          <a:lstStyle>
            <a:defPPr algn="l">
              <a:defRPr sz="1350" b="1">
                <a:solidFill>
                  <a:srgbClr val="FF2BD6"/>
                </a:solidFill>
                <a:latin typeface="Calibri"/>
                <a:ea typeface="Calibri"/>
                <a:cs typeface="Calibri"/>
              </a:defRPr>
            </a:defPPr>
          </a:lstStyle>
          <a:p>
            <a:pPr algn="l">
              <a:defRPr sz="1350" b="1">
                <a:solidFill>
                  <a:srgbClr val="FF2BD6"/>
                </a:solidFill>
                <a:latin typeface="Calibri"/>
                <a:ea typeface="Calibri"/>
                <a:cs typeface="Calibri"/>
              </a:defRPr>
            </a:pPr>
            <a:r>
              <a:rPr sz="1350" b="1">
                <a:solidFill>
                  <a:srgbClr val="FF2BD6"/>
                </a:solidFill>
                <a:latin typeface="Calibri"/>
                <a:ea typeface="Calibri"/>
                <a:cs typeface="Calibri"/>
              </a:rPr>
              <a:t>MVP DEMO</a:t>
            </a:r>
          </a:p>
        </p:txBody>
      </p:sp>
      <p:sp>
        <p:nvSpPr>
          <p:cNvPr id="139" name="Phone request, local PDF summary, a deadline reminder and a ">
            <a:extLst>
              <a:ext uri="{FF2B5EF4-FFF2-40B4-BE49-F238E27FC236}">
                <ns4:creationId id="{7006354F-463A-4832-B90F-30ECC740F29C}"/>
              </a:ext>
            </a:extLst>
          </p:cNvPr>
          <p:cNvSpPr>
            <a:spLocks noGrp="1"/>
          </p:cNvSpPr>
          <p:nvPr/>
        </p:nvSpPr>
        <p:spPr>
          <a:xfrm>
            <a:off x="6267450" y="5295900"/>
            <a:ext cx="4572000" cy="590550"/>
          </a:xfrm>
          <a:prstGeom prst="rect">
            <a:avLst/>
          </a:prstGeom>
          <a:noFill/>
          <a:ln w="0">
            <a:noFill/>
          </a:ln>
        </p:spPr>
        <p:txBody>
          <a:bodyPr lIns="0" tIns="0" rIns="0" bIns="0" anchor="t"/>
          <a:lstStyle>
            <a:defPPr algn="l">
              <a:defRPr sz="1650" b="0">
                <a:solidFill>
                  <a:srgbClr val="FFFFFF"/>
                </a:solidFill>
                <a:latin typeface="Calibri"/>
                <a:ea typeface="Calibri"/>
                <a:cs typeface="Calibri"/>
              </a:defRPr>
            </a:defPPr>
          </a:lstStyle>
          <a:p>
            <a:pPr algn="l">
              <a:defRPr sz="1650" b="0">
                <a:solidFill>
                  <a:srgbClr val="FFFFFF"/>
                </a:solidFill>
                <a:latin typeface="Calibri"/>
                <a:ea typeface="Calibri"/>
                <a:cs typeface="Calibri"/>
              </a:defRPr>
            </a:pPr>
            <a:r>
              <a:rPr sz="1650" b="0">
                <a:solidFill>
                  <a:srgbClr val="FFFFFF"/>
                </a:solidFill>
                <a:latin typeface="Calibri"/>
                <a:ea typeface="Calibri"/>
                <a:cs typeface="Calibri"/>
              </a:rPr>
              <a:t>Phone request, local PDF summary, a deadline reminder and a live model switch.</a:t>
            </a:r>
          </a:p>
        </p:txBody>
      </p:sp>
    </p:spTree>
  </p:cSld>
  <p:clrMapOvr>
    <a:masterClrMapping/>
  </p:clrMapOvr>
</p:sld>
</file>

<file path=ppt/slides/slide7.xml><?xml version="1.0" encoding="utf-8"?>
<p:sld xmlns:a="http://schemas.openxmlformats.org/drawingml/2006/main" xmlns:ns3="http://schemas.microsoft.com/office/mac/drawingml/2011/main" xmlns:ns4="http://schemas.microsoft.com/office/drawing/2014/main" xmlns:p="http://schemas.openxmlformats.org/presentationml/2006/main" xmlns:r="http://schemas.openxmlformats.org/officeDocument/2006/relationships">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ontent Panel"/>
          <p:cNvSpPr/>
          <p:nvPr/>
        </p:nvSpPr>
        <p:spPr>
          <a:xfrm>
            <a:off x="640080" y="1600200"/>
            <a:ext cx="10908792" cy="4480560"/>
          </a:xfrm>
          <a:prstGeom prst="rect">
            <a:avLst/>
          </a:prstGeom>
          <a:solidFill>
            <a:schemeClr val="bg2">
              <a:alpha val="65000"/>
            </a:schemeClr>
          </a:solidFill>
          <a:ln w="15875">
            <a:solidFill>
              <a:schemeClr val="accent1"/>
            </a:solidFill>
            <a:prstDash val="solid"/>
          </a:ln>
        </p:spPr>
      </p:sp>
      <p:sp>
        <p:nvSpPr>
          <p:cNvPr id="3" name="Section Tag"/>
          <p:cNvSpPr txBox="1"/>
          <p:nvPr/>
        </p:nvSpPr>
        <p:spPr>
          <a:xfrm>
            <a:off x="640080" y="365760"/>
            <a:ext cx="2743200" cy="274320"/>
          </a:xfrm>
          <a:prstGeom prst="rect">
            <a:avLst/>
          </a:prstGeom>
          <a:noFill/>
          <a:ln/>
        </p:spPr>
        <p:txBody>
          <a:bodyPr wrap="square" lIns="0" tIns="0" rIns="0" bIns="0" rtlCol="0" anchor="ctr"/>
          <a:lstStyle/>
          <a:p>
            <a:pPr marL="0" indent="0">
              <a:buNone/>
            </a:pPr>
            <a:r>
              <a:rPr lang="en-US" sz="1100" b="1" kern="0" spc="400" dirty="0">
                <a:solidFill>
                  <a:schemeClr val="accent2"/>
                </a:solidFill>
              </a:rPr>
              <a:t>06  /  06</a:t>
            </a:r>
            <a:endParaRPr lang="en-US" sz="1100" dirty="0"/>
          </a:p>
        </p:txBody>
      </p:sp>
      <p:sp>
        <p:nvSpPr>
          <p:cNvPr id="4" name="Text 0"/>
          <p:cNvSpPr>
            <a:spLocks noGrp="1"/>
          </p:cNvSpPr>
          <p:nvPr>
            <p:ph type="title" idx="100" hasCustomPrompt="1"/>
          </p:nvPr>
        </p:nvSpPr>
        <p:spPr>
          <a:xfrm>
            <a:off x="640080" y="685800"/>
            <a:ext cx="10908792" cy="777240"/>
          </a:xfrm>
          <a:prstGeom prst="rect">
            <a:avLst/>
          </a:prstGeom>
          <a:noFill/>
          <a:ln/>
        </p:spPr>
        <p:txBody>
          <a:bodyPr wrap="square" lIns="0" tIns="0" rIns="0" bIns="0" rtlCol="0" anchor="ctr"/>
          <a:lstStyle/>
          <a:p>
            <a:pPr marL="0" indent="0" algn="l">
              <a:buNone/>
            </a:pPr>
            <a:r>
              <a:rPr lang="en-US" sz="3400" b="1" kern="0" spc="200" dirty="0">
                <a:solidFill>
                  <a:schemeClr val="tx1"/>
                </a:solidFill>
              </a:rPr>
              <a:t>IMPACT &amp; BENEFITS</a:t>
            </a:r>
            <a:endParaRPr lang="en-US" sz="3400" dirty="0"/>
          </a:p>
        </p:txBody>
      </p:sp>
      <p:sp>
        <p:nvSpPr>
          <p:cNvPr id="5" name="Text 0"/>
          <p:cNvSpPr>
            <a:spLocks noGrp="1"/>
          </p:cNvSpPr>
          <p:nvPr>
            <p:ph type="body" idx="101" hasCustomPrompt="1"/>
          </p:nvPr>
        </p:nvSpPr>
        <p:spPr>
          <a:xfrm>
            <a:off x="960120" y="1874520"/>
            <a:ext cx="10268712" cy="3931920"/>
          </a:xfrm>
          <a:prstGeom prst="rect">
            <a:avLst/>
          </a:prstGeom>
          <a:noFill/>
          <a:ln/>
        </p:spPr>
        <p:txBody>
          <a:bodyPr wrap="square" lIns="0" tIns="0" rIns="0" bIns="0" rtlCol="0" anchor="t"/>
          <a:lstStyle/>
          <a:p>
            <a:pPr marL="0" indent="0">
              <a:buNone/>
            </a:pPr>
            <a:endParaRPr lang="en-US" sz="1800" dirty="0"/>
          </a:p>
        </p:txBody>
      </p:sp>
      <p:sp>
        <p:nvSpPr>
          <p:cNvPr id="6" name="Footer"/>
          <p:cNvSpPr txBox="1"/>
          <p:nvPr/>
        </p:nvSpPr>
        <p:spPr>
          <a:xfrm>
            <a:off x="640080" y="6355080"/>
            <a:ext cx="4572000" cy="274320"/>
          </a:xfrm>
          <a:prstGeom prst="rect">
            <a:avLst/>
          </a:prstGeom>
          <a:noFill/>
          <a:ln/>
        </p:spPr>
        <p:txBody>
          <a:bodyPr wrap="square" lIns="0" tIns="0" rIns="0" bIns="0" rtlCol="0" anchor="ctr"/>
          <a:lstStyle/>
          <a:p>
            <a:pPr marL="0" indent="0">
              <a:buNone/>
            </a:pPr>
            <a:r>
              <a:rPr lang="en-US" sz="1000" kern="0" spc="400" dirty="0">
                <a:solidFill>
                  <a:schemeClr val="tx2"/>
                </a:solidFill>
              </a:rPr>
              <a:t>CINTEL IDEATHON 3.0</a:t>
            </a:r>
            <a:endParaRPr lang="en-US" sz="1000" dirty="0"/>
          </a:p>
        </p:txBody>
      </p:sp>
      <p:sp>
        <p:nvSpPr>
          <p:cNvPr id="25" name="Slide Number Placeholder 0"/>
          <p:cNvSpPr>
            <a:spLocks noGrp="1"/>
          </p:cNvSpPr>
          <p:nvPr>
            <p:ph type="sldNum" sz="quarter" idx="4294967295"/>
          </p:nvPr>
        </p:nvSpPr>
        <p:spPr>
          <a:xfrm>
            <a:off x="10817352" y="6355080"/>
            <a:ext cx="731520" cy="274320"/>
          </a:xfrm>
          <a:prstGeom prst="rect">
            <a:avLst/>
          </a:prstGeom>
          <a:extLst>
            <a:ext uri="{C572A759-6A51-4108-AA02-DFA0A04FC94B}">
              <ns3:wrappingTextBoxFlag val="0"/>
            </a:ext>
          </a:extLst>
        </p:spPr>
        <p:txBody>
          <a:bodyPr lIns="0" tIns="0" rIns="0" bIns="0"/>
          <a:lstStyle>
            <a:lvl1pPr>
              <a:defRPr sz="1000">
                <a:solidFill>
                  <a:schemeClr val="accent1"/>
                </a:solidFill>
              </a:defRPr>
            </a:lvl1pPr>
          </a:lstStyle>
          <a:p>
            <a:pPr algn="r"/>
            <a:fld id="{F7021451-1387-4CA6-816F-3879F97B5CBC}" type="slidenum">
              <a:rPr lang="en-US" b="0"/>
              <a:t>7</a:t>
            </a:fld>
            <a:endParaRPr lang="en-US"/>
          </a:p>
        </p:txBody>
      </p:sp>
      <p:pic>
        <p:nvPicPr>
          <p:cNvPr id="8" name="Picture 7" descr="Cintel Association (@cintel_association) · Chennai">
            <a:extLst>
              <a:ext uri="{FF2B5EF4-FFF2-40B4-BE49-F238E27FC236}">
                <ns4:creationId id="{4C292BB1-9370-B915-6759-5A0E082E6DBA}"/>
              </a:ext>
            </a:extLst>
          </p:cNvPr>
          <p:cNvPicPr>
            <a:picLocks noChangeAspect="1"/>
          </p:cNvPicPr>
          <p:nvPr/>
        </p:nvPicPr>
        <p:blipFill>
          <a:blip r:embed="rId4"/>
          <a:stretch>
            <a:fillRect/>
          </a:stretch>
        </p:blipFill>
        <p:spPr>
          <a:xfrm>
            <a:off x="11069052" y="228600"/>
            <a:ext cx="815691" cy="815691"/>
          </a:xfrm>
          <a:prstGeom prst="rect">
            <a:avLst/>
          </a:prstGeom>
        </p:spPr>
      </p:pic>
      <p:sp>
        <p:nvSpPr>
          <p:cNvPr id="137" name="Expected benefits for users and skill creators">
            <a:extLst>
              <a:ext uri="{FF2B5EF4-FFF2-40B4-BE49-F238E27FC236}">
                <ns4:creationId id="{44833566-499C-47E3-84F0-0BA64E21FA9B}"/>
              </a:ext>
            </a:extLst>
          </p:cNvPr>
          <p:cNvSpPr>
            <a:spLocks noGrp="1"/>
          </p:cNvSpPr>
          <p:nvPr/>
        </p:nvSpPr>
        <p:spPr>
          <a:xfrm>
            <a:off x="990600" y="1876425"/>
            <a:ext cx="10096500" cy="419100"/>
          </a:xfrm>
          <a:prstGeom prst="rect">
            <a:avLst/>
          </a:prstGeom>
          <a:noFill/>
          <a:ln w="0">
            <a:noFill/>
          </a:ln>
        </p:spPr>
        <p:txBody>
          <a:bodyPr lIns="0" tIns="0" rIns="0" bIns="0" anchor="t"/>
          <a:lstStyle>
            <a:defPPr algn="l">
              <a:defRPr sz="2325" b="1">
                <a:solidFill>
                  <a:srgbClr val="FFFFFF"/>
                </a:solidFill>
                <a:latin typeface="Calibri"/>
                <a:ea typeface="Calibri"/>
                <a:cs typeface="Calibri"/>
              </a:defRPr>
            </a:defPPr>
          </a:lstStyle>
          <a:p>
            <a:pPr algn="l">
              <a:defRPr sz="2325" b="1">
                <a:solidFill>
                  <a:srgbClr val="FFFFFF"/>
                </a:solidFill>
                <a:latin typeface="Calibri"/>
                <a:ea typeface="Calibri"/>
                <a:cs typeface="Calibri"/>
              </a:defRPr>
            </a:pPr>
            <a:r>
              <a:rPr sz="2325" b="1">
                <a:solidFill>
                  <a:srgbClr val="FFFFFF"/>
                </a:solidFill>
                <a:latin typeface="Calibri"/>
                <a:ea typeface="Calibri"/>
                <a:cs typeface="Calibri"/>
              </a:rPr>
              <a:t>Expected benefits for users and skill creators</a:t>
            </a:r>
          </a:p>
        </p:txBody>
      </p:sp>
      <p:sp>
        <p:nvSpPr>
          <p:cNvPr id="127" name="Students">
            <a:extLst>
              <a:ext uri="{FF2B5EF4-FFF2-40B4-BE49-F238E27FC236}">
                <ns4:creationId id="{EE3D01F6-8D95-4914-BA32-D8C9985B3AA4}"/>
              </a:ext>
            </a:extLst>
          </p:cNvPr>
          <p:cNvSpPr>
            <a:spLocks noGrp="1"/>
          </p:cNvSpPr>
          <p:nvPr/>
        </p:nvSpPr>
        <p:spPr>
          <a:xfrm>
            <a:off x="990600" y="2590800"/>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Students</a:t>
            </a:r>
          </a:p>
        </p:txBody>
      </p:sp>
      <p:sp>
        <p:nvSpPr>
          <p:cNvPr id="128" name="Collect deadlines, summarise study files and reduce repeat w">
            <a:extLst>
              <a:ext uri="{FF2B5EF4-FFF2-40B4-BE49-F238E27FC236}">
                <ns4:creationId id="{6890A10C-7DF5-49EE-AD8B-76CC1AD2BA5A}"/>
              </a:ext>
            </a:extLst>
          </p:cNvPr>
          <p:cNvSpPr>
            <a:spLocks noGrp="1"/>
          </p:cNvSpPr>
          <p:nvPr/>
        </p:nvSpPr>
        <p:spPr>
          <a:xfrm>
            <a:off x="990600" y="2981325"/>
            <a:ext cx="4533900" cy="742950"/>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Collect deadlines, summarise study files and reduce repeat work in college workflows.</a:t>
            </a:r>
          </a:p>
        </p:txBody>
      </p:sp>
      <p:sp>
        <p:nvSpPr>
          <p:cNvPr id="129" name="Freelancers">
            <a:extLst>
              <a:ext uri="{FF2B5EF4-FFF2-40B4-BE49-F238E27FC236}">
                <ns4:creationId id="{D1D1C49B-AD3E-40A3-8FB2-5BA05DBFAF74}"/>
              </a:ext>
            </a:extLst>
          </p:cNvPr>
          <p:cNvSpPr>
            <a:spLocks noGrp="1"/>
          </p:cNvSpPr>
          <p:nvPr/>
        </p:nvSpPr>
        <p:spPr>
          <a:xfrm>
            <a:off x="6267450" y="2590800"/>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Freelancers</a:t>
            </a:r>
          </a:p>
        </p:txBody>
      </p:sp>
      <p:sp>
        <p:nvSpPr>
          <p:cNvPr id="130" name="Prepare research, draft replies in their own voice and track">
            <a:extLst>
              <a:ext uri="{FF2B5EF4-FFF2-40B4-BE49-F238E27FC236}">
                <ns4:creationId id="{80E958F7-158D-4555-A03A-B56FF98DE6FE}"/>
              </a:ext>
            </a:extLst>
          </p:cNvPr>
          <p:cNvSpPr>
            <a:spLocks noGrp="1"/>
          </p:cNvSpPr>
          <p:nvPr/>
        </p:nvSpPr>
        <p:spPr>
          <a:xfrm>
            <a:off x="6267450" y="2981325"/>
            <a:ext cx="4533900" cy="742950"/>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Prepare research, draft replies in their own voice and track client follow-ups.</a:t>
            </a:r>
          </a:p>
        </p:txBody>
      </p:sp>
      <p:sp>
        <p:nvSpPr>
          <p:cNvPr id="131" name="Small businesses">
            <a:extLst>
              <a:ext uri="{FF2B5EF4-FFF2-40B4-BE49-F238E27FC236}">
                <ns4:creationId id="{6F098AAB-B681-4A10-98A1-EB119D5340ED}"/>
              </a:ext>
            </a:extLst>
          </p:cNvPr>
          <p:cNvSpPr>
            <a:spLocks noGrp="1"/>
          </p:cNvSpPr>
          <p:nvPr/>
        </p:nvSpPr>
        <p:spPr>
          <a:xfrm>
            <a:off x="990600" y="39719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Small businesses</a:t>
            </a:r>
          </a:p>
        </p:txBody>
      </p:sp>
      <p:sp>
        <p:nvSpPr>
          <p:cNvPr id="132" name="Reuse routines for inbox and document administration, with a">
            <a:extLst>
              <a:ext uri="{FF2B5EF4-FFF2-40B4-BE49-F238E27FC236}">
                <ns4:creationId id="{EDC27646-4664-46F0-B30C-25326208FEF9}"/>
              </a:ext>
            </a:extLst>
          </p:cNvPr>
          <p:cNvSpPr>
            <a:spLocks noGrp="1"/>
          </p:cNvSpPr>
          <p:nvPr/>
        </p:nvSpPr>
        <p:spPr>
          <a:xfrm>
            <a:off x="990600" y="4362450"/>
            <a:ext cx="4533900" cy="742950"/>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Reuse routines for inbox and document administration, with approvals for consequential actions.</a:t>
            </a:r>
          </a:p>
        </p:txBody>
      </p:sp>
      <p:sp>
        <p:nvSpPr>
          <p:cNvPr id="133" name="Developers">
            <a:extLst>
              <a:ext uri="{FF2B5EF4-FFF2-40B4-BE49-F238E27FC236}">
                <ns4:creationId id="{6C951C5E-264D-43B4-89F1-C54201C23B02}"/>
              </a:ext>
            </a:extLst>
          </p:cNvPr>
          <p:cNvSpPr>
            <a:spLocks noGrp="1"/>
          </p:cNvSpPr>
          <p:nvPr/>
        </p:nvSpPr>
        <p:spPr>
          <a:xfrm>
            <a:off x="6267450" y="3971925"/>
            <a:ext cx="4533900" cy="342900"/>
          </a:xfrm>
          <a:prstGeom prst="rect">
            <a:avLst/>
          </a:prstGeom>
          <a:noFill/>
          <a:ln w="0">
            <a:noFill/>
          </a:ln>
        </p:spPr>
        <p:txBody>
          <a:bodyPr lIns="0" tIns="0" rIns="0" bIns="0" anchor="t"/>
          <a:lstStyle>
            <a:defPPr algn="l">
              <a:defRPr sz="1950" b="1">
                <a:solidFill>
                  <a:srgbClr val="00E5FF"/>
                </a:solidFill>
                <a:latin typeface="Calibri"/>
                <a:ea typeface="Calibri"/>
                <a:cs typeface="Calibri"/>
              </a:defRPr>
            </a:defPPr>
          </a:lstStyle>
          <a:p>
            <a:pPr algn="l">
              <a:defRPr sz="1950" b="1">
                <a:solidFill>
                  <a:srgbClr val="00E5FF"/>
                </a:solidFill>
                <a:latin typeface="Calibri"/>
                <a:ea typeface="Calibri"/>
                <a:cs typeface="Calibri"/>
              </a:defRPr>
            </a:pPr>
            <a:r>
              <a:rPr sz="1950" b="1">
                <a:solidFill>
                  <a:srgbClr val="00E5FF"/>
                </a:solidFill>
                <a:latin typeface="Calibri"/>
                <a:ea typeface="Calibri"/>
                <a:cs typeface="Calibri"/>
              </a:rPr>
              <a:t>Developers</a:t>
            </a:r>
          </a:p>
        </p:txBody>
      </p:sp>
      <p:sp>
        <p:nvSpPr>
          <p:cNvPr id="134" name="Build, publish and maintain reusable skills that address loc">
            <a:extLst>
              <a:ext uri="{FF2B5EF4-FFF2-40B4-BE49-F238E27FC236}">
                <ns4:creationId id="{1C23D697-201C-45B2-9DA3-BCF53FD1BFA3}"/>
              </a:ext>
            </a:extLst>
          </p:cNvPr>
          <p:cNvSpPr>
            <a:spLocks noGrp="1"/>
          </p:cNvSpPr>
          <p:nvPr/>
        </p:nvSpPr>
        <p:spPr>
          <a:xfrm>
            <a:off x="6267450" y="4362450"/>
            <a:ext cx="4533900" cy="742950"/>
          </a:xfrm>
          <a:prstGeom prst="rect">
            <a:avLst/>
          </a:prstGeom>
          <a:noFill/>
          <a:ln w="0">
            <a:noFill/>
          </a:ln>
        </p:spPr>
        <p:txBody>
          <a:bodyPr lIns="0" tIns="0" rIns="0" bIns="0" anchor="t"/>
          <a:lstStyle>
            <a:defPPr algn="l">
              <a:defRPr sz="1800" b="0">
                <a:solidFill>
                  <a:srgbClr val="FFFFFF"/>
                </a:solidFill>
                <a:latin typeface="Calibri"/>
                <a:ea typeface="Calibri"/>
                <a:cs typeface="Calibri"/>
              </a:defRPr>
            </a:defPPr>
          </a:lstStyle>
          <a:p>
            <a:pPr algn="l">
              <a:defRPr sz="1800" b="0">
                <a:solidFill>
                  <a:srgbClr val="FFFFFF"/>
                </a:solidFill>
                <a:latin typeface="Calibri"/>
                <a:ea typeface="Calibri"/>
                <a:cs typeface="Calibri"/>
              </a:defRPr>
            </a:pPr>
            <a:r>
              <a:rPr sz="1800" b="0">
                <a:solidFill>
                  <a:srgbClr val="FFFFFF"/>
                </a:solidFill>
                <a:latin typeface="Calibri"/>
                <a:ea typeface="Calibri"/>
                <a:cs typeface="Calibri"/>
              </a:rPr>
              <a:t>Build, publish and maintain reusable skills that address local needs.</a:t>
            </a:r>
          </a:p>
        </p:txBody>
      </p:sp>
      <p:sp>
        <p:nvSpPr>
          <p:cNvPr id="135" name="PILOT MEASURES">
            <a:extLst>
              <a:ext uri="{FF2B5EF4-FFF2-40B4-BE49-F238E27FC236}">
                <ns4:creationId id="{D6ACB5C8-67DE-44D1-AF2C-FA69846D8F81}"/>
              </a:ext>
            </a:extLst>
          </p:cNvPr>
          <p:cNvSpPr>
            <a:spLocks noGrp="1"/>
          </p:cNvSpPr>
          <p:nvPr/>
        </p:nvSpPr>
        <p:spPr>
          <a:xfrm>
            <a:off x="990600" y="5505450"/>
            <a:ext cx="2190750" cy="238125"/>
          </a:xfrm>
          <a:prstGeom prst="rect">
            <a:avLst/>
          </a:prstGeom>
          <a:noFill/>
          <a:ln w="0">
            <a:noFill/>
          </a:ln>
        </p:spPr>
        <p:txBody>
          <a:bodyPr lIns="0" tIns="0" rIns="0" bIns="0" anchor="t"/>
          <a:lstStyle>
            <a:defPPr algn="l">
              <a:defRPr sz="1350" b="1">
                <a:solidFill>
                  <a:srgbClr val="FF2BD6"/>
                </a:solidFill>
                <a:latin typeface="Calibri"/>
                <a:ea typeface="Calibri"/>
                <a:cs typeface="Calibri"/>
              </a:defRPr>
            </a:defPPr>
          </a:lstStyle>
          <a:p>
            <a:pPr algn="l">
              <a:defRPr sz="1350" b="1">
                <a:solidFill>
                  <a:srgbClr val="FF2BD6"/>
                </a:solidFill>
                <a:latin typeface="Calibri"/>
                <a:ea typeface="Calibri"/>
                <a:cs typeface="Calibri"/>
              </a:defRPr>
            </a:pPr>
            <a:r>
              <a:rPr sz="1350" b="1">
                <a:solidFill>
                  <a:srgbClr val="FF2BD6"/>
                </a:solidFill>
                <a:latin typeface="Calibri"/>
                <a:ea typeface="Calibri"/>
                <a:cs typeface="Calibri"/>
              </a:rPr>
              <a:t>PILOT MEASURES</a:t>
            </a:r>
          </a:p>
        </p:txBody>
      </p:sp>
      <p:sp>
        <p:nvSpPr>
          <p:cNvPr id="136" name="Task completion, time saved, repeat use and correct approval">
            <a:extLst>
              <a:ext uri="{FF2B5EF4-FFF2-40B4-BE49-F238E27FC236}">
                <ns4:creationId id="{71984B46-F184-4DCF-91B1-4263458C2F47}"/>
              </a:ext>
            </a:extLst>
          </p:cNvPr>
          <p:cNvSpPr>
            <a:spLocks noGrp="1"/>
          </p:cNvSpPr>
          <p:nvPr/>
        </p:nvSpPr>
        <p:spPr>
          <a:xfrm>
            <a:off x="990600" y="5791200"/>
            <a:ext cx="10096500" cy="266700"/>
          </a:xfrm>
          <a:prstGeom prst="rect">
            <a:avLst/>
          </a:prstGeom>
          <a:noFill/>
          <a:ln w="0">
            <a:noFill/>
          </a:ln>
        </p:spPr>
        <p:txBody>
          <a:bodyPr lIns="0" tIns="0" rIns="0" bIns="0" anchor="t"/>
          <a:lstStyle>
            <a:defPPr algn="l">
              <a:defRPr sz="1725" b="1">
                <a:solidFill>
                  <a:srgbClr val="00E5FF"/>
                </a:solidFill>
                <a:latin typeface="Calibri"/>
                <a:ea typeface="Calibri"/>
                <a:cs typeface="Calibri"/>
              </a:defRPr>
            </a:defPPr>
          </a:lstStyle>
          <a:p>
            <a:pPr algn="l">
              <a:defRPr sz="1725" b="1">
                <a:solidFill>
                  <a:srgbClr val="00E5FF"/>
                </a:solidFill>
                <a:latin typeface="Calibri"/>
                <a:ea typeface="Calibri"/>
                <a:cs typeface="Calibri"/>
              </a:defRPr>
            </a:pPr>
            <a:r>
              <a:rPr sz="1725" b="1">
                <a:solidFill>
                  <a:srgbClr val="00E5FF"/>
                </a:solidFill>
                <a:latin typeface="Calibri"/>
                <a:ea typeface="Calibri"/>
                <a:cs typeface="Calibri"/>
              </a:rPr>
              <a:t>Task completion, time saved, repeat use and correct approval decisions.</a:t>
            </a:r>
          </a:p>
        </p:txBody>
      </p:sp>
    </p:spTree>
  </p:cSld>
  <p:clrMapOvr>
    <a:masterClrMapping/>
  </p:clrMapOvr>
</p:sld>
</file>

<file path=ppt/theme/theme1.xml><?xml version="1.0" encoding="utf-8"?>
<a:theme xmlns:a="http://schemas.openxmlformats.org/drawingml/2006/main" name="CINTEL Neon">
  <a:themeElements>
    <a:clrScheme name="CINTEL Neon">
      <a:dk1>
        <a:srgbClr val="FFFFFF"/>
      </a:dk1>
      <a:lt1>
        <a:srgbClr val="05060B"/>
      </a:lt1>
      <a:dk2>
        <a:srgbClr val="AEB6CC"/>
      </a:dk2>
      <a:lt2>
        <a:srgbClr val="0B1020"/>
      </a:lt2>
      <a:accent1>
        <a:srgbClr val="00E5FF"/>
      </a:accent1>
      <a:accent2>
        <a:srgbClr val="FF2BD6"/>
      </a:accent2>
      <a:accent3>
        <a:srgbClr val="7C4DFF"/>
      </a:accent3>
      <a:accent4>
        <a:srgbClr val="FFB000"/>
      </a:accent4>
      <a:accent5>
        <a:srgbClr val="FF3D6E"/>
      </a:accent5>
      <a:accent6>
        <a:srgbClr val="2BFF9A"/>
      </a:accent6>
      <a:hlink>
        <a:srgbClr val="00E5FF"/>
      </a:hlink>
      <a:folHlink>
        <a:srgbClr val="FF2BD6"/>
      </a:folHlink>
    </a:clrScheme>
    <a:fontScheme name="CINTEL Ne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453</TotalTime>
  <Words>100</Words>
  <Application>Microsoft Office PowerPoint</Application>
  <PresentationFormat>Widescreen</PresentationFormat>
  <Paragraphs>39</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Arial Black</vt:lpstr>
      <vt:lpstr>Calibri</vt:lpstr>
      <vt:lpstr>CINTEL Neon</vt:lpstr>
      <vt:lpstr>IDEATHON 3.0</vt:lpstr>
      <vt:lpstr>PROBLEM STATEMENT</vt:lpstr>
      <vt:lpstr>PROPOSED SOLUTION</vt:lpstr>
      <vt:lpstr>INNOVATION &amp; KEY FEATURES</vt:lpstr>
      <vt:lpstr>TECHNICAL APPROACH &amp; PROTOTYPE</vt:lpstr>
      <vt:lpstr>FEASIBILITY &amp; VIABILITY</vt:lpstr>
      <vt:lpstr>IMPACT &amp; BENEFITS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CINTEL Ideathon 3.0 – Pitch Deck Template</dc:title>
  <dc:subject>PptxGenJS Presentation</dc:subject>
  <dc:creator>CINTEL Student Association</dc:creator>
  <cp:lastModifiedBy>Nataasha Leo</cp:lastModifiedBy>
  <cp:revision>4</cp:revision>
  <dcterms:created xsi:type="dcterms:W3CDTF">2026-10-13T17:27:27Z</dcterms:created>
  <dcterms:modified xsi:type="dcterms:W3CDTF">2026-10-14T01:05:27Z</dcterms:modified>
</cp:coreProperties>
</file>