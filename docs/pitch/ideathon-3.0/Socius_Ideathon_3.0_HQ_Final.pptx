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BF7F2AD-AA78-22E9-4EC3-CB81E878941D}">
          <p14:sldIdLst>
            <p14:sldId id="256"/>
          </p14:sldIdLst>
        </p14:section>
        <p14:section name="Pitch" id="{601EABAE-FBCC-D890-2D88-3B6E63AA42F6}">
          <p14:sldIdLst>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250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we're California Burrito, and this is Socius. Socius is Latin for 'ally'. In one line: Socius is your open AI ally. It runs on your own device, works with any model, and does whatever skills you give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2025 and 2026 gave us real personal AI agents: Grok Bot, Meta's Muse, OpenAI's Dots. They remember you, act for you and keep working in the background. But they have three problems for us. One, they're closed: you get the features the company decides to build, and nobody can add a skill for an SRM portal or a GST return. Two, they're priced in dollars and tied to one company's cloud, so your data and your model choice belong to them. Three, they ignore how India runs: UPI now does about 24 billion payments a month (NPCI, Sept 2026), and we live on college portals, GST and Tamil or Hindi WhatsApp replies. So the students, freelancers and small businesses who'd gain the most mostly haven't even heard of these agents.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Socius takes the best of all three. Muse's memory of you, Grok Bot's teams of bots, Dots' habit of working in the background, and packages it as an open, local-first ally, like Baymax. It runs on your laptop, so your files and memory stay with you. You control it from your phone. You choose the model: free local models through Ollama, or OpenAI and Anthropic if you want more power. And instead of a fixed feature list, it learns skills from an open marketplace.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makes Socius original is that it's a platform, not a product. Other assistants have a fixed set of features; Socius has a marketplace of skills, MCP connectors and bot templates that anyone can publish to, like a college attendance skill or a Zerodha connector. Any model, switchable per bot. Memory stored as plain files you can open and edit, so nothing is hidden. A main bot that creates specialist bots when you need them. Hard safety stops: it never touches money, passwords or deletes without you. And it's India-first: Indian-language voice, UPI, DigiLocker, GST. The first four already run in our prototype.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architecture. The same web UI runs on the laptop inside Electron and on the phone through Tailscale, both talking to an authenticated local API. The agent runtime runs tasks and bots, using swappable model adapters, local editable memory, and a policy layer that every tool call passes through: approvals plus an activity log. Tools are MCP connectors, a browser worker and approved local files. Marketplace items go through a reviewed install before the runtime can use them. This isn't just a diagram: the Electron app, local runtime, streaming chat across Ollama, OpenAI and Anthropic, verified marketplace installs, Markdown plus SQLite memory, restart-safe approvals and encrypted keys are built and tested in our repo. Solid boxes are built; dashed boxes are next: phone access through Tailscale, MCP connectors, the browser worker and local file access.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Is it feasible? We've already built the core, on proven open tools: Electron and React, the AI SDK, SQLite, with end-to-end tests. We use open standards, MCP for connectors and Agent Skills for skills, so skills from other agents work in Socius on day one. Demand is proven: open personal agents like OpenClaw and Hermes Agent have huge communities, but none is built for India. Business model: the core stays free and open source. We earn a commission on paid skills, with creators paid over UPI through Razorpay Route, plus optional cloud sync and hosted models priced in rupees, and team plans for colleges and small businesses. Risks: a sleeping laptop pauses jobs, so an always-on cloud computer is on the roadmap; and local-first storage puts us ahead of the DPDP Rules, which apply from May 2027. Vision demo: from a phone, 'summarise the PDFs in Downloads and remind me about the deadline', then switch models live, and the data never left the laptop.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benefits? Students get deadlines and notes handled for free on a local model. Freelancers get research and replies in their own voice. Small businesses get GST reminders and inbox work done, with approval before anything is sent. And developers: GitHub's Octoverse 2025 shows India now has more open-source contributors than any other country, and Socius gives them a marketplace to earn from. That's how it scales: every skill one developer publishes works for every user, so the community, not our team, sets the ceiling. Roadmap: desktop agent and skill SDK, then the marketplace and phone control, then Indian-language voice and India Stack. Socius: your open AI ally.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lang="en-US" b="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85800"/>
            <a:ext cx="10908792" cy="777240"/>
          </a:xfrm>
          <a:prstGeom prst="rect">
            <a:avLst/>
          </a:prstGeom>
          <a:noFill/>
          <a:ln/>
        </p:spPr>
        <p:txBody>
          <a:bodyPr wrap="square" rtlCol="0"/>
          <a:lstStyle>
            <a:lvl1pPr marL="0" indent="0" algn="l">
              <a:buNone/>
              <a:defRPr lang="en-US" sz="3400" b="1" kern="0" spc="200" dirty="0">
                <a:solidFill>
                  <a:schemeClr val="tx1"/>
                </a:solidFill>
              </a:defRPr>
            </a:lvl1pPr>
          </a:lstStyle>
          <a:p>
            <a:pPr marL="0" indent="0" algn="l">
              <a:buNone/>
            </a:pPr>
            <a:r>
              <a:rPr lang="en-US" sz="3400" b="1" kern="0" spc="200" dirty="0">
                <a:solidFill>
                  <a:schemeClr val="tx1"/>
                </a:solidFill>
              </a:rPr>
              <a:t>Slide Title</a:t>
            </a:r>
            <a:endParaRPr lang="en-US" sz="3400" dirty="0"/>
          </a:p>
        </p:txBody>
      </p:sp>
      <p:sp>
        <p:nvSpPr>
          <p:cNvPr id="3" name="Text 0"/>
          <p:cNvSpPr>
            <a:spLocks noGrp="1"/>
          </p:cNvSpPr>
          <p:nvPr>
            <p:ph type="body" idx="101" hasCustomPrompt="1"/>
          </p:nvPr>
        </p:nvSpPr>
        <p:spPr>
          <a:xfrm>
            <a:off x="960120" y="1874520"/>
            <a:ext cx="10268712" cy="3931920"/>
          </a:xfrm>
          <a:prstGeom prst="rect">
            <a:avLst/>
          </a:prstGeom>
          <a:noFill/>
          <a:ln/>
        </p:spPr>
        <p:txBody>
          <a:bodyPr wrap="square" rtlCol="0"/>
          <a:lstStyle>
            <a:lvl1pPr marL="0" indent="0">
              <a:buNone/>
              <a:defRPr lang="en-US" sz="1800" dirty="0">
                <a:solidFill>
                  <a:schemeClr val="tx1"/>
                </a:solidFill>
              </a:defRPr>
            </a:lvl1pPr>
          </a:lstStyle>
          <a:p>
            <a:pPr marL="0" indent="0">
              <a:buNone/>
            </a:pPr>
            <a:r>
              <a:rPr lang="en-US" sz="1800" dirty="0">
                <a:solidFill>
                  <a:schemeClr val="tx1"/>
                </a:solidFill>
              </a:rPr>
              <a:t>Click to add content</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83080"/>
            <a:ext cx="8229600" cy="1371600"/>
          </a:xfrm>
          <a:prstGeom prst="rect">
            <a:avLst/>
          </a:prstGeom>
          <a:noFill/>
          <a:ln/>
        </p:spPr>
        <p:txBody>
          <a:bodyPr wrap="square" rtlCol="0"/>
          <a:lstStyle>
            <a:lvl1pPr marL="0" indent="0" algn="l">
              <a:buNone/>
              <a:defRPr lang="en-US" sz="7200" b="1" dirty="0">
                <a:solidFill>
                  <a:schemeClr val="tx1"/>
                </a:solidFill>
              </a:defRPr>
            </a:lvl1pPr>
          </a:lstStyle>
          <a:p>
            <a:pPr marL="0" indent="0" algn="l">
              <a:buNone/>
            </a:pPr>
            <a:r>
              <a:rPr lang="en-US" sz="7200" b="1" dirty="0">
                <a:solidFill>
                  <a:schemeClr val="tx1"/>
                </a:solidFill>
              </a:rPr>
              <a:t>Title</a:t>
            </a:r>
            <a:endParaRPr lang="en-US" sz="7200" dirty="0"/>
          </a:p>
        </p:txBody>
      </p:sp>
      <p:sp>
        <p:nvSpPr>
          <p:cNvPr id="3" name="Text 0"/>
          <p:cNvSpPr>
            <a:spLocks noGrp="1"/>
          </p:cNvSpPr>
          <p:nvPr>
            <p:ph type="body" idx="101" hasCustomPrompt="1"/>
          </p:nvPr>
        </p:nvSpPr>
        <p:spPr>
          <a:xfrm>
            <a:off x="777240" y="4480560"/>
            <a:ext cx="3017520" cy="548640"/>
          </a:xfrm>
          <a:prstGeom prst="rect">
            <a:avLst/>
          </a:prstGeom>
          <a:noFill/>
          <a:ln/>
        </p:spPr>
        <p:txBody>
          <a:bodyPr wrap="square" rtlCol="0"/>
          <a:lstStyle>
            <a:lvl1pPr marL="0" indent="0">
              <a:buNone/>
              <a:defRPr lang="en-US" sz="1600" dirty="0">
                <a:solidFill>
                  <a:schemeClr val="tx1"/>
                </a:solidFill>
              </a:defRPr>
            </a:lvl1pPr>
          </a:lstStyle>
          <a:p>
            <a:pPr marL="0" indent="0">
              <a:buNone/>
            </a:pPr>
            <a:r>
              <a:rPr lang="en-US" sz="1600" dirty="0">
                <a:solidFill>
                  <a:schemeClr val="tx1"/>
                </a:solidFill>
              </a:rPr>
              <a:t>Click to add</a:t>
            </a:r>
            <a:endParaRPr lang="en-US" sz="1600" dirty="0"/>
          </a:p>
        </p:txBody>
      </p:sp>
      <p:sp>
        <p:nvSpPr>
          <p:cNvPr id="4" name="Text 0"/>
          <p:cNvSpPr>
            <a:spLocks noGrp="1"/>
          </p:cNvSpPr>
          <p:nvPr>
            <p:ph type="body" idx="102" hasCustomPrompt="1"/>
          </p:nvPr>
        </p:nvSpPr>
        <p:spPr>
          <a:xfrm>
            <a:off x="4297680" y="4480560"/>
            <a:ext cx="3017520" cy="548640"/>
          </a:xfrm>
          <a:prstGeom prst="rect">
            <a:avLst/>
          </a:prstGeom>
          <a:noFill/>
          <a:ln/>
        </p:spPr>
        <p:txBody>
          <a:bodyPr wrap="square" rtlCol="0"/>
          <a:lstStyle>
            <a:lvl1pPr marL="0" indent="0">
              <a:buNone/>
              <a:defRPr lang="en-US" sz="1600" dirty="0">
                <a:solidFill>
                  <a:schemeClr val="tx1"/>
                </a:solidFill>
              </a:defRPr>
            </a:lvl1pPr>
          </a:lstStyle>
          <a:p>
            <a:pPr marL="0" indent="0">
              <a:buNone/>
            </a:pPr>
            <a:r>
              <a:rPr lang="en-US" sz="1600" dirty="0">
                <a:solidFill>
                  <a:schemeClr val="tx1"/>
                </a:solidFill>
              </a:rPr>
              <a:t>Click to add</a:t>
            </a:r>
            <a:endParaRPr lang="en-US" sz="1600" dirty="0"/>
          </a:p>
        </p:txBody>
      </p:sp>
      <p:sp>
        <p:nvSpPr>
          <p:cNvPr id="5" name="Text 0"/>
          <p:cNvSpPr>
            <a:spLocks noGrp="1"/>
          </p:cNvSpPr>
          <p:nvPr>
            <p:ph type="body" idx="103" hasCustomPrompt="1"/>
          </p:nvPr>
        </p:nvSpPr>
        <p:spPr>
          <a:xfrm>
            <a:off x="777240" y="5577840"/>
            <a:ext cx="3017520" cy="548640"/>
          </a:xfrm>
          <a:prstGeom prst="rect">
            <a:avLst/>
          </a:prstGeom>
          <a:noFill/>
          <a:ln/>
        </p:spPr>
        <p:txBody>
          <a:bodyPr wrap="square" rtlCol="0"/>
          <a:lstStyle>
            <a:lvl1pPr marL="0" indent="0">
              <a:buNone/>
              <a:defRPr lang="en-US" sz="1600" dirty="0">
                <a:solidFill>
                  <a:schemeClr val="tx1"/>
                </a:solidFill>
              </a:defRPr>
            </a:lvl1pPr>
          </a:lstStyle>
          <a:p>
            <a:pPr marL="0" indent="0">
              <a:buNone/>
            </a:pPr>
            <a:r>
              <a:rPr lang="en-US" sz="1600" dirty="0">
                <a:solidFill>
                  <a:schemeClr val="tx1"/>
                </a:solidFill>
              </a:rPr>
              <a:t>Click to add</a:t>
            </a:r>
            <a:endParaRPr lang="en-US" sz="1600" dirty="0"/>
          </a:p>
        </p:txBody>
      </p:sp>
      <p:sp>
        <p:nvSpPr>
          <p:cNvPr id="6" name="Text 0"/>
          <p:cNvSpPr>
            <a:spLocks noGrp="1"/>
          </p:cNvSpPr>
          <p:nvPr>
            <p:ph type="body" idx="104" hasCustomPrompt="1"/>
          </p:nvPr>
        </p:nvSpPr>
        <p:spPr>
          <a:xfrm>
            <a:off x="4297680" y="5577840"/>
            <a:ext cx="3017520" cy="548640"/>
          </a:xfrm>
          <a:prstGeom prst="rect">
            <a:avLst/>
          </a:prstGeom>
          <a:noFill/>
          <a:ln/>
        </p:spPr>
        <p:txBody>
          <a:bodyPr wrap="square" rtlCol="0"/>
          <a:lstStyle>
            <a:lvl1pPr marL="0" indent="0">
              <a:buNone/>
              <a:defRPr lang="en-US" sz="1600" dirty="0">
                <a:solidFill>
                  <a:schemeClr val="tx1"/>
                </a:solidFill>
              </a:defRPr>
            </a:lvl1pPr>
          </a:lstStyle>
          <a:p>
            <a:pPr marL="0" indent="0">
              <a:buNone/>
            </a:pPr>
            <a:r>
              <a:rPr lang="en-US" sz="1600" dirty="0">
                <a:solidFill>
                  <a:schemeClr val="tx1"/>
                </a:solidFill>
              </a:rPr>
              <a:t>Click to add</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Socius1" Type="http://schemas.openxmlformats.org/officeDocument/2006/relationships/image" Target="../media/socius_image.png"/><Relationship Id="rIdSocius2" Type="http://schemas.openxmlformats.org/officeDocument/2006/relationships/image" Target="../media/socius_image2.png"/><Relationship Id="rIdSocius3" Type="http://schemas.openxmlformats.org/officeDocument/2006/relationships/image" Target="../media/socius_image3.png"/><Relationship Id="rIdSocius4" Type="http://schemas.openxmlformats.org/officeDocument/2006/relationships/image" Target="../media/socius_image4.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Association Name"/>
          <p:cNvSpPr txBox="1"/>
          <p:nvPr/>
        </p:nvSpPr>
        <p:spPr>
          <a:xfrm>
            <a:off x="640080" y="1325880"/>
            <a:ext cx="7315200" cy="365760"/>
          </a:xfrm>
          <a:prstGeom prst="rect">
            <a:avLst/>
          </a:prstGeom>
          <a:noFill/>
          <a:ln/>
        </p:spPr>
        <p:txBody>
          <a:bodyPr wrap="square" lIns="0" tIns="0" rIns="0" bIns="0" rtlCol="0" anchor="ctr"/>
          <a:lstStyle/>
          <a:p>
            <a:pPr marL="0" indent="0">
              <a:buNone/>
            </a:pPr>
            <a:r>
              <a:rPr lang="en-US" sz="1600" b="1" kern="0" spc="800" dirty="0">
                <a:solidFill>
                  <a:schemeClr val="accent1"/>
                </a:solidFill>
                <a:latin typeface="Arial Black" panose="020B0A04020102020204" pitchFamily="34" charset="0"/>
              </a:rPr>
              <a:t>CINTEL STUDENT ASSOCIATION</a:t>
            </a:r>
            <a:endParaRPr lang="en-US" sz="1600" dirty="0">
              <a:latin typeface="Arial Black" panose="020B0A04020102020204" pitchFamily="34" charset="0"/>
            </a:endParaRPr>
          </a:p>
        </p:txBody>
      </p:sp>
      <p:sp>
        <p:nvSpPr>
          <p:cNvPr id="4" name="Text 0"/>
          <p:cNvSpPr>
            <a:spLocks noGrp="1"/>
          </p:cNvSpPr>
          <p:nvPr>
            <p:ph type="title" idx="100" hasCustomPrompt="1"/>
          </p:nvPr>
        </p:nvSpPr>
        <p:spPr>
          <a:xfrm>
            <a:off x="640080" y="1759418"/>
            <a:ext cx="8229600" cy="1371600"/>
          </a:xfrm>
          <a:prstGeom prst="rect">
            <a:avLst/>
          </a:prstGeom>
          <a:noFill/>
          <a:ln/>
        </p:spPr>
        <p:txBody>
          <a:bodyPr wrap="square" lIns="0" tIns="0" rIns="0" bIns="0" rtlCol="0" anchor="ctr"/>
          <a:lstStyle/>
          <a:p>
            <a:pPr marL="0" indent="0" algn="l">
              <a:buNone/>
            </a:pPr>
            <a:r>
              <a:rPr lang="en-US" sz="7200" b="1" dirty="0">
                <a:solidFill>
                  <a:schemeClr val="tx1"/>
                </a:solidFill>
              </a:rPr>
              <a:t>IDEATHON 3.0</a:t>
            </a:r>
            <a:endParaRPr lang="en-US" sz="7200" dirty="0"/>
          </a:p>
        </p:txBody>
      </p:sp>
      <p:sp>
        <p:nvSpPr>
          <p:cNvPr id="5" name="Subtitle"/>
          <p:cNvSpPr txBox="1"/>
          <p:nvPr/>
        </p:nvSpPr>
        <p:spPr>
          <a:xfrm>
            <a:off x="640080" y="3200400"/>
            <a:ext cx="5486400" cy="457200"/>
          </a:xfrm>
          <a:prstGeom prst="rect">
            <a:avLst/>
          </a:prstGeom>
          <a:noFill/>
          <a:ln/>
        </p:spPr>
        <p:txBody>
          <a:bodyPr wrap="square" lIns="0" tIns="0" rIns="0" bIns="0" rtlCol="0" anchor="ctr"/>
          <a:lstStyle/>
          <a:p>
            <a:pPr marL="0" indent="0">
              <a:buNone/>
            </a:pPr>
            <a:r>
              <a:rPr lang="en-US" sz="2400" b="1" kern="0" spc="1000" dirty="0">
                <a:solidFill>
                  <a:schemeClr val="accent2"/>
                </a:solidFill>
              </a:rPr>
              <a:t>PITCH DECK</a:t>
            </a:r>
            <a:endParaRPr lang="en-US" sz="2400" dirty="0"/>
          </a:p>
        </p:txBody>
      </p:sp>
      <p:sp>
        <p:nvSpPr>
          <p:cNvPr id="6" name="Label PROJECT TITLE"/>
          <p:cNvSpPr txBox="1"/>
          <p:nvPr/>
        </p:nvSpPr>
        <p:spPr>
          <a:xfrm>
            <a:off x="622434" y="4148489"/>
            <a:ext cx="3291840" cy="274320"/>
          </a:xfrm>
          <a:prstGeom prst="rect">
            <a:avLst/>
          </a:prstGeom>
          <a:noFill/>
          <a:ln/>
        </p:spPr>
        <p:txBody>
          <a:bodyPr wrap="square" lIns="0" tIns="0" rIns="0" bIns="0" rtlCol="0" anchor="ctr"/>
          <a:lstStyle/>
          <a:p>
            <a:pPr marL="0" indent="0">
              <a:buNone/>
            </a:pPr>
            <a:r>
              <a:rPr lang="en-US" sz="1100" b="1" kern="0" spc="400" dirty="0">
                <a:solidFill>
                  <a:schemeClr val="accent1"/>
                </a:solidFill>
              </a:rPr>
              <a:t>TITLE</a:t>
            </a:r>
            <a:endParaRPr lang="en-US" sz="1100" dirty="0"/>
          </a:p>
        </p:txBody>
      </p:sp>
      <p:sp>
        <p:nvSpPr>
          <p:cNvPr id="7" name="Field Box 1"/>
          <p:cNvSpPr/>
          <p:nvPr/>
        </p:nvSpPr>
        <p:spPr>
          <a:xfrm>
            <a:off x="640080" y="4480560"/>
            <a:ext cx="3291840" cy="548640"/>
          </a:xfrm>
          <a:prstGeom prst="rect">
            <a:avLst/>
          </a:prstGeom>
          <a:solidFill>
            <a:schemeClr val="bg2">
              <a:alpha val="65000"/>
            </a:schemeClr>
          </a:solidFill>
          <a:ln w="15875">
            <a:solidFill>
              <a:schemeClr val="accent1"/>
            </a:solidFill>
            <a:prstDash val="solid"/>
          </a:ln>
        </p:spPr>
      </p:sp>
      <p:sp>
        <p:nvSpPr>
          <p:cNvPr id="8" name="Text 0"/>
          <p:cNvSpPr>
            <a:spLocks noGrp="1"/>
          </p:cNvSpPr>
          <p:nvPr>
            <p:ph type="body" idx="101" hasCustomPrompt="1"/>
          </p:nvPr>
        </p:nvSpPr>
        <p:spPr>
          <a:xfrm>
            <a:off x="777240" y="4480560"/>
            <a:ext cx="3017520" cy="548640"/>
          </a:xfrm>
          <a:prstGeom prst="rect">
            <a:avLst/>
          </a:prstGeom>
          <a:noFill/>
          <a:ln/>
        </p:spPr>
        <p:txBody>
          <a:bodyPr anchor="ctr" lIns="0" rIns="0"/>
          <a:lstStyle/>
          <a:p>
            <a:r>
              <a:rPr sz="1600" lang="en-US">
                <a:solidFill>
                  <a:srgbClr val="FFFFFF"/>
                </a:solidFill>
                <a:latin typeface="Calibri"/>
              </a:rPr>
              <a:t>Socius: your open AI ally</a:t>
            </a:r>
          </a:p>
        </p:txBody>
      </p:sp>
      <p:sp>
        <p:nvSpPr>
          <p:cNvPr id="9" name="Label TEAM NAME"/>
          <p:cNvSpPr txBox="1"/>
          <p:nvPr/>
        </p:nvSpPr>
        <p:spPr>
          <a:xfrm>
            <a:off x="4160520" y="4160520"/>
            <a:ext cx="3291840" cy="274320"/>
          </a:xfrm>
          <a:prstGeom prst="rect">
            <a:avLst/>
          </a:prstGeom>
          <a:noFill/>
          <a:ln/>
        </p:spPr>
        <p:txBody>
          <a:bodyPr wrap="square" lIns="0" tIns="0" rIns="0" bIns="0" rtlCol="0" anchor="ctr"/>
          <a:lstStyle/>
          <a:p>
            <a:pPr marL="0" indent="0">
              <a:buNone/>
            </a:pPr>
            <a:r>
              <a:rPr lang="en-US" sz="1100" b="1" kern="0" spc="400" dirty="0">
                <a:solidFill>
                  <a:schemeClr val="accent1"/>
                </a:solidFill>
              </a:rPr>
              <a:t>TEAM NAME</a:t>
            </a:r>
            <a:endParaRPr lang="en-US" sz="1100" dirty="0"/>
          </a:p>
        </p:txBody>
      </p:sp>
      <p:sp>
        <p:nvSpPr>
          <p:cNvPr id="10" name="Field Box 2"/>
          <p:cNvSpPr/>
          <p:nvPr/>
        </p:nvSpPr>
        <p:spPr>
          <a:xfrm>
            <a:off x="4160520" y="4480560"/>
            <a:ext cx="3291840" cy="548640"/>
          </a:xfrm>
          <a:prstGeom prst="rect">
            <a:avLst/>
          </a:prstGeom>
          <a:solidFill>
            <a:schemeClr val="bg2">
              <a:alpha val="65000"/>
            </a:schemeClr>
          </a:solidFill>
          <a:ln w="15875">
            <a:solidFill>
              <a:schemeClr val="accent2"/>
            </a:solidFill>
            <a:prstDash val="solid"/>
          </a:ln>
        </p:spPr>
      </p:sp>
      <p:sp>
        <p:nvSpPr>
          <p:cNvPr id="11" name="Text 0"/>
          <p:cNvSpPr>
            <a:spLocks noGrp="1"/>
          </p:cNvSpPr>
          <p:nvPr>
            <p:ph type="body" idx="102" hasCustomPrompt="1"/>
          </p:nvPr>
        </p:nvSpPr>
        <p:spPr>
          <a:xfrm>
            <a:off x="4297680" y="4480560"/>
            <a:ext cx="3017520" cy="548640"/>
          </a:xfrm>
          <a:prstGeom prst="rect">
            <a:avLst/>
          </a:prstGeom>
          <a:noFill/>
          <a:ln/>
        </p:spPr>
        <p:txBody>
          <a:bodyPr anchor="ctr" lIns="0" rIns="0"/>
          <a:lstStyle/>
          <a:p>
            <a:r>
              <a:rPr sz="1600" lang="en-US">
                <a:solidFill>
                  <a:srgbClr val="FFFFFF"/>
                </a:solidFill>
                <a:latin typeface="Calibri"/>
              </a:rPr>
              <a:t>California Burrito</a:t>
            </a:r>
          </a:p>
        </p:txBody>
      </p:sp>
      <p:sp>
        <p:nvSpPr>
          <p:cNvPr id="12" name="Label TRACK"/>
          <p:cNvSpPr txBox="1"/>
          <p:nvPr/>
        </p:nvSpPr>
        <p:spPr>
          <a:xfrm>
            <a:off x="640080" y="5257800"/>
            <a:ext cx="3291840" cy="274320"/>
          </a:xfrm>
          <a:prstGeom prst="rect">
            <a:avLst/>
          </a:prstGeom>
          <a:noFill/>
          <a:ln/>
        </p:spPr>
        <p:txBody>
          <a:bodyPr wrap="square" lIns="0" tIns="0" rIns="0" bIns="0" rtlCol="0" anchor="ctr"/>
          <a:lstStyle/>
          <a:p>
            <a:pPr marL="0" indent="0">
              <a:buNone/>
            </a:pPr>
            <a:r>
              <a:rPr lang="en-US" sz="1100" b="1" kern="0" spc="400" dirty="0">
                <a:solidFill>
                  <a:schemeClr val="accent1"/>
                </a:solidFill>
              </a:rPr>
              <a:t>TRACK</a:t>
            </a:r>
            <a:endParaRPr lang="en-US" sz="1100" dirty="0"/>
          </a:p>
        </p:txBody>
      </p:sp>
      <p:sp>
        <p:nvSpPr>
          <p:cNvPr id="13" name="Field Box 3"/>
          <p:cNvSpPr/>
          <p:nvPr/>
        </p:nvSpPr>
        <p:spPr>
          <a:xfrm>
            <a:off x="640080" y="5577840"/>
            <a:ext cx="3291840" cy="548640"/>
          </a:xfrm>
          <a:prstGeom prst="rect">
            <a:avLst/>
          </a:prstGeom>
          <a:solidFill>
            <a:schemeClr val="bg2">
              <a:alpha val="65000"/>
            </a:schemeClr>
          </a:solidFill>
          <a:ln w="15875">
            <a:solidFill>
              <a:schemeClr val="accent1"/>
            </a:solidFill>
            <a:prstDash val="solid"/>
          </a:ln>
        </p:spPr>
      </p:sp>
      <p:sp>
        <p:nvSpPr>
          <p:cNvPr id="14" name="Text 0"/>
          <p:cNvSpPr>
            <a:spLocks noGrp="1"/>
          </p:cNvSpPr>
          <p:nvPr>
            <p:ph type="body" idx="103" hasCustomPrompt="1"/>
          </p:nvPr>
        </p:nvSpPr>
        <p:spPr>
          <a:xfrm>
            <a:off x="777240" y="5577840"/>
            <a:ext cx="3017520" cy="548640"/>
          </a:xfrm>
          <a:prstGeom prst="rect">
            <a:avLst/>
          </a:prstGeom>
          <a:noFill/>
          <a:ln/>
        </p:spPr>
        <p:txBody>
          <a:bodyPr anchor="ctr" lIns="0" rIns="0"/>
          <a:lstStyle/>
          <a:p>
            <a:r>
              <a:rPr sz="1600" lang="en-US">
                <a:solidFill>
                  <a:srgbClr val="FFFFFF"/>
                </a:solidFill>
                <a:latin typeface="Calibri"/>
              </a:rPr>
              <a:t>AI Automation</a:t>
            </a:r>
          </a:p>
        </p:txBody>
      </p:sp>
      <p:sp>
        <p:nvSpPr>
          <p:cNvPr id="18" name="Tagline"/>
          <p:cNvSpPr txBox="1"/>
          <p:nvPr/>
        </p:nvSpPr>
        <p:spPr>
          <a:xfrm>
            <a:off x="7498080" y="6355080"/>
            <a:ext cx="4050792" cy="274320"/>
          </a:xfrm>
          <a:prstGeom prst="rect">
            <a:avLst/>
          </a:prstGeom>
          <a:noFill/>
          <a:ln/>
        </p:spPr>
        <p:txBody>
          <a:bodyPr wrap="square" lIns="0" tIns="0" rIns="0" bIns="0" rtlCol="0" anchor="ctr"/>
          <a:lstStyle/>
          <a:p>
            <a:pPr marL="0" indent="0" algn="r">
              <a:buNone/>
            </a:pPr>
            <a:r>
              <a:rPr lang="en-US" sz="1000" kern="0" spc="400" dirty="0"/>
              <a:t>TURN IDEAS INTO REAL SOLUTIONS</a:t>
            </a:r>
            <a:endParaRPr lang="en-US" sz="1000" dirty="0"/>
          </a:p>
        </p:txBody>
      </p:sp>
      <p:pic>
        <p:nvPicPr>
          <p:cNvPr id="15" name="Picture 14">
            <a:extLst>
              <a:ext uri="{FF2B5EF4-FFF2-40B4-BE49-F238E27FC236}">
                <ns3:creationId id="{C4B93741-B75A-7C08-C14C-9C6452E393BD}"/>
              </a:ext>
            </a:extLst>
          </p:cNvPr>
          <p:cNvPicPr>
            <a:picLocks noChangeAspect="1"/>
          </p:cNvPicPr>
          <p:nvPr/>
        </p:nvPicPr>
        <p:blipFill>
          <a:blip r:embed="rId4"/>
          <a:stretch>
            <a:fillRect/>
          </a:stretch>
        </p:blipFill>
        <p:spPr>
          <a:xfrm>
            <a:off x="219777" y="182078"/>
            <a:ext cx="931244" cy="931244"/>
          </a:xfrm>
          <a:prstGeom prst="rect">
            <a:avLst/>
          </a:prstGeom>
        </p:spPr>
      </p:pic>
      <p:pic>
        <p:nvPicPr>
          <p:cNvPr id="17" name="Picture 16" descr="Cintel Association (@cintel_association) · Chennai">
            <a:extLst>
              <a:ext uri="{FF2B5EF4-FFF2-40B4-BE49-F238E27FC236}">
                <ns3:creationId id="{E2C38E2C-1821-0E08-9437-5235DCA0F8B0}"/>
              </a:ext>
            </a:extLst>
          </p:cNvPr>
          <p:cNvPicPr>
            <a:picLocks noChangeAspect="1"/>
          </p:cNvPicPr>
          <p:nvPr/>
        </p:nvPicPr>
        <p:blipFill>
          <a:blip r:embed="rId5"/>
          <a:stretch>
            <a:fillRect/>
          </a:stretch>
        </p:blipFill>
        <p:spPr>
          <a:xfrm>
            <a:off x="11069052" y="244642"/>
            <a:ext cx="815691" cy="815691"/>
          </a:xfrm>
          <a:prstGeom prst="rect">
            <a:avLst/>
          </a:prstGeom>
        </p:spPr>
      </p:pic>
    </p:spTree>
  </p:cSld>
  <p:clrMapOvr>
    <a:masterClrMapping/>
  </p:clrMapOvr>
</p:sld>
</file>

<file path=ppt/slides/slide2.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01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PROBLEM STATEMENT</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2</a:t>
            </a:fld>
            <a:endParaRPr lang="en-US"/>
          </a:p>
        </p:txBody>
      </p:sp>
      <p:pic>
        <p:nvPicPr>
          <p:cNvPr id="8" name="Picture 7" descr="Cintel Association (@cintel_association) · Chennai">
            <a:extLst>
              <a:ext uri="{FF2B5EF4-FFF2-40B4-BE49-F238E27FC236}">
                <ns4:creationId id="{A72662FD-D237-A963-9179-40B012F5139D}"/>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38" name="Everyday digital work requires too much manual coordination">
            <a:extLst>
              <a:ext uri="{FF2B5EF4-FFF2-40B4-BE49-F238E27FC236}">
                <ns4:creationId id="{F2FCE75B-A8B0-4C7A-841E-638CA4D083DA}"/>
              </a:ext>
            </a:extLst>
          </p:cNvPr>
          <p:cNvSpPr>
            <a:spLocks noGrp="1"/>
          </p:cNvSpPr>
          <p:nvPr/>
        </p:nvSpPr>
        <p:spPr>
          <a:xfrm>
            <a:off x="990600" y="1876425"/>
            <a:ext cx="10048875" cy="428625"/>
          </a:xfrm>
          <a:prstGeom prst="rect">
            <a:avLst/>
          </a:prstGeom>
          <a:noFill/>
          <a:ln w="0">
            <a:noFill/>
          </a:ln>
        </p:spPr>
        <p:txBody>
          <a:bodyPr lIns="0" tIns="0" rIns="0" bIns="0" anchor="t"/>
          <a:lstStyle>
            <a:defPPr algn="l">
              <a:defRPr sz="2250" b="1">
                <a:solidFill>
                  <a:srgbClr val="FFFFFF"/>
                </a:solidFill>
                <a:latin typeface="Calibri"/>
                <a:ea typeface="Calibri"/>
                <a:cs typeface="Calibri"/>
              </a:defRPr>
            </a:defPPr>
          </a:lstStyle>
          <a:p>
            <a:pPr algn="l">
              <a:defRPr sz="2250" b="1">
                <a:solidFill>
                  <a:srgbClr val="FFFFFF"/>
                </a:solidFill>
                <a:latin typeface="Calibri"/>
                <a:ea typeface="Calibri"/>
                <a:cs typeface="Calibri"/>
              </a:defRPr>
            </a:pPr>
            <a:r>
              <a:rPr sz="2250" b="1">
                <a:solidFill>
                  <a:srgbClr val="FFFFFF"/>
                </a:solidFill>
                <a:latin typeface="Calibri"/>
                <a:ea typeface="Calibri"/>
                <a:cs typeface="Calibri"/>
              </a:rPr>
              <a:t>Personal AI agents are here. They aren't built for India.</a:t>
            </a:r>
          </a:p>
        </p:txBody>
      </p:sp>
      <p:sp>
        <p:nvSpPr>
          <p:cNvPr id="127" name="01">
            <a:extLst>
              <a:ext uri="{FF2B5EF4-FFF2-40B4-BE49-F238E27FC236}">
                <ns4:creationId id="{318B7260-570D-4506-A311-FA6F05198459}"/>
              </a:ext>
            </a:extLst>
          </p:cNvPr>
          <p:cNvSpPr>
            <a:spLocks noGrp="1"/>
          </p:cNvSpPr>
          <p:nvPr/>
        </p:nvSpPr>
        <p:spPr>
          <a:xfrm>
            <a:off x="990600" y="2619375"/>
            <a:ext cx="514350" cy="419100"/>
          </a:xfrm>
          <a:prstGeom prst="rect">
            <a:avLst/>
          </a:prstGeom>
          <a:noFill/>
          <a:ln w="0">
            <a:noFill/>
          </a:ln>
        </p:spPr>
        <p:txBody>
          <a:bodyPr lIns="0" tIns="0" rIns="0" bIns="0" anchor="t"/>
          <a:lstStyle>
            <a:defPPr algn="l">
              <a:defRPr sz="2625" b="1">
                <a:solidFill>
                  <a:srgbClr val="FF2BD6"/>
                </a:solidFill>
                <a:latin typeface="Calibri"/>
                <a:ea typeface="Calibri"/>
                <a:cs typeface="Calibri"/>
              </a:defRPr>
            </a:defPPr>
          </a:lstStyle>
          <a:p>
            <a:pPr algn="l">
              <a:defRPr sz="2625" b="1">
                <a:solidFill>
                  <a:srgbClr val="FF2BD6"/>
                </a:solidFill>
                <a:latin typeface="Calibri"/>
                <a:ea typeface="Calibri"/>
                <a:cs typeface="Calibri"/>
              </a:defRPr>
            </a:pPr>
            <a:r>
              <a:rPr sz="2625" b="1">
                <a:solidFill>
                  <a:srgbClr val="FF2BD6"/>
                </a:solidFill>
                <a:latin typeface="Calibri"/>
                <a:ea typeface="Calibri"/>
                <a:cs typeface="Calibri"/>
              </a:rPr>
              <a:t>01</a:t>
            </a:r>
          </a:p>
        </p:txBody>
      </p:sp>
      <p:sp>
        <p:nvSpPr>
          <p:cNvPr id="128" name="Repetitive administration">
            <a:extLst>
              <a:ext uri="{FF2B5EF4-FFF2-40B4-BE49-F238E27FC236}">
                <ns4:creationId id="{8AB81AF4-2E09-43A9-93FB-D6F144093194}"/>
              </a:ext>
            </a:extLst>
          </p:cNvPr>
          <p:cNvSpPr>
            <a:spLocks noGrp="1"/>
          </p:cNvSpPr>
          <p:nvPr/>
        </p:nvSpPr>
        <p:spPr>
          <a:xfrm>
            <a:off x="1695450" y="2619375"/>
            <a:ext cx="9429750" cy="333375"/>
          </a:xfrm>
          <a:prstGeom prst="rect">
            <a:avLst/>
          </a:prstGeom>
          <a:noFill/>
          <a:ln w="0">
            <a:noFill/>
          </a:ln>
        </p:spPr>
        <p:txBody>
          <a:bodyPr lIns="0" tIns="0" rIns="0" bIns="0" anchor="t"/>
          <a:lstStyle>
            <a:defPPr algn="l">
              <a:defRPr sz="2025" b="1">
                <a:solidFill>
                  <a:srgbClr val="00E5FF"/>
                </a:solidFill>
                <a:latin typeface="Calibri"/>
                <a:ea typeface="Calibri"/>
                <a:cs typeface="Calibri"/>
              </a:defRPr>
            </a:defPPr>
          </a:lstStyle>
          <a:p>
            <a:pPr algn="l">
              <a:defRPr sz="2025" b="1">
                <a:solidFill>
                  <a:srgbClr val="00E5FF"/>
                </a:solidFill>
                <a:latin typeface="Calibri"/>
                <a:ea typeface="Calibri"/>
                <a:cs typeface="Calibri"/>
              </a:defRPr>
            </a:pPr>
            <a:r>
              <a:rPr sz="2025" b="1">
                <a:solidFill>
                  <a:srgbClr val="00E5FF"/>
                </a:solidFill>
                <a:latin typeface="Calibri"/>
                <a:ea typeface="Calibri"/>
                <a:cs typeface="Calibri"/>
              </a:rPr>
              <a:t>Closed: they only do what their makers ship</a:t>
            </a:r>
          </a:p>
        </p:txBody>
      </p:sp>
      <p:sp>
        <p:nvSpPr>
          <p:cNvPr id="129" name="Deadlines, inbox follow-ups and document handling require re">
            <a:extLst>
              <a:ext uri="{FF2B5EF4-FFF2-40B4-BE49-F238E27FC236}">
                <ns4:creationId id="{2912B4CD-E86C-4C87-8FD4-72DE578671C2}"/>
              </a:ext>
            </a:extLst>
          </p:cNvPr>
          <p:cNvSpPr>
            <a:spLocks noGrp="1"/>
          </p:cNvSpPr>
          <p:nvPr/>
        </p:nvSpPr>
        <p:spPr>
          <a:xfrm>
            <a:off x="1695450" y="2990850"/>
            <a:ext cx="9429750" cy="542925"/>
          </a:xfrm>
          <a:prstGeom prst="rect">
            <a:avLst/>
          </a:prstGeom>
          <a:noFill/>
          <a:ln w="0">
            <a:noFill/>
          </a:ln>
        </p:spPr>
        <p:txBody>
          <a:bodyPr lIns="0" tIns="0" rIns="0" bIns="0" anchor="t"/>
          <a:lstStyle>
            <a:defPPr algn="l">
              <a:defRPr sz="1800" b="0">
                <a:solidFill>
                  <a:srgbClr val="FFFFFF"/>
                </a:solidFill>
                <a:latin typeface="Calibri"/>
                <a:ea typeface="Calibri"/>
                <a:cs typeface="Calibri"/>
              </a:defRPr>
            </a:defPPr>
          </a:lstStyle>
          <a:p>
            <a:pPr algn="l">
              <a:defRPr sz="1800" b="0">
                <a:solidFill>
                  <a:srgbClr val="FFFFFF"/>
                </a:solidFill>
                <a:latin typeface="Calibri"/>
                <a:ea typeface="Calibri"/>
                <a:cs typeface="Calibri"/>
              </a:defRPr>
            </a:pPr>
            <a:r>
              <a:rPr sz="1800" b="0">
                <a:solidFill>
                  <a:srgbClr val="FFFFFF"/>
                </a:solidFill>
                <a:latin typeface="Calibri"/>
                <a:ea typeface="Calibri"/>
                <a:cs typeface="Calibri"/>
              </a:rPr>
              <a:t>Grok Bot, Muse and Dots remember you and act for you, but nobody else can add a skill. Your college portal or GST filing will never make their roadmap.</a:t>
            </a:r>
          </a:p>
        </p:txBody>
      </p:sp>
      <p:sp>
        <p:nvSpPr>
          <p:cNvPr id="130" name="02">
            <a:extLst>
              <a:ext uri="{FF2B5EF4-FFF2-40B4-BE49-F238E27FC236}">
                <ns4:creationId id="{E6669F48-9828-4CE9-AA08-67675E378F87}"/>
              </a:ext>
            </a:extLst>
          </p:cNvPr>
          <p:cNvSpPr>
            <a:spLocks noGrp="1"/>
          </p:cNvSpPr>
          <p:nvPr/>
        </p:nvSpPr>
        <p:spPr>
          <a:xfrm>
            <a:off x="990600" y="3581400"/>
            <a:ext cx="514350" cy="419100"/>
          </a:xfrm>
          <a:prstGeom prst="rect">
            <a:avLst/>
          </a:prstGeom>
          <a:noFill/>
          <a:ln w="0">
            <a:noFill/>
          </a:ln>
        </p:spPr>
        <p:txBody>
          <a:bodyPr lIns="0" tIns="0" rIns="0" bIns="0" anchor="t"/>
          <a:lstStyle>
            <a:defPPr algn="l">
              <a:defRPr sz="2625" b="1">
                <a:solidFill>
                  <a:srgbClr val="FF2BD6"/>
                </a:solidFill>
                <a:latin typeface="Calibri"/>
                <a:ea typeface="Calibri"/>
                <a:cs typeface="Calibri"/>
              </a:defRPr>
            </a:defPPr>
          </a:lstStyle>
          <a:p>
            <a:pPr algn="l">
              <a:defRPr sz="2625" b="1">
                <a:solidFill>
                  <a:srgbClr val="FF2BD6"/>
                </a:solidFill>
                <a:latin typeface="Calibri"/>
                <a:ea typeface="Calibri"/>
                <a:cs typeface="Calibri"/>
              </a:defRPr>
            </a:pPr>
            <a:r>
              <a:rPr sz="2625" b="1">
                <a:solidFill>
                  <a:srgbClr val="FF2BD6"/>
                </a:solidFill>
                <a:latin typeface="Calibri"/>
                <a:ea typeface="Calibri"/>
                <a:cs typeface="Calibri"/>
              </a:rPr>
              <a:t>02</a:t>
            </a:r>
          </a:p>
        </p:txBody>
      </p:sp>
      <p:sp>
        <p:nvSpPr>
          <p:cNvPr id="131" name="Control, cost and privacy trade-offs">
            <a:extLst>
              <a:ext uri="{FF2B5EF4-FFF2-40B4-BE49-F238E27FC236}">
                <ns4:creationId id="{72ED1C52-45F8-49C2-96AA-3E777C1D22AB}"/>
              </a:ext>
            </a:extLst>
          </p:cNvPr>
          <p:cNvSpPr>
            <a:spLocks noGrp="1"/>
          </p:cNvSpPr>
          <p:nvPr/>
        </p:nvSpPr>
        <p:spPr>
          <a:xfrm>
            <a:off x="1695450" y="3581400"/>
            <a:ext cx="9429750" cy="333375"/>
          </a:xfrm>
          <a:prstGeom prst="rect">
            <a:avLst/>
          </a:prstGeom>
          <a:noFill/>
          <a:ln w="0">
            <a:noFill/>
          </a:ln>
        </p:spPr>
        <p:txBody>
          <a:bodyPr lIns="0" tIns="0" rIns="0" bIns="0" anchor="t"/>
          <a:lstStyle>
            <a:defPPr algn="l">
              <a:defRPr sz="2025" b="1">
                <a:solidFill>
                  <a:srgbClr val="00E5FF"/>
                </a:solidFill>
                <a:latin typeface="Calibri"/>
                <a:ea typeface="Calibri"/>
                <a:cs typeface="Calibri"/>
              </a:defRPr>
            </a:defPPr>
          </a:lstStyle>
          <a:p>
            <a:pPr algn="l">
              <a:defRPr sz="2025" b="1">
                <a:solidFill>
                  <a:srgbClr val="00E5FF"/>
                </a:solidFill>
                <a:latin typeface="Calibri"/>
                <a:ea typeface="Calibri"/>
                <a:cs typeface="Calibri"/>
              </a:defRPr>
            </a:pPr>
            <a:r>
              <a:rPr sz="2025" b="1">
                <a:solidFill>
                  <a:srgbClr val="00E5FF"/>
                </a:solidFill>
                <a:latin typeface="Calibri"/>
                <a:ea typeface="Calibri"/>
                <a:cs typeface="Calibri"/>
              </a:rPr>
              <a:t>Priced in dollars, locked to one cloud</a:t>
            </a:r>
          </a:p>
        </p:txBody>
      </p:sp>
      <p:sp>
        <p:nvSpPr>
          <p:cNvPr id="132" name="Provider ecosystems and cloud usage create decisions about m">
            <a:extLst>
              <a:ext uri="{FF2B5EF4-FFF2-40B4-BE49-F238E27FC236}">
                <ns4:creationId id="{F7AFF9B2-AF03-40D3-91EE-A834B0C62CC4}"/>
              </a:ext>
            </a:extLst>
          </p:cNvPr>
          <p:cNvSpPr>
            <a:spLocks noGrp="1"/>
          </p:cNvSpPr>
          <p:nvPr/>
        </p:nvSpPr>
        <p:spPr>
          <a:xfrm>
            <a:off x="1695450" y="3952875"/>
            <a:ext cx="9429750" cy="542925"/>
          </a:xfrm>
          <a:prstGeom prst="rect">
            <a:avLst/>
          </a:prstGeom>
          <a:noFill/>
          <a:ln w="0">
            <a:noFill/>
          </a:ln>
        </p:spPr>
        <p:txBody>
          <a:bodyPr lIns="0" tIns="0" rIns="0" bIns="0" anchor="t"/>
          <a:lstStyle>
            <a:defPPr algn="l">
              <a:defRPr sz="1800" b="0">
                <a:solidFill>
                  <a:srgbClr val="FFFFFF"/>
                </a:solidFill>
                <a:latin typeface="Calibri"/>
                <a:ea typeface="Calibri"/>
                <a:cs typeface="Calibri"/>
              </a:defRPr>
            </a:defPPr>
          </a:lstStyle>
          <a:p>
            <a:pPr algn="l">
              <a:defRPr sz="1800" b="0">
                <a:solidFill>
                  <a:srgbClr val="FFFFFF"/>
                </a:solidFill>
                <a:latin typeface="Calibri"/>
                <a:ea typeface="Calibri"/>
                <a:cs typeface="Calibri"/>
              </a:defRPr>
            </a:pPr>
            <a:r>
              <a:rPr sz="1800" b="0">
                <a:solidFill>
                  <a:srgbClr val="FFFFFF"/>
                </a:solidFill>
                <a:latin typeface="Calibri"/>
                <a:ea typeface="Calibri"/>
                <a:cs typeface="Calibri"/>
              </a:rPr>
              <a:t>USD subscriptions, one company's model, and your personal data on someone else's server.</a:t>
            </a:r>
          </a:p>
        </p:txBody>
      </p:sp>
      <p:sp>
        <p:nvSpPr>
          <p:cNvPr id="133" name="03">
            <a:extLst>
              <a:ext uri="{FF2B5EF4-FFF2-40B4-BE49-F238E27FC236}">
                <ns4:creationId id="{15FE5B87-40A4-4DBB-8A72-21D4D25A1075}"/>
              </a:ext>
            </a:extLst>
          </p:cNvPr>
          <p:cNvSpPr>
            <a:spLocks noGrp="1"/>
          </p:cNvSpPr>
          <p:nvPr/>
        </p:nvSpPr>
        <p:spPr>
          <a:xfrm>
            <a:off x="990600" y="4543425"/>
            <a:ext cx="514350" cy="419100"/>
          </a:xfrm>
          <a:prstGeom prst="rect">
            <a:avLst/>
          </a:prstGeom>
          <a:noFill/>
          <a:ln w="0">
            <a:noFill/>
          </a:ln>
        </p:spPr>
        <p:txBody>
          <a:bodyPr lIns="0" tIns="0" rIns="0" bIns="0" anchor="t"/>
          <a:lstStyle>
            <a:defPPr algn="l">
              <a:defRPr sz="2625" b="1">
                <a:solidFill>
                  <a:srgbClr val="FF2BD6"/>
                </a:solidFill>
                <a:latin typeface="Calibri"/>
                <a:ea typeface="Calibri"/>
                <a:cs typeface="Calibri"/>
              </a:defRPr>
            </a:defPPr>
          </a:lstStyle>
          <a:p>
            <a:pPr algn="l">
              <a:defRPr sz="2625" b="1">
                <a:solidFill>
                  <a:srgbClr val="FF2BD6"/>
                </a:solidFill>
                <a:latin typeface="Calibri"/>
                <a:ea typeface="Calibri"/>
                <a:cs typeface="Calibri"/>
              </a:defRPr>
            </a:pPr>
            <a:r>
              <a:rPr sz="2625" b="1">
                <a:solidFill>
                  <a:srgbClr val="FF2BD6"/>
                </a:solidFill>
                <a:latin typeface="Calibri"/>
                <a:ea typeface="Calibri"/>
                <a:cs typeface="Calibri"/>
              </a:rPr>
              <a:t>03</a:t>
            </a:r>
          </a:p>
        </p:txBody>
      </p:sp>
      <p:sp>
        <p:nvSpPr>
          <p:cNvPr id="134" name="Gaps in local workflows">
            <a:extLst>
              <a:ext uri="{FF2B5EF4-FFF2-40B4-BE49-F238E27FC236}">
                <ns4:creationId id="{FD221DF3-1AFC-4AD1-A675-FBAC1D54AAD9}"/>
              </a:ext>
            </a:extLst>
          </p:cNvPr>
          <p:cNvSpPr>
            <a:spLocks noGrp="1"/>
          </p:cNvSpPr>
          <p:nvPr/>
        </p:nvSpPr>
        <p:spPr>
          <a:xfrm>
            <a:off x="1695450" y="4543425"/>
            <a:ext cx="9429750" cy="333375"/>
          </a:xfrm>
          <a:prstGeom prst="rect">
            <a:avLst/>
          </a:prstGeom>
          <a:noFill/>
          <a:ln w="0">
            <a:noFill/>
          </a:ln>
        </p:spPr>
        <p:txBody>
          <a:bodyPr lIns="0" tIns="0" rIns="0" bIns="0" anchor="t"/>
          <a:lstStyle>
            <a:defPPr algn="l">
              <a:defRPr sz="2025" b="1">
                <a:solidFill>
                  <a:srgbClr val="00E5FF"/>
                </a:solidFill>
                <a:latin typeface="Calibri"/>
                <a:ea typeface="Calibri"/>
                <a:cs typeface="Calibri"/>
              </a:defRPr>
            </a:defPPr>
          </a:lstStyle>
          <a:p>
            <a:pPr algn="l">
              <a:defRPr sz="2025" b="1">
                <a:solidFill>
                  <a:srgbClr val="00E5FF"/>
                </a:solidFill>
                <a:latin typeface="Calibri"/>
                <a:ea typeface="Calibri"/>
                <a:cs typeface="Calibri"/>
              </a:defRPr>
            </a:pPr>
            <a:r>
              <a:rPr sz="2025" b="1">
                <a:solidFill>
                  <a:srgbClr val="00E5FF"/>
                </a:solidFill>
                <a:latin typeface="Calibri"/>
                <a:ea typeface="Calibri"/>
                <a:cs typeface="Calibri"/>
              </a:rPr>
              <a:t>Blind to how India actually works</a:t>
            </a:r>
          </a:p>
        </p:txBody>
      </p:sp>
      <p:sp>
        <p:nvSpPr>
          <p:cNvPr id="135" name="College portals, GST tasks and communication in Indian langu">
            <a:extLst>
              <a:ext uri="{FF2B5EF4-FFF2-40B4-BE49-F238E27FC236}">
                <ns4:creationId id="{53E3B59D-B58F-4B43-AEF8-F00C0F2CC46B}"/>
              </a:ext>
            </a:extLst>
          </p:cNvPr>
          <p:cNvSpPr>
            <a:spLocks noGrp="1"/>
          </p:cNvSpPr>
          <p:nvPr/>
        </p:nvSpPr>
        <p:spPr>
          <a:xfrm>
            <a:off x="1695450" y="4914900"/>
            <a:ext cx="9429750" cy="542925"/>
          </a:xfrm>
          <a:prstGeom prst="rect">
            <a:avLst/>
          </a:prstGeom>
          <a:noFill/>
          <a:ln w="0">
            <a:noFill/>
          </a:ln>
        </p:spPr>
        <p:txBody>
          <a:bodyPr lIns="0" tIns="0" rIns="0" bIns="0" anchor="t"/>
          <a:lstStyle>
            <a:defPPr algn="l">
              <a:defRPr sz="1800" b="0">
                <a:solidFill>
                  <a:srgbClr val="FFFFFF"/>
                </a:solidFill>
                <a:latin typeface="Calibri"/>
                <a:ea typeface="Calibri"/>
                <a:cs typeface="Calibri"/>
              </a:defRPr>
            </a:defPPr>
          </a:lstStyle>
          <a:p>
            <a:pPr algn="l">
              <a:defRPr sz="1800" b="0">
                <a:solidFill>
                  <a:srgbClr val="FFFFFF"/>
                </a:solidFill>
                <a:latin typeface="Calibri"/>
                <a:ea typeface="Calibri"/>
                <a:cs typeface="Calibri"/>
              </a:defRPr>
            </a:pPr>
            <a:r>
              <a:rPr sz="1800" b="0">
                <a:solidFill>
                  <a:srgbClr val="FFFFFF"/>
                </a:solidFill>
                <a:latin typeface="Calibri"/>
                <a:ea typeface="Calibri"/>
                <a:cs typeface="Calibri"/>
              </a:rPr>
              <a:t>24 billion UPI payments a month, college portals, GST, Tamil or Hindi replies: none supported.</a:t>
            </a:r>
          </a:p>
        </p:txBody>
      </p:sp>
      <p:sp>
        <p:nvSpPr>
          <p:cNvPr id="136" name="WHO FEELS IT">
            <a:extLst>
              <a:ext uri="{FF2B5EF4-FFF2-40B4-BE49-F238E27FC236}">
                <ns4:creationId id="{E0BD77AD-18B2-48F0-A895-DCDF94A8D59D}"/>
              </a:ext>
            </a:extLst>
          </p:cNvPr>
          <p:cNvSpPr>
            <a:spLocks noGrp="1"/>
          </p:cNvSpPr>
          <p:nvPr/>
        </p:nvSpPr>
        <p:spPr>
          <a:xfrm>
            <a:off x="990600" y="5629275"/>
            <a:ext cx="1714500" cy="266700"/>
          </a:xfrm>
          <a:prstGeom prst="rect">
            <a:avLst/>
          </a:prstGeom>
          <a:noFill/>
          <a:ln w="0">
            <a:noFill/>
          </a:ln>
        </p:spPr>
        <p:txBody>
          <a:bodyPr lIns="0" tIns="0" rIns="0" bIns="0" anchor="t"/>
          <a:lstStyle>
            <a:defPPr algn="l">
              <a:defRPr sz="1350" b="1">
                <a:solidFill>
                  <a:srgbClr val="FF2BD6"/>
                </a:solidFill>
                <a:latin typeface="Calibri"/>
                <a:ea typeface="Calibri"/>
                <a:cs typeface="Calibri"/>
              </a:defRPr>
            </a:defPPr>
          </a:lstStyle>
          <a:p>
            <a:pPr algn="l">
              <a:defRPr sz="1350" b="1">
                <a:solidFill>
                  <a:srgbClr val="FF2BD6"/>
                </a:solidFill>
                <a:latin typeface="Calibri"/>
                <a:ea typeface="Calibri"/>
                <a:cs typeface="Calibri"/>
              </a:defRPr>
            </a:pPr>
            <a:r>
              <a:rPr sz="1350" b="1">
                <a:solidFill>
                  <a:srgbClr val="FF2BD6"/>
                </a:solidFill>
                <a:latin typeface="Calibri"/>
                <a:ea typeface="Calibri"/>
                <a:cs typeface="Calibri"/>
              </a:rPr>
              <a:t>WHO FEELS IT</a:t>
            </a:r>
          </a:p>
        </p:txBody>
      </p:sp>
      <p:sp>
        <p:nvSpPr>
          <p:cNvPr id="137" name="Students, freelancers and small businesses lose time coordin">
            <a:extLst>
              <a:ext uri="{FF2B5EF4-FFF2-40B4-BE49-F238E27FC236}">
                <ns4:creationId id="{4CB49565-ADF7-4803-AA7A-CBA0434E22E5}"/>
              </a:ext>
            </a:extLst>
          </p:cNvPr>
          <p:cNvSpPr>
            <a:spLocks noGrp="1"/>
          </p:cNvSpPr>
          <p:nvPr/>
        </p:nvSpPr>
        <p:spPr>
          <a:xfrm>
            <a:off x="2743200" y="5600700"/>
            <a:ext cx="8439150" cy="323850"/>
          </a:xfrm>
          <a:prstGeom prst="rect">
            <a:avLst/>
          </a:prstGeom>
          <a:noFill/>
          <a:ln w="0">
            <a:noFill/>
          </a:ln>
        </p:spPr>
        <p:txBody>
          <a:bodyPr lIns="0" tIns="0" rIns="0" bIns="0" anchor="t"/>
          <a:lstStyle>
            <a:defPPr algn="l">
              <a:defRPr sz="1650" b="0">
                <a:solidFill>
                  <a:srgbClr val="AEB6CC"/>
                </a:solidFill>
                <a:latin typeface="Calibri"/>
                <a:ea typeface="Calibri"/>
                <a:cs typeface="Calibri"/>
              </a:defRPr>
            </a:defPPr>
          </a:lstStyle>
          <a:p>
            <a:pPr algn="l">
              <a:defRPr sz="1650" b="0">
                <a:solidFill>
                  <a:srgbClr val="AEB6CC"/>
                </a:solidFill>
                <a:latin typeface="Calibri"/>
                <a:ea typeface="Calibri"/>
                <a:cs typeface="Calibri"/>
              </a:defRPr>
            </a:pPr>
            <a:r>
              <a:rPr sz="1650" b="0">
                <a:solidFill>
                  <a:srgbClr val="AEB6CC"/>
                </a:solidFill>
                <a:latin typeface="Calibri"/>
                <a:ea typeface="Calibri"/>
                <a:cs typeface="Calibri"/>
              </a:rPr>
              <a:t>Students, freelancers, small businesses. Most haven't heard of AI agents yet.</a:t>
            </a:r>
          </a:p>
        </p:txBody>
      </p:sp>
    </p:spTree>
  </p:cSld>
  <p:clrMapOvr>
    <a:masterClrMapping/>
  </p:clrMapOvr>
</p:sld>
</file>

<file path=ppt/slides/slide3.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02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PROPOSED SOLUTION</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3</a:t>
            </a:fld>
            <a:endParaRPr lang="en-US"/>
          </a:p>
        </p:txBody>
      </p:sp>
      <p:pic>
        <p:nvPicPr>
          <p:cNvPr id="8" name="Picture 7" descr="Cintel Association (@cintel_association) · Chennai">
            <a:extLst>
              <a:ext uri="{FF2B5EF4-FFF2-40B4-BE49-F238E27FC236}">
                <ns4:creationId id="{DE1B24FC-6170-B47A-1F69-CBDCC9A33F5D}"/>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41" name="Socius: an open personal AI agent on your laptop">
            <a:extLst>
              <a:ext uri="{FF2B5EF4-FFF2-40B4-BE49-F238E27FC236}">
                <ns4:creationId id="{381C3F01-7B91-428B-8D6B-C18165ED0544}"/>
              </a:ext>
            </a:extLst>
          </p:cNvPr>
          <p:cNvSpPr>
            <a:spLocks noGrp="1"/>
          </p:cNvSpPr>
          <p:nvPr/>
        </p:nvSpPr>
        <p:spPr>
          <a:xfrm>
            <a:off x="990600" y="1857375"/>
            <a:ext cx="10144125" cy="409575"/>
          </a:xfrm>
          <a:prstGeom prst="rect">
            <a:avLst/>
          </a:prstGeom>
          <a:noFill/>
          <a:ln w="0">
            <a:noFill/>
          </a:ln>
        </p:spPr>
        <p:txBody>
          <a:bodyPr lIns="0" tIns="0" rIns="0" bIns="0" anchor="t"/>
          <a:lstStyle>
            <a:defPPr algn="l">
              <a:defRPr sz="2325" b="1">
                <a:solidFill>
                  <a:srgbClr val="00E5FF"/>
                </a:solidFill>
                <a:latin typeface="Calibri"/>
                <a:ea typeface="Calibri"/>
                <a:cs typeface="Calibri"/>
              </a:defRPr>
            </a:defPPr>
          </a:lstStyle>
          <a:p>
            <a:pPr algn="l">
              <a:defRPr sz="2325" b="1">
                <a:solidFill>
                  <a:srgbClr val="00E5FF"/>
                </a:solidFill>
                <a:latin typeface="Calibri"/>
                <a:ea typeface="Calibri"/>
                <a:cs typeface="Calibri"/>
              </a:defRPr>
            </a:pPr>
            <a:r>
              <a:rPr sz="2325" b="1">
                <a:solidFill>
                  <a:srgbClr val="00E5FF"/>
                </a:solidFill>
                <a:latin typeface="Calibri"/>
                <a:ea typeface="Calibri"/>
                <a:cs typeface="Calibri"/>
              </a:rPr>
              <a:t>Socius: an open AI ally that runs on your own device</a:t>
            </a:r>
          </a:p>
        </p:txBody>
      </p:sp>
      <p:sp>
        <p:nvSpPr>
          <p:cNvPr id="127" name="Use the same interface from your laptop or phone to run task">
            <a:extLst>
              <a:ext uri="{FF2B5EF4-FFF2-40B4-BE49-F238E27FC236}">
                <ns4:creationId id="{95CA615B-2BCB-4DCB-9F87-BC16CE80BCA3}"/>
              </a:ext>
            </a:extLst>
          </p:cNvPr>
          <p:cNvSpPr>
            <a:spLocks noGrp="1"/>
          </p:cNvSpPr>
          <p:nvPr/>
        </p:nvSpPr>
        <p:spPr>
          <a:xfrm>
            <a:off x="990600" y="2343150"/>
            <a:ext cx="10096500" cy="590550"/>
          </a:xfrm>
          <a:prstGeom prst="rect">
            <a:avLst/>
          </a:prstGeom>
          <a:noFill/>
          <a:ln w="0">
            <a:noFill/>
          </a:ln>
        </p:spPr>
        <p:txBody>
          <a:bodyPr lIns="0" tIns="0" rIns="0" bIns="0" anchor="t"/>
          <a:lstStyle>
            <a:defPPr algn="l">
              <a:defRPr sz="1800" b="0">
                <a:solidFill>
                  <a:srgbClr val="FFFFFF"/>
                </a:solidFill>
                <a:latin typeface="Calibri"/>
                <a:ea typeface="Calibri"/>
                <a:cs typeface="Calibri"/>
              </a:defRPr>
            </a:defPPr>
          </a:lstStyle>
          <a:p>
            <a:pPr algn="l">
              <a:defRPr sz="1800" b="0">
                <a:solidFill>
                  <a:srgbClr val="FFFFFF"/>
                </a:solidFill>
                <a:latin typeface="Calibri"/>
                <a:ea typeface="Calibri"/>
                <a:cs typeface="Calibri"/>
              </a:defRPr>
            </a:pPr>
            <a:r>
              <a:rPr sz="1800" b="0">
                <a:solidFill>
                  <a:srgbClr val="FFFFFF"/>
                </a:solidFill>
                <a:latin typeface="Calibri"/>
                <a:ea typeface="Calibri"/>
                <a:cs typeface="Calibri"/>
              </a:rPr>
              <a:t>Lives on your laptop, takes orders from your phone, runs any model (free local Ollama to OpenAI or Anthropic) and learns any skill from an open marketplace.</a:t>
            </a:r>
          </a:p>
        </p:txBody>
      </p:sp>
      <p:pic>
        <p:nvPicPr>
          <p:cNvPr id="128" name="">
            <a:extLst>
              <a:ext uri="{FF2B5EF4-FFF2-40B4-BE49-F238E27FC236}">
                <ns4:creationId id="{781722A2-D5D1-4766-9386-887CB7C4F4C6}"/>
              </a:ext>
            </a:extLst>
          </p:cNvPr>
          <p:cNvPicPr>
            <a:picLocks noChangeAspect="1"/>
          </p:cNvPicPr>
          <p:nvPr/>
        </p:nvPicPr>
        <p:blipFill>
          <a:blip r:embed="rIdSocius1"/>
          <a:stretch/>
        </p:blipFill>
        <p:spPr>
          <a:xfrm>
            <a:off x="1058556" y="3257550"/>
            <a:ext cx="1426187" cy="1790700"/>
          </a:xfrm>
          <a:prstGeom prst="rect">
            <a:avLst/>
          </a:prstGeom>
        </p:spPr>
      </p:pic>
      <p:pic>
        <p:nvPicPr>
          <p:cNvPr id="129" name="">
            <a:extLst>
              <a:ext uri="{FF2B5EF4-FFF2-40B4-BE49-F238E27FC236}">
                <ns4:creationId id="{425C4E35-649E-4ED3-838F-4E42B117DDA3}"/>
              </a:ext>
            </a:extLst>
          </p:cNvPr>
          <p:cNvPicPr>
            <a:picLocks noChangeAspect="1"/>
          </p:cNvPicPr>
          <p:nvPr/>
        </p:nvPicPr>
        <p:blipFill>
          <a:blip r:embed="rIdSocius2"/>
          <a:stretch/>
        </p:blipFill>
        <p:spPr>
          <a:xfrm>
            <a:off x="3133725" y="3371850"/>
            <a:ext cx="1638300" cy="1638300"/>
          </a:xfrm>
          <a:prstGeom prst="rect">
            <a:avLst/>
          </a:prstGeom>
        </p:spPr>
      </p:pic>
      <p:pic>
        <p:nvPicPr>
          <p:cNvPr id="130" name="">
            <a:extLst>
              <a:ext uri="{FF2B5EF4-FFF2-40B4-BE49-F238E27FC236}">
                <ns4:creationId id="{69837A8B-B0A7-456D-A3F5-602B779C704A}"/>
              </a:ext>
            </a:extLst>
          </p:cNvPr>
          <p:cNvPicPr>
            <a:picLocks noChangeAspect="1"/>
          </p:cNvPicPr>
          <p:nvPr/>
        </p:nvPicPr>
        <p:blipFill>
          <a:blip r:embed="rIdSocius3"/>
          <a:stretch/>
        </p:blipFill>
        <p:spPr>
          <a:xfrm>
            <a:off x="5276850" y="3635788"/>
            <a:ext cx="2667000" cy="1034224"/>
          </a:xfrm>
          <a:prstGeom prst="rect">
            <a:avLst/>
          </a:prstGeom>
        </p:spPr>
      </p:pic>
      <p:pic>
        <p:nvPicPr>
          <p:cNvPr id="131" name="">
            <a:extLst>
              <a:ext uri="{FF2B5EF4-FFF2-40B4-BE49-F238E27FC236}">
                <ns4:creationId id="{F93696EE-C1BF-45E2-9AEA-A5DC770FFBD2}"/>
              </a:ext>
            </a:extLst>
          </p:cNvPr>
          <p:cNvPicPr>
            <a:picLocks noChangeAspect="1"/>
          </p:cNvPicPr>
          <p:nvPr/>
        </p:nvPicPr>
        <p:blipFill>
          <a:blip r:embed="rIdSocius4"/>
          <a:stretch/>
        </p:blipFill>
        <p:spPr>
          <a:xfrm>
            <a:off x="8734425" y="3078575"/>
            <a:ext cx="2409825" cy="2072449"/>
          </a:xfrm>
          <a:prstGeom prst="rect">
            <a:avLst/>
          </a:prstGeom>
        </p:spPr>
      </p:pic>
      <p:sp>
        <p:nvSpPr>
          <p:cNvPr id="132" name="+">
            <a:extLst>
              <a:ext uri="{FF2B5EF4-FFF2-40B4-BE49-F238E27FC236}">
                <ns4:creationId id="{AD58C756-495C-4139-BC45-A84A25540CF0}"/>
              </a:ext>
            </a:extLst>
          </p:cNvPr>
          <p:cNvSpPr>
            <a:spLocks noGrp="1"/>
          </p:cNvSpPr>
          <p:nvPr/>
        </p:nvSpPr>
        <p:spPr>
          <a:xfrm>
            <a:off x="2638425" y="3914775"/>
            <a:ext cx="409575" cy="504825"/>
          </a:xfrm>
          <a:prstGeom prst="rect">
            <a:avLst/>
          </a:prstGeom>
          <a:noFill/>
          <a:ln w="0">
            <a:noFill/>
          </a:ln>
        </p:spPr>
        <p:txBody>
          <a:bodyPr lIns="0" tIns="0" rIns="0" bIns="0" anchor="t"/>
          <a:lstStyle>
            <a:defPPr algn="ctr">
              <a:defRPr sz="3075" b="1">
                <a:solidFill>
                  <a:srgbClr val="FF2BD6"/>
                </a:solidFill>
                <a:latin typeface="Calibri"/>
                <a:ea typeface="Calibri"/>
                <a:cs typeface="Calibri"/>
              </a:defRPr>
            </a:defPPr>
          </a:lstStyle>
          <a:p>
            <a:pPr algn="ctr">
              <a:defRPr sz="3075" b="1">
                <a:solidFill>
                  <a:srgbClr val="FF2BD6"/>
                </a:solidFill>
                <a:latin typeface="Calibri"/>
                <a:ea typeface="Calibri"/>
                <a:cs typeface="Calibri"/>
              </a:defRPr>
            </a:pPr>
            <a:r>
              <a:rPr sz="3075" b="1">
                <a:solidFill>
                  <a:srgbClr val="FF2BD6"/>
                </a:solidFill>
                <a:latin typeface="Calibri"/>
                <a:ea typeface="Calibri"/>
                <a:cs typeface="Calibri"/>
              </a:rPr>
              <a:t>+</a:t>
            </a:r>
          </a:p>
        </p:txBody>
      </p:sp>
      <p:sp>
        <p:nvSpPr>
          <p:cNvPr id="133" name="+">
            <a:extLst>
              <a:ext uri="{FF2B5EF4-FFF2-40B4-BE49-F238E27FC236}">
                <ns4:creationId id="{C9712992-696B-4522-9C73-40DC63A46CCE}"/>
              </a:ext>
            </a:extLst>
          </p:cNvPr>
          <p:cNvSpPr>
            <a:spLocks noGrp="1"/>
          </p:cNvSpPr>
          <p:nvPr/>
        </p:nvSpPr>
        <p:spPr>
          <a:xfrm>
            <a:off x="4848225" y="3914775"/>
            <a:ext cx="381000" cy="504825"/>
          </a:xfrm>
          <a:prstGeom prst="rect">
            <a:avLst/>
          </a:prstGeom>
          <a:noFill/>
          <a:ln w="0">
            <a:noFill/>
          </a:ln>
        </p:spPr>
        <p:txBody>
          <a:bodyPr lIns="0" tIns="0" rIns="0" bIns="0" anchor="t"/>
          <a:lstStyle>
            <a:defPPr algn="ctr">
              <a:defRPr sz="3075" b="1">
                <a:solidFill>
                  <a:srgbClr val="FF2BD6"/>
                </a:solidFill>
                <a:latin typeface="Calibri"/>
                <a:ea typeface="Calibri"/>
                <a:cs typeface="Calibri"/>
              </a:defRPr>
            </a:defPPr>
          </a:lstStyle>
          <a:p>
            <a:pPr algn="ctr">
              <a:defRPr sz="3075" b="1">
                <a:solidFill>
                  <a:srgbClr val="FF2BD6"/>
                </a:solidFill>
                <a:latin typeface="Calibri"/>
                <a:ea typeface="Calibri"/>
                <a:cs typeface="Calibri"/>
              </a:defRPr>
            </a:pPr>
            <a:r>
              <a:rPr sz="3075" b="1">
                <a:solidFill>
                  <a:srgbClr val="FF2BD6"/>
                </a:solidFill>
                <a:latin typeface="Calibri"/>
                <a:ea typeface="Calibri"/>
                <a:cs typeface="Calibri"/>
              </a:rPr>
              <a:t>+</a:t>
            </a:r>
          </a:p>
        </p:txBody>
      </p:sp>
      <p:sp>
        <p:nvSpPr>
          <p:cNvPr id="134" name="=">
            <a:extLst>
              <a:ext uri="{FF2B5EF4-FFF2-40B4-BE49-F238E27FC236}">
                <ns4:creationId id="{F5CAFA13-76AD-490C-8F05-A29A54AE3F42}"/>
              </a:ext>
            </a:extLst>
          </p:cNvPr>
          <p:cNvSpPr>
            <a:spLocks noGrp="1"/>
          </p:cNvSpPr>
          <p:nvPr/>
        </p:nvSpPr>
        <p:spPr>
          <a:xfrm>
            <a:off x="8096250" y="3914775"/>
            <a:ext cx="523875" cy="504825"/>
          </a:xfrm>
          <a:prstGeom prst="rect">
            <a:avLst/>
          </a:prstGeom>
          <a:noFill/>
          <a:ln w="0">
            <a:noFill/>
          </a:ln>
        </p:spPr>
        <p:txBody>
          <a:bodyPr lIns="0" tIns="0" rIns="0" bIns="0" anchor="t"/>
          <a:lstStyle>
            <a:defPPr algn="ctr">
              <a:defRPr sz="3450" b="1">
                <a:solidFill>
                  <a:srgbClr val="00E5FF"/>
                </a:solidFill>
                <a:latin typeface="Calibri"/>
                <a:ea typeface="Calibri"/>
                <a:cs typeface="Calibri"/>
              </a:defRPr>
            </a:defPPr>
          </a:lstStyle>
          <a:p>
            <a:pPr algn="ctr">
              <a:defRPr sz="3450" b="1">
                <a:solidFill>
                  <a:srgbClr val="00E5FF"/>
                </a:solidFill>
                <a:latin typeface="Calibri"/>
                <a:ea typeface="Calibri"/>
                <a:cs typeface="Calibri"/>
              </a:defRPr>
            </a:pPr>
            <a:r>
              <a:rPr sz="3450" b="1">
                <a:solidFill>
                  <a:srgbClr val="00E5FF"/>
                </a:solidFill>
                <a:latin typeface="Calibri"/>
                <a:ea typeface="Calibri"/>
                <a:cs typeface="Calibri"/>
              </a:rPr>
              <a:t>=</a:t>
            </a:r>
          </a:p>
        </p:txBody>
      </p:sp>
      <p:sp>
        <p:nvSpPr>
          <p:cNvPr id="135" name="Meta Muse">
            <a:extLst>
              <a:ext uri="{FF2B5EF4-FFF2-40B4-BE49-F238E27FC236}">
                <ns4:creationId id="{D00B06E1-3E76-488C-9D6B-21A8D4EA6906}"/>
              </a:ext>
            </a:extLst>
          </p:cNvPr>
          <p:cNvSpPr>
            <a:spLocks noGrp="1"/>
          </p:cNvSpPr>
          <p:nvPr/>
        </p:nvSpPr>
        <p:spPr>
          <a:xfrm>
            <a:off x="981075" y="5219700"/>
            <a:ext cx="1581150" cy="333375"/>
          </a:xfrm>
          <a:prstGeom prst="rect">
            <a:avLst/>
          </a:prstGeom>
          <a:noFill/>
          <a:ln w="0">
            <a:noFill/>
          </a:ln>
        </p:spPr>
        <p:txBody>
          <a:bodyPr lIns="0" tIns="0" rIns="0" bIns="0" anchor="t"/>
          <a:lstStyle>
            <a:defPPr algn="ctr">
              <a:defRPr sz="1875" b="1">
                <a:solidFill>
                  <a:srgbClr val="FFFFFF"/>
                </a:solidFill>
                <a:latin typeface="Calibri"/>
                <a:ea typeface="Calibri"/>
                <a:cs typeface="Calibri"/>
              </a:defRPr>
            </a:defP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Meta Muse</a:t>
            </a:r>
          </a:p>
        </p:txBody>
      </p:sp>
      <p:sp>
        <p:nvSpPr>
          <p:cNvPr id="136" name="Grok Bot">
            <a:extLst>
              <a:ext uri="{FF2B5EF4-FFF2-40B4-BE49-F238E27FC236}">
                <ns4:creationId id="{625698C3-17A5-4B2F-8897-16EFD5A1264B}"/>
              </a:ext>
            </a:extLst>
          </p:cNvPr>
          <p:cNvSpPr>
            <a:spLocks noGrp="1"/>
          </p:cNvSpPr>
          <p:nvPr/>
        </p:nvSpPr>
        <p:spPr>
          <a:xfrm>
            <a:off x="3133725" y="5219700"/>
            <a:ext cx="1638300" cy="333375"/>
          </a:xfrm>
          <a:prstGeom prst="rect">
            <a:avLst/>
          </a:prstGeom>
          <a:noFill/>
          <a:ln w="0">
            <a:noFill/>
          </a:ln>
        </p:spPr>
        <p:txBody>
          <a:bodyPr lIns="0" tIns="0" rIns="0" bIns="0" anchor="t"/>
          <a:lstStyle>
            <a:defPPr algn="ctr">
              <a:defRPr sz="1875" b="1">
                <a:solidFill>
                  <a:srgbClr val="FFFFFF"/>
                </a:solidFill>
                <a:latin typeface="Calibri"/>
                <a:ea typeface="Calibri"/>
                <a:cs typeface="Calibri"/>
              </a:defRPr>
            </a:defP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Grok Bot</a:t>
            </a:r>
          </a:p>
        </p:txBody>
      </p:sp>
      <p:sp>
        <p:nvSpPr>
          <p:cNvPr id="137" name="OpenAI dots">
            <a:extLst>
              <a:ext uri="{FF2B5EF4-FFF2-40B4-BE49-F238E27FC236}">
                <ns4:creationId id="{38C1E1E1-08F9-4110-807F-BAD4C6139EE7}"/>
              </a:ext>
            </a:extLst>
          </p:cNvPr>
          <p:cNvSpPr>
            <a:spLocks noGrp="1"/>
          </p:cNvSpPr>
          <p:nvPr/>
        </p:nvSpPr>
        <p:spPr>
          <a:xfrm>
            <a:off x="5276850" y="5219700"/>
            <a:ext cx="2667000" cy="333375"/>
          </a:xfrm>
          <a:prstGeom prst="rect">
            <a:avLst/>
          </a:prstGeom>
          <a:noFill/>
          <a:ln w="0">
            <a:noFill/>
          </a:ln>
        </p:spPr>
        <p:txBody>
          <a:bodyPr lIns="0" tIns="0" rIns="0" bIns="0" anchor="t"/>
          <a:lstStyle>
            <a:defPPr algn="ctr">
              <a:defRPr sz="1875" b="1">
                <a:solidFill>
                  <a:srgbClr val="FFFFFF"/>
                </a:solidFill>
                <a:latin typeface="Calibri"/>
                <a:ea typeface="Calibri"/>
                <a:cs typeface="Calibri"/>
              </a:defRPr>
            </a:defP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OpenAI Dots</a:t>
            </a:r>
          </a:p>
        </p:txBody>
      </p:sp>
      <p:sp>
        <p:nvSpPr>
          <p:cNvPr id="138" name="Personal assistance">
            <a:extLst>
              <a:ext uri="{FF2B5EF4-FFF2-40B4-BE49-F238E27FC236}">
                <ns4:creationId id="{2CFE916C-54DA-4329-9DC5-5B3CE7CC671C}"/>
              </a:ext>
            </a:extLst>
          </p:cNvPr>
          <p:cNvSpPr>
            <a:spLocks noGrp="1"/>
          </p:cNvSpPr>
          <p:nvPr/>
        </p:nvSpPr>
        <p:spPr>
          <a:xfrm>
            <a:off x="866775" y="5562600"/>
            <a:ext cx="1809750" cy="257175"/>
          </a:xfrm>
          <a:prstGeom prst="rect">
            <a:avLst/>
          </a:prstGeom>
          <a:noFill/>
          <a:ln w="0">
            <a:noFill/>
          </a:ln>
        </p:spPr>
        <p:txBody>
          <a:bodyPr lIns="0" tIns="0" rIns="0" bIns="0" anchor="t"/>
          <a:lstStyle>
            <a:defPPr algn="ctr">
              <a:defRPr sz="1350" b="0">
                <a:solidFill>
                  <a:srgbClr val="AEB6CC"/>
                </a:solidFill>
                <a:latin typeface="Calibri"/>
                <a:ea typeface="Calibri"/>
                <a:cs typeface="Calibri"/>
              </a:defRPr>
            </a:defPPr>
          </a:lstStyle>
          <a:p>
            <a:pPr algn="ctr">
              <a:defRPr sz="1350" b="0">
                <a:solidFill>
                  <a:srgbClr val="AEB6CC"/>
                </a:solidFill>
                <a:latin typeface="Calibri"/>
                <a:ea typeface="Calibri"/>
                <a:cs typeface="Calibri"/>
              </a:defRPr>
            </a:pPr>
            <a:r>
              <a:rPr sz="1350" b="0">
                <a:solidFill>
                  <a:srgbClr val="AEB6CC"/>
                </a:solidFill>
                <a:latin typeface="Calibri"/>
                <a:ea typeface="Calibri"/>
                <a:cs typeface="Calibri"/>
              </a:rPr>
              <a:t>Remembers you</a:t>
            </a:r>
          </a:p>
        </p:txBody>
      </p:sp>
      <p:sp>
        <p:nvSpPr>
          <p:cNvPr id="139" name="Teams of agents">
            <a:extLst>
              <a:ext uri="{FF2B5EF4-FFF2-40B4-BE49-F238E27FC236}">
                <ns4:creationId id="{22377E8E-E414-48DA-ACB0-6F3C28E9E7A0}"/>
              </a:ext>
            </a:extLst>
          </p:cNvPr>
          <p:cNvSpPr>
            <a:spLocks noGrp="1"/>
          </p:cNvSpPr>
          <p:nvPr/>
        </p:nvSpPr>
        <p:spPr>
          <a:xfrm>
            <a:off x="3028950" y="5562600"/>
            <a:ext cx="1857375" cy="257175"/>
          </a:xfrm>
          <a:prstGeom prst="rect">
            <a:avLst/>
          </a:prstGeom>
          <a:noFill/>
          <a:ln w="0">
            <a:noFill/>
          </a:ln>
        </p:spPr>
        <p:txBody>
          <a:bodyPr lIns="0" tIns="0" rIns="0" bIns="0" anchor="t"/>
          <a:lstStyle>
            <a:defPPr algn="ctr">
              <a:defRPr sz="1350" b="0">
                <a:solidFill>
                  <a:srgbClr val="AEB6CC"/>
                </a:solidFill>
                <a:latin typeface="Calibri"/>
                <a:ea typeface="Calibri"/>
                <a:cs typeface="Calibri"/>
              </a:defRPr>
            </a:defPPr>
          </a:lstStyle>
          <a:p>
            <a:pPr algn="ctr">
              <a:defRPr sz="1350" b="0">
                <a:solidFill>
                  <a:srgbClr val="AEB6CC"/>
                </a:solidFill>
                <a:latin typeface="Calibri"/>
                <a:ea typeface="Calibri"/>
                <a:cs typeface="Calibri"/>
              </a:defRPr>
            </a:pPr>
            <a:r>
              <a:rPr sz="1350" b="0">
                <a:solidFill>
                  <a:srgbClr val="AEB6CC"/>
                </a:solidFill>
                <a:latin typeface="Calibri"/>
                <a:ea typeface="Calibri"/>
                <a:cs typeface="Calibri"/>
              </a:rPr>
              <a:t>Teams of bots</a:t>
            </a:r>
          </a:p>
        </p:txBody>
      </p:sp>
      <p:sp>
        <p:nvSpPr>
          <p:cNvPr id="140" name="Ongoing work">
            <a:extLst>
              <a:ext uri="{FF2B5EF4-FFF2-40B4-BE49-F238E27FC236}">
                <ns4:creationId id="{9C9717D3-9EC4-4483-AFBC-2D8EDD55E0B6}"/>
              </a:ext>
            </a:extLst>
          </p:cNvPr>
          <p:cNvSpPr>
            <a:spLocks noGrp="1"/>
          </p:cNvSpPr>
          <p:nvPr/>
        </p:nvSpPr>
        <p:spPr>
          <a:xfrm>
            <a:off x="5276850" y="5562600"/>
            <a:ext cx="2667000" cy="257175"/>
          </a:xfrm>
          <a:prstGeom prst="rect">
            <a:avLst/>
          </a:prstGeom>
          <a:noFill/>
          <a:ln w="0">
            <a:noFill/>
          </a:ln>
        </p:spPr>
        <p:txBody>
          <a:bodyPr lIns="0" tIns="0" rIns="0" bIns="0" anchor="t"/>
          <a:lstStyle>
            <a:defPPr algn="ctr">
              <a:defRPr sz="1350" b="0">
                <a:solidFill>
                  <a:srgbClr val="AEB6CC"/>
                </a:solidFill>
                <a:latin typeface="Calibri"/>
                <a:ea typeface="Calibri"/>
                <a:cs typeface="Calibri"/>
              </a:defRPr>
            </a:defPPr>
          </a:lstStyle>
          <a:p>
            <a:pPr algn="ctr">
              <a:defRPr sz="1350" b="0">
                <a:solidFill>
                  <a:srgbClr val="AEB6CC"/>
                </a:solidFill>
                <a:latin typeface="Calibri"/>
                <a:ea typeface="Calibri"/>
                <a:cs typeface="Calibri"/>
              </a:defRPr>
            </a:pPr>
            <a:r>
              <a:rPr sz="1350" b="0">
                <a:solidFill>
                  <a:srgbClr val="AEB6CC"/>
                </a:solidFill>
                <a:latin typeface="Calibri"/>
                <a:ea typeface="Calibri"/>
                <a:cs typeface="Calibri"/>
              </a:rPr>
              <a:t>Works in the background</a:t>
            </a:r>
          </a:p>
        </p:txBody>
      </p:sp>
      <p:sp>
        <p:nvSpPr>
          <p:cNvPr id="142" name="Socius label"/>
          <p:cNvSpPr>
            <a:spLocks noGrp="1"/>
          </p:cNvSpPr>
          <p:nvPr/>
        </p:nvSpPr>
        <p:spPr>
          <a:xfrm>
            <a:off x="8732520" y="5221224"/>
            <a:ext cx="2414016" cy="329184"/>
          </a:xfrm>
          <a:prstGeom prst="rect">
            <a:avLst/>
          </a:prstGeom>
          <a:noFill/>
          <a:ln w="0">
            <a:noFill/>
          </a:ln>
        </p:spPr>
        <p:txBody>
          <a:bodyPr lIns="0" tIns="0" rIns="0" bIns="0" anchor="t"/>
          <a:lstStyle>
            <a:defPPr algn="ctr">
              <a:defRPr sz="1875" b="1">
                <a:solidFill>
                  <a:srgbClr val="FFFFFF"/>
                </a:solidFill>
                <a:latin typeface="Calibri"/>
                <a:ea typeface="Calibri"/>
                <a:cs typeface="Calibri"/>
              </a:defRPr>
            </a:defPPr>
          </a:lstStyle>
          <a:p>
            <a:pPr algn="ctr">
              <a:defRPr sz="1875" b="1">
                <a:solidFill>
                  <a:srgbClr val="FFFFFF"/>
                </a:solidFill>
                <a:latin typeface="Calibri"/>
                <a:ea typeface="Calibri"/>
                <a:cs typeface="Calibri"/>
              </a:defRPr>
            </a:pPr>
            <a:r>
              <a:rPr sz="1875" b="1">
                <a:solidFill>
                  <a:srgbClr val="FF2BD6"/>
                </a:solidFill>
                <a:latin typeface="Calibri"/>
                <a:ea typeface="Calibri"/>
                <a:cs typeface="Calibri"/>
              </a:rPr>
              <a:t>Socius</a:t>
            </a:r>
          </a:p>
        </p:txBody>
      </p:sp>
      <p:sp>
        <p:nvSpPr>
          <p:cNvPr id="143" name="Socius sublabel"/>
          <p:cNvSpPr>
            <a:spLocks noGrp="1"/>
          </p:cNvSpPr>
          <p:nvPr/>
        </p:nvSpPr>
        <p:spPr>
          <a:xfrm>
            <a:off x="8595360" y="5559552"/>
            <a:ext cx="2688336" cy="256032"/>
          </a:xfrm>
          <a:prstGeom prst="rect">
            <a:avLst/>
          </a:prstGeom>
          <a:noFill/>
          <a:ln w="0">
            <a:noFill/>
          </a:ln>
        </p:spPr>
        <p:txBody>
          <a:bodyPr lIns="0" tIns="0" rIns="0" bIns="0" anchor="t"/>
          <a:lstStyle>
            <a:defPPr algn="ctr">
              <a:defRPr sz="1350" b="0">
                <a:solidFill>
                  <a:srgbClr val="AEB6CC"/>
                </a:solidFill>
                <a:latin typeface="Calibri"/>
                <a:ea typeface="Calibri"/>
                <a:cs typeface="Calibri"/>
              </a:defRPr>
            </a:defPPr>
          </a:lstStyle>
          <a:p>
            <a:pPr algn="ctr">
              <a:defRPr sz="1350" b="0">
                <a:solidFill>
                  <a:srgbClr val="AEB6CC"/>
                </a:solidFill>
                <a:latin typeface="Calibri"/>
                <a:ea typeface="Calibri"/>
                <a:cs typeface="Calibri"/>
              </a:defRPr>
            </a:pPr>
            <a:r>
              <a:rPr sz="1350" b="0">
                <a:solidFill>
                  <a:srgbClr val="AEB6CC"/>
                </a:solidFill>
                <a:latin typeface="Calibri"/>
                <a:ea typeface="Calibri"/>
                <a:cs typeface="Calibri"/>
              </a:rPr>
              <a:t>Open, local, India-first</a:t>
            </a:r>
          </a:p>
        </p:txBody>
      </p:sp>
    </p:spTree>
  </p:cSld>
  <p:clrMapOvr>
    <a:masterClrMapping/>
  </p:clrMapOvr>
</p:sld>
</file>

<file path=ppt/slides/slide4.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03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INNOVATION &amp; KEY FEATURES</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4</a:t>
            </a:fld>
            <a:endParaRPr lang="en-US"/>
          </a:p>
        </p:txBody>
      </p:sp>
      <p:pic>
        <p:nvPicPr>
          <p:cNvPr id="8" name="Picture 7" descr="Cintel Association (@cintel_association) · Chennai">
            <a:extLst>
              <a:ext uri="{FF2B5EF4-FFF2-40B4-BE49-F238E27FC236}">
                <ns4:creationId id="{EC790905-5120-D107-BB0F-EE3D491B4C0D}"/>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39" name="Skills and bot marketplace">
            <a:extLst>
              <a:ext uri="{FF2B5EF4-FFF2-40B4-BE49-F238E27FC236}">
                <ns4:creationId id="{33DBAA01-7B3D-485C-BD87-C14CBB387C9F}"/>
              </a:ext>
            </a:extLst>
          </p:cNvPr>
          <p:cNvSpPr>
            <a:spLocks noGrp="1"/>
          </p:cNvSpPr>
          <p:nvPr/>
        </p:nvSpPr>
        <p:spPr>
          <a:xfrm>
            <a:off x="990600" y="191452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An app store for your AI</a:t>
            </a:r>
          </a:p>
        </p:txBody>
      </p:sp>
      <p:sp>
        <p:nvSpPr>
          <p:cNvPr id="127" name="Build, share and install reusable skills, MCP connectors and">
            <a:extLst>
              <a:ext uri="{FF2B5EF4-FFF2-40B4-BE49-F238E27FC236}">
                <ns4:creationId id="{25C66AB5-EC4A-4E00-83D4-67E346BD6580}"/>
              </a:ext>
            </a:extLst>
          </p:cNvPr>
          <p:cNvSpPr>
            <a:spLocks noGrp="1"/>
          </p:cNvSpPr>
          <p:nvPr/>
        </p:nvSpPr>
        <p:spPr>
          <a:xfrm>
            <a:off x="990600" y="2305050"/>
            <a:ext cx="4533900" cy="742950"/>
          </a:xfrm>
          <a:prstGeom prst="rect">
            <a:avLst/>
          </a:prstGeom>
          <a:noFill/>
          <a:ln w="0">
            <a:noFill/>
          </a:ln>
        </p:spPr>
        <p:txBody>
          <a:bodyPr lIns="0" tIns="0" rIns="0" bIns="0" anchor="t"/>
          <a:lstStyle>
            <a:defPPr algn="l">
              <a:defRPr sz="1725" b="0">
                <a:solidFill>
                  <a:srgbClr val="FFFFFF"/>
                </a:solidFill>
                <a:latin typeface="Calibri"/>
                <a:ea typeface="Calibri"/>
                <a:cs typeface="Calibri"/>
              </a:defRPr>
            </a:defPPr>
          </a:lstStyle>
          <a:p>
            <a:pPr algn="l">
              <a:defRPr sz="1725" b="0">
                <a:solidFill>
                  <a:srgbClr val="FFFFFF"/>
                </a:solidFill>
                <a:latin typeface="Calibri"/>
                <a:ea typeface="Calibri"/>
                <a:cs typeface="Calibri"/>
              </a:defRPr>
            </a:pPr>
            <a:r>
              <a:rPr sz="1725" b="0">
                <a:solidFill>
                  <a:srgbClr val="FFFFFF"/>
                </a:solidFill>
                <a:latin typeface="Calibri"/>
                <a:ea typeface="Calibri"/>
                <a:cs typeface="Calibri"/>
              </a:rPr>
              <a:t>Anyone can publish skills, connectors and bot templates; the community sets the limits.</a:t>
            </a:r>
          </a:p>
        </p:txBody>
      </p:sp>
      <p:sp>
        <p:nvSpPr>
          <p:cNvPr id="128" name="Model choice">
            <a:extLst>
              <a:ext uri="{FF2B5EF4-FFF2-40B4-BE49-F238E27FC236}">
                <ns4:creationId id="{EEEEB7AB-B5CA-4869-883C-4F4B0884257E}"/>
              </a:ext>
            </a:extLst>
          </p:cNvPr>
          <p:cNvSpPr>
            <a:spLocks noGrp="1"/>
          </p:cNvSpPr>
          <p:nvPr/>
        </p:nvSpPr>
        <p:spPr>
          <a:xfrm>
            <a:off x="6267450" y="191452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Any model, any provider</a:t>
            </a:r>
          </a:p>
        </p:txBody>
      </p:sp>
      <p:sp>
        <p:nvSpPr>
          <p:cNvPr id="129" name="Switch between Ollama and direct cloud providers through a c">
            <a:extLst>
              <a:ext uri="{FF2B5EF4-FFF2-40B4-BE49-F238E27FC236}">
                <ns4:creationId id="{66A2B834-73FB-495C-B938-A7EA1E395783}"/>
              </a:ext>
            </a:extLst>
          </p:cNvPr>
          <p:cNvSpPr>
            <a:spLocks noGrp="1"/>
          </p:cNvSpPr>
          <p:nvPr/>
        </p:nvSpPr>
        <p:spPr>
          <a:xfrm>
            <a:off x="6267450" y="2305050"/>
            <a:ext cx="4533900" cy="742950"/>
          </a:xfrm>
          <a:prstGeom prst="rect">
            <a:avLst/>
          </a:prstGeom>
          <a:noFill/>
          <a:ln w="0">
            <a:noFill/>
          </a:ln>
        </p:spPr>
        <p:txBody>
          <a:bodyPr lIns="0" tIns="0" rIns="0" bIns="0" anchor="t"/>
          <a:lstStyle>
            <a:defPPr algn="l">
              <a:defRPr sz="1725" b="0">
                <a:solidFill>
                  <a:srgbClr val="FFFFFF"/>
                </a:solidFill>
                <a:latin typeface="Calibri"/>
                <a:ea typeface="Calibri"/>
                <a:cs typeface="Calibri"/>
              </a:defRPr>
            </a:defPPr>
          </a:lstStyle>
          <a:p>
            <a:pPr algn="l">
              <a:defRPr sz="1725" b="0">
                <a:solidFill>
                  <a:srgbClr val="FFFFFF"/>
                </a:solidFill>
                <a:latin typeface="Calibri"/>
                <a:ea typeface="Calibri"/>
                <a:cs typeface="Calibri"/>
              </a:defRPr>
            </a:pPr>
            <a:r>
              <a:rPr sz="1725" b="0">
                <a:solidFill>
                  <a:srgbClr val="FFFFFF"/>
                </a:solidFill>
                <a:latin typeface="Calibri"/>
                <a:ea typeface="Calibri"/>
                <a:cs typeface="Calibri"/>
              </a:rPr>
              <a:t>Free local models via Ollama, or OpenAI and Anthropic. Switch per bot, anytime.</a:t>
            </a:r>
          </a:p>
        </p:txBody>
      </p:sp>
      <p:sp>
        <p:nvSpPr>
          <p:cNvPr id="130" name="Editable memory">
            <a:extLst>
              <a:ext uri="{FF2B5EF4-FFF2-40B4-BE49-F238E27FC236}">
                <ns4:creationId id="{2DBE271D-48FE-4329-95CC-E373C361A726}"/>
              </a:ext>
            </a:extLst>
          </p:cNvPr>
          <p:cNvSpPr>
            <a:spLocks noGrp="1"/>
          </p:cNvSpPr>
          <p:nvPr/>
        </p:nvSpPr>
        <p:spPr>
          <a:xfrm>
            <a:off x="990600" y="317182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Memory you can see and edit</a:t>
            </a:r>
          </a:p>
        </p:txBody>
      </p:sp>
      <p:sp>
        <p:nvSpPr>
          <p:cNvPr id="131" name="Inspect remembered preferences and facts, correct them, expo">
            <a:extLst>
              <a:ext uri="{FF2B5EF4-FFF2-40B4-BE49-F238E27FC236}">
                <ns4:creationId id="{159450F0-AD95-4E72-8AB3-BE0C036BF01C}"/>
              </a:ext>
            </a:extLst>
          </p:cNvPr>
          <p:cNvSpPr>
            <a:spLocks noGrp="1"/>
          </p:cNvSpPr>
          <p:nvPr/>
        </p:nvSpPr>
        <p:spPr>
          <a:xfrm>
            <a:off x="990600" y="3562350"/>
            <a:ext cx="4533900" cy="742950"/>
          </a:xfrm>
          <a:prstGeom prst="rect">
            <a:avLst/>
          </a:prstGeom>
          <a:noFill/>
          <a:ln w="0">
            <a:noFill/>
          </a:ln>
        </p:spPr>
        <p:txBody>
          <a:bodyPr lIns="0" tIns="0" rIns="0" bIns="0" anchor="t"/>
          <a:lstStyle>
            <a:defPPr algn="l">
              <a:defRPr sz="1725" b="0">
                <a:solidFill>
                  <a:srgbClr val="FFFFFF"/>
                </a:solidFill>
                <a:latin typeface="Calibri"/>
                <a:ea typeface="Calibri"/>
                <a:cs typeface="Calibri"/>
              </a:defRPr>
            </a:defPPr>
          </a:lstStyle>
          <a:p>
            <a:pPr algn="l">
              <a:defRPr sz="1725" b="0">
                <a:solidFill>
                  <a:srgbClr val="FFFFFF"/>
                </a:solidFill>
                <a:latin typeface="Calibri"/>
                <a:ea typeface="Calibri"/>
                <a:cs typeface="Calibri"/>
              </a:defRPr>
            </a:pPr>
            <a:r>
              <a:rPr sz="1725" b="0">
                <a:solidFill>
                  <a:srgbClr val="FFFFFF"/>
                </a:solidFill>
                <a:latin typeface="Calibri"/>
                <a:ea typeface="Calibri"/>
                <a:cs typeface="Calibri"/>
              </a:rPr>
              <a:t>Plain Markdown files on your disk. Read, correct or delete anything it knows.</a:t>
            </a:r>
          </a:p>
        </p:txBody>
      </p:sp>
      <p:sp>
        <p:nvSpPr>
          <p:cNvPr id="132" name="Bots, goals and routines">
            <a:extLst>
              <a:ext uri="{FF2B5EF4-FFF2-40B4-BE49-F238E27FC236}">
                <ns4:creationId id="{83E419DE-C9D6-4FAE-92B5-1FB2F77EDD45}"/>
              </a:ext>
            </a:extLst>
          </p:cNvPr>
          <p:cNvSpPr>
            <a:spLocks noGrp="1"/>
          </p:cNvSpPr>
          <p:nvPr/>
        </p:nvSpPr>
        <p:spPr>
          <a:xfrm>
            <a:off x="6267450" y="317182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A team of bots, not one chatbot</a:t>
            </a:r>
          </a:p>
        </p:txBody>
      </p:sp>
      <p:sp>
        <p:nvSpPr>
          <p:cNvPr id="133" name="Delegate work to specialist bots, track goals and schedule r">
            <a:extLst>
              <a:ext uri="{FF2B5EF4-FFF2-40B4-BE49-F238E27FC236}">
                <ns4:creationId id="{C67F7A77-3699-4843-84C1-5D817F3F9164}"/>
              </a:ext>
            </a:extLst>
          </p:cNvPr>
          <p:cNvSpPr>
            <a:spLocks noGrp="1"/>
          </p:cNvSpPr>
          <p:nvPr/>
        </p:nvSpPr>
        <p:spPr>
          <a:xfrm>
            <a:off x="6267450" y="3562350"/>
            <a:ext cx="4533900" cy="742950"/>
          </a:xfrm>
          <a:prstGeom prst="rect">
            <a:avLst/>
          </a:prstGeom>
          <a:noFill/>
          <a:ln w="0">
            <a:noFill/>
          </a:ln>
        </p:spPr>
        <p:txBody>
          <a:bodyPr lIns="0" tIns="0" rIns="0" bIns="0" anchor="t"/>
          <a:lstStyle>
            <a:defPPr algn="l">
              <a:defRPr sz="1725" b="0">
                <a:solidFill>
                  <a:srgbClr val="FFFFFF"/>
                </a:solidFill>
                <a:latin typeface="Calibri"/>
                <a:ea typeface="Calibri"/>
                <a:cs typeface="Calibri"/>
              </a:defRPr>
            </a:defPPr>
          </a:lstStyle>
          <a:p>
            <a:pPr algn="l">
              <a:defRPr sz="1725" b="0">
                <a:solidFill>
                  <a:srgbClr val="FFFFFF"/>
                </a:solidFill>
                <a:latin typeface="Calibri"/>
                <a:ea typeface="Calibri"/>
                <a:cs typeface="Calibri"/>
              </a:defRPr>
            </a:pPr>
            <a:r>
              <a:rPr sz="1725" b="0">
                <a:solidFill>
                  <a:srgbClr val="FFFFFF"/>
                </a:solidFill>
                <a:latin typeface="Calibri"/>
                <a:ea typeface="Calibri"/>
                <a:cs typeface="Calibri"/>
              </a:rPr>
              <a:t>A main bot that builds specialists (researcher, writer) on demand, with your approval.</a:t>
            </a:r>
          </a:p>
        </p:txBody>
      </p:sp>
      <p:sp>
        <p:nvSpPr>
          <p:cNvPr id="134" name="Actions under your control">
            <a:extLst>
              <a:ext uri="{FF2B5EF4-FFF2-40B4-BE49-F238E27FC236}">
                <ns4:creationId id="{7AA9D600-91DF-4A3F-AF51-FA5319E38672}"/>
              </a:ext>
            </a:extLst>
          </p:cNvPr>
          <p:cNvSpPr>
            <a:spLocks noGrp="1"/>
          </p:cNvSpPr>
          <p:nvPr/>
        </p:nvSpPr>
        <p:spPr>
          <a:xfrm>
            <a:off x="990600" y="442912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You stay in control</a:t>
            </a:r>
          </a:p>
        </p:txBody>
      </p:sp>
      <p:sp>
        <p:nvSpPr>
          <p:cNvPr id="135" name="Use action-level approvals, human login handoffs and an insp">
            <a:extLst>
              <a:ext uri="{FF2B5EF4-FFF2-40B4-BE49-F238E27FC236}">
                <ns4:creationId id="{AC306C26-95DB-4978-87E5-E8457615B80F}"/>
              </a:ext>
            </a:extLst>
          </p:cNvPr>
          <p:cNvSpPr>
            <a:spLocks noGrp="1"/>
          </p:cNvSpPr>
          <p:nvPr/>
        </p:nvSpPr>
        <p:spPr>
          <a:xfrm>
            <a:off x="990600" y="4819650"/>
            <a:ext cx="4533900" cy="742950"/>
          </a:xfrm>
          <a:prstGeom prst="rect">
            <a:avLst/>
          </a:prstGeom>
          <a:noFill/>
          <a:ln w="0">
            <a:noFill/>
          </a:ln>
        </p:spPr>
        <p:txBody>
          <a:bodyPr lIns="0" tIns="0" rIns="0" bIns="0" anchor="t"/>
          <a:lstStyle>
            <a:defPPr algn="l">
              <a:defRPr sz="1725" b="0">
                <a:solidFill>
                  <a:srgbClr val="FFFFFF"/>
                </a:solidFill>
                <a:latin typeface="Calibri"/>
                <a:ea typeface="Calibri"/>
                <a:cs typeface="Calibri"/>
              </a:defRPr>
            </a:defPPr>
          </a:lstStyle>
          <a:p>
            <a:pPr algn="l">
              <a:defRPr sz="1725" b="0">
                <a:solidFill>
                  <a:srgbClr val="FFFFFF"/>
                </a:solidFill>
                <a:latin typeface="Calibri"/>
                <a:ea typeface="Calibri"/>
                <a:cs typeface="Calibri"/>
              </a:defRPr>
            </a:pPr>
            <a:r>
              <a:rPr sz="1725" b="0">
                <a:solidFill>
                  <a:srgbClr val="FFFFFF"/>
                </a:solidFill>
                <a:latin typeface="Calibri"/>
                <a:ea typeface="Calibri"/>
                <a:cs typeface="Calibri"/>
              </a:rPr>
              <a:t>Hard stops on money, passwords and deletes. Approve each action; full activity log.</a:t>
            </a:r>
          </a:p>
        </p:txBody>
      </p:sp>
      <p:sp>
        <p:nvSpPr>
          <p:cNvPr id="136" name="India-focused roadmap">
            <a:extLst>
              <a:ext uri="{FF2B5EF4-FFF2-40B4-BE49-F238E27FC236}">
                <ns4:creationId id="{5E1F5EC5-B06E-485A-BD44-7B60363FB6B8}"/>
              </a:ext>
            </a:extLst>
          </p:cNvPr>
          <p:cNvSpPr>
            <a:spLocks noGrp="1"/>
          </p:cNvSpPr>
          <p:nvPr/>
        </p:nvSpPr>
        <p:spPr>
          <a:xfrm>
            <a:off x="6267450" y="442912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Built for India</a:t>
            </a:r>
          </a:p>
        </p:txBody>
      </p:sp>
      <p:sp>
        <p:nvSpPr>
          <p:cNvPr id="137" name="Indian-language voice, UPI reminders, college portals, GST a">
            <a:extLst>
              <a:ext uri="{FF2B5EF4-FFF2-40B4-BE49-F238E27FC236}">
                <ns4:creationId id="{958ED7F3-2772-406F-9745-5ADCED996D08}"/>
              </a:ext>
            </a:extLst>
          </p:cNvPr>
          <p:cNvSpPr>
            <a:spLocks noGrp="1"/>
          </p:cNvSpPr>
          <p:nvPr/>
        </p:nvSpPr>
        <p:spPr>
          <a:xfrm>
            <a:off x="6267450" y="4819650"/>
            <a:ext cx="4533900" cy="742950"/>
          </a:xfrm>
          <a:prstGeom prst="rect">
            <a:avLst/>
          </a:prstGeom>
          <a:noFill/>
          <a:ln w="0">
            <a:noFill/>
          </a:ln>
        </p:spPr>
        <p:txBody>
          <a:bodyPr lIns="0" tIns="0" rIns="0" bIns="0" anchor="t"/>
          <a:lstStyle>
            <a:defPPr algn="l">
              <a:defRPr sz="1725" b="0">
                <a:solidFill>
                  <a:srgbClr val="FFFFFF"/>
                </a:solidFill>
                <a:latin typeface="Calibri"/>
                <a:ea typeface="Calibri"/>
                <a:cs typeface="Calibri"/>
              </a:defRPr>
            </a:defPPr>
          </a:lstStyle>
          <a:p>
            <a:pPr algn="l">
              <a:defRPr sz="1725" b="0">
                <a:solidFill>
                  <a:srgbClr val="FFFFFF"/>
                </a:solidFill>
                <a:latin typeface="Calibri"/>
                <a:ea typeface="Calibri"/>
                <a:cs typeface="Calibri"/>
              </a:defRPr>
            </a:pPr>
            <a:r>
              <a:rPr sz="1725" b="0">
                <a:solidFill>
                  <a:srgbClr val="FFFFFF"/>
                </a:solidFill>
                <a:latin typeface="Calibri"/>
                <a:ea typeface="Calibri"/>
                <a:cs typeface="Calibri"/>
              </a:rPr>
              <a:t>Tamil and Hindi voice, UPI reminders, DigiLocker, GST and college-portal skills.</a:t>
            </a:r>
          </a:p>
        </p:txBody>
      </p:sp>
      <p:sp>
        <p:nvSpPr>
          <p:cNvPr id="138" name="Planned capabilities. Initial connector packages and the plu">
            <a:extLst>
              <a:ext uri="{FF2B5EF4-FFF2-40B4-BE49-F238E27FC236}">
                <ns4:creationId id="{53FEBB70-7B93-424B-9062-A6A801462E55}"/>
              </a:ext>
            </a:extLst>
          </p:cNvPr>
          <p:cNvSpPr>
            <a:spLocks noGrp="1"/>
          </p:cNvSpPr>
          <p:nvPr/>
        </p:nvSpPr>
        <p:spPr>
          <a:xfrm>
            <a:off x="990600" y="5772150"/>
            <a:ext cx="10096500" cy="219075"/>
          </a:xfrm>
          <a:prstGeom prst="rect">
            <a:avLst/>
          </a:prstGeom>
          <a:noFill/>
          <a:ln w="0">
            <a:noFill/>
          </a:ln>
        </p:spPr>
        <p:txBody>
          <a:bodyPr lIns="0" tIns="0" rIns="0" bIns="0" anchor="t"/>
          <a:lstStyle>
            <a:defPPr algn="l">
              <a:defRPr sz="1350" b="0">
                <a:solidFill>
                  <a:srgbClr val="AEB6CC"/>
                </a:solidFill>
                <a:latin typeface="Calibri"/>
                <a:ea typeface="Calibri"/>
                <a:cs typeface="Calibri"/>
              </a:defRPr>
            </a:defPPr>
          </a:lstStyle>
          <a:p>
            <a:pPr algn="l">
              <a:defRPr sz="1350" b="0">
                <a:solidFill>
                  <a:srgbClr val="AEB6CC"/>
                </a:solidFill>
                <a:latin typeface="Calibri"/>
                <a:ea typeface="Calibri"/>
                <a:cs typeface="Calibri"/>
              </a:defRPr>
            </a:pPr>
            <a:r>
              <a:rPr sz="1350" b="0">
                <a:solidFill>
                  <a:srgbClr val="AEB6CC"/>
                </a:solidFill>
                <a:latin typeface="Calibri"/>
                <a:ea typeface="Calibri"/>
                <a:cs typeface="Calibri"/>
              </a:rPr>
              <a:t>Already working in our prototype: marketplace installs, model switching, editable memory and approvals.</a:t>
            </a:r>
          </a:p>
        </p:txBody>
      </p:sp>
    </p:spTree>
  </p:cSld>
  <p:clrMapOvr>
    <a:masterClrMapping/>
  </p:clrMapOvr>
</p:sld>
</file>

<file path=ppt/slides/slide5.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04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TECHNICAL APPROACH &amp; PROTOTYPE</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5</a:t>
            </a:fld>
            <a:endParaRPr lang="en-US"/>
          </a:p>
        </p:txBody>
      </p:sp>
      <p:pic>
        <p:nvPicPr>
          <p:cNvPr id="8" name="Picture 7" descr="Cintel Association (@cintel_association) · Chennai">
            <a:extLst>
              <a:ext uri="{FF2B5EF4-FFF2-40B4-BE49-F238E27FC236}">
                <ns4:creationId id="{E7AC66BE-200B-F622-1B08-CBD3C0757E20}"/>
              </a:ext>
            </a:extLst>
          </p:cNvPr>
          <p:cNvPicPr>
            <a:picLocks noChangeAspect="1"/>
          </p:cNvPicPr>
          <p:nvPr/>
        </p:nvPicPr>
        <p:blipFill>
          <a:blip r:embed="rId4"/>
          <a:stretch>
            <a:fillRect/>
          </a:stretch>
        </p:blipFill>
        <p:spPr>
          <a:xfrm>
            <a:off x="11069052" y="228600"/>
            <a:ext cx="815691" cy="815691"/>
          </a:xfrm>
          <a:prstGeom prst="rect">
            <a:avLst/>
          </a:prstGeom>
        </p:spPr>
      </p:pic>
      <p:cxnSp>
        <p:nvCxnSpPr>
          <p:cNvPr id="150" name="">
            <a:extLst>
              <a:ext uri="{FF2B5EF4-FFF2-40B4-BE49-F238E27FC236}">
                <ns4:creationId id="{CFD38DD8-77DD-480B-8CC3-4CC8B4BB0DE9}"/>
              </a:ext>
            </a:extLst>
          </p:cNvPr>
          <p:cNvCxnSpPr>
            <a:stCxn id="131" idx="1"/>
            <a:endCxn id="130" idx="3"/>
          </p:cNvCxnSpPr>
          <p:nvPr/>
        </p:nvCxnSpPr>
        <p:spPr>
          <a:xfrm flipH="1">
            <a:off x="4381500" y="3638550"/>
            <a:ext cx="1809750" cy="0"/>
          </a:xfrm>
          <a:prstGeom prst="straightConnector1">
            <a:avLst/>
          </a:prstGeom>
          <a:ln w="16193">
            <a:solidFill>
              <a:srgbClr val="00E5FF"/>
            </a:solidFill>
            <a:tailEnd type="triangle" w="sm" len="sm"/>
          </a:ln>
        </p:spPr>
      </p:cxnSp>
      <p:cxnSp>
        <p:nvCxnSpPr>
          <p:cNvPr id="149" name="">
            <a:extLst>
              <a:ext uri="{FF2B5EF4-FFF2-40B4-BE49-F238E27FC236}">
                <ns4:creationId id="{CFD84123-5DB9-4056-91DE-E3F7FA97A4C9}"/>
              </a:ext>
            </a:extLst>
          </p:cNvPr>
          <p:cNvCxnSpPr>
            <a:stCxn id="132" idx="1"/>
            <a:endCxn id="131" idx="3"/>
          </p:cNvCxnSpPr>
          <p:nvPr/>
        </p:nvCxnSpPr>
        <p:spPr>
          <a:xfrm flipH="1">
            <a:off x="8382000" y="3638550"/>
            <a:ext cx="619125" cy="0"/>
          </a:xfrm>
          <a:prstGeom prst="straightConnector1">
            <a:avLst/>
          </a:prstGeom>
          <a:ln w="16193">
            <a:solidFill>
              <a:srgbClr val="00E5FF"/>
            </a:solidFill>
            <a:tailEnd type="triangle" w="sm" len="sm"/>
          </a:ln>
        </p:spPr>
      </p:cxnSp>
      <p:cxnSp>
        <p:nvCxnSpPr>
          <p:cNvPr id="148" name="">
            <a:extLst>
              <a:ext uri="{FF2B5EF4-FFF2-40B4-BE49-F238E27FC236}">
                <ns4:creationId id="{E7CD7506-9556-41E0-9205-7B6104D393A5}"/>
              </a:ext>
            </a:extLst>
          </p:cNvPr>
          <p:cNvCxnSpPr>
            <a:stCxn id="136" idx="2"/>
            <a:endCxn id="138" idx="0"/>
          </p:cNvCxnSpPr>
          <p:nvPr/>
        </p:nvCxnSpPr>
        <p:spPr>
          <a:xfrm>
            <a:off x="9072563" y="5314950"/>
            <a:ext cx="1119188" cy="266700"/>
          </a:xfrm>
          <a:prstGeom prst="bentConnector4">
            <a:avLst>
              <a:gd name="adj1" fmla="val 0"/>
              <a:gd name="adj2" fmla="val 50000"/>
            </a:avLst>
          </a:prstGeom>
          <a:ln w="16193">
            <a:solidFill>
              <a:srgbClr val="00E5FF"/>
            </a:solidFill>
            <a:tailEnd type="triangle" w="sm" len="sm"/>
          </a:ln>
        </p:spPr>
      </p:cxnSp>
      <p:cxnSp>
        <p:nvCxnSpPr>
          <p:cNvPr id="147" name="">
            <a:extLst>
              <a:ext uri="{FF2B5EF4-FFF2-40B4-BE49-F238E27FC236}">
                <ns4:creationId id="{A239C4EF-6A3D-4B1E-A4D4-0281E74E6054}"/>
              </a:ext>
            </a:extLst>
          </p:cNvPr>
          <p:cNvCxnSpPr>
            <a:stCxn id="136" idx="2"/>
            <a:endCxn id="137" idx="0"/>
          </p:cNvCxnSpPr>
          <p:nvPr/>
        </p:nvCxnSpPr>
        <p:spPr>
          <a:xfrm flipH="1">
            <a:off x="7953375" y="5314950"/>
            <a:ext cx="1119188" cy="266700"/>
          </a:xfrm>
          <a:prstGeom prst="bentConnector4">
            <a:avLst>
              <a:gd name="adj1" fmla="val 0"/>
              <a:gd name="adj2" fmla="val 50000"/>
            </a:avLst>
          </a:prstGeom>
          <a:ln w="16193">
            <a:solidFill>
              <a:srgbClr val="00E5FF"/>
            </a:solidFill>
            <a:tailEnd type="triangle" w="sm" len="sm"/>
          </a:ln>
        </p:spPr>
      </p:cxnSp>
      <p:cxnSp>
        <p:nvCxnSpPr>
          <p:cNvPr id="146" name="">
            <a:extLst>
              <a:ext uri="{FF2B5EF4-FFF2-40B4-BE49-F238E27FC236}">
                <ns4:creationId id="{649F93C9-C5AA-4CE0-A6A8-176923B70AD2}"/>
              </a:ext>
            </a:extLst>
          </p:cNvPr>
          <p:cNvCxnSpPr>
            <a:stCxn id="135" idx="2"/>
            <a:endCxn id="136" idx="0"/>
          </p:cNvCxnSpPr>
          <p:nvPr/>
        </p:nvCxnSpPr>
        <p:spPr>
          <a:xfrm>
            <a:off x="9072563" y="4686300"/>
            <a:ext cx="0" cy="228600"/>
          </a:xfrm>
          <a:prstGeom prst="straightConnector1">
            <a:avLst/>
          </a:prstGeom>
          <a:ln w="16193">
            <a:solidFill>
              <a:srgbClr val="00E5FF"/>
            </a:solidFill>
            <a:tailEnd type="triangle" w="sm" len="sm"/>
          </a:ln>
        </p:spPr>
      </p:cxnSp>
      <p:cxnSp>
        <p:nvCxnSpPr>
          <p:cNvPr id="145" name="">
            <a:extLst>
              <a:ext uri="{FF2B5EF4-FFF2-40B4-BE49-F238E27FC236}">
                <ns4:creationId id="{C47EC7B0-223D-4694-84EA-DAB8C78BA4A7}"/>
              </a:ext>
            </a:extLst>
          </p:cNvPr>
          <p:cNvCxnSpPr>
            <a:stCxn id="130" idx="2"/>
            <a:endCxn id="135" idx="0"/>
          </p:cNvCxnSpPr>
          <p:nvPr/>
        </p:nvCxnSpPr>
        <p:spPr>
          <a:xfrm>
            <a:off x="3048000" y="3905250"/>
            <a:ext cx="6024563" cy="304800"/>
          </a:xfrm>
          <a:prstGeom prst="bentConnector4">
            <a:avLst>
              <a:gd name="adj1" fmla="val 0"/>
              <a:gd name="adj2" fmla="val 50000"/>
            </a:avLst>
          </a:prstGeom>
          <a:ln w="16193">
            <a:solidFill>
              <a:srgbClr val="00E5FF"/>
            </a:solidFill>
            <a:tailEnd type="triangle" w="sm" len="sm"/>
          </a:ln>
        </p:spPr>
      </p:cxnSp>
      <p:cxnSp>
        <p:nvCxnSpPr>
          <p:cNvPr id="144" name="">
            <a:extLst>
              <a:ext uri="{FF2B5EF4-FFF2-40B4-BE49-F238E27FC236}">
                <ns4:creationId id="{F21BF616-E60C-47EB-B3AC-8AE81BE5A6FA}"/>
              </a:ext>
            </a:extLst>
          </p:cNvPr>
          <p:cNvCxnSpPr>
            <a:stCxn id="130" idx="2"/>
            <a:endCxn id="134" idx="0"/>
          </p:cNvCxnSpPr>
          <p:nvPr/>
        </p:nvCxnSpPr>
        <p:spPr>
          <a:xfrm>
            <a:off x="3048000" y="3905250"/>
            <a:ext cx="2190750" cy="304800"/>
          </a:xfrm>
          <a:prstGeom prst="bentConnector4">
            <a:avLst>
              <a:gd name="adj1" fmla="val 0"/>
              <a:gd name="adj2" fmla="val 50000"/>
            </a:avLst>
          </a:prstGeom>
          <a:ln w="16193">
            <a:solidFill>
              <a:srgbClr val="00E5FF"/>
            </a:solidFill>
            <a:tailEnd type="triangle" w="sm" len="sm"/>
          </a:ln>
        </p:spPr>
      </p:cxnSp>
      <p:cxnSp>
        <p:nvCxnSpPr>
          <p:cNvPr id="143" name="">
            <a:extLst>
              <a:ext uri="{FF2B5EF4-FFF2-40B4-BE49-F238E27FC236}">
                <ns4:creationId id="{534BA1FB-0AB5-4A92-B85D-0F3D38159E32}"/>
              </a:ext>
            </a:extLst>
          </p:cNvPr>
          <p:cNvCxnSpPr>
            <a:stCxn id="130" idx="2"/>
            <a:endCxn id="133" idx="0"/>
          </p:cNvCxnSpPr>
          <p:nvPr/>
        </p:nvCxnSpPr>
        <p:spPr>
          <a:xfrm flipH="1">
            <a:off x="2276475" y="3905250"/>
            <a:ext cx="771525" cy="304800"/>
          </a:xfrm>
          <a:prstGeom prst="bentConnector4">
            <a:avLst>
              <a:gd name="adj1" fmla="val 0"/>
              <a:gd name="adj2" fmla="val 50000"/>
            </a:avLst>
          </a:prstGeom>
          <a:ln w="16193">
            <a:solidFill>
              <a:srgbClr val="00E5FF"/>
            </a:solidFill>
            <a:tailEnd type="triangle" w="sm" len="sm"/>
          </a:ln>
        </p:spPr>
      </p:cxnSp>
      <p:cxnSp>
        <p:nvCxnSpPr>
          <p:cNvPr id="142" name="">
            <a:extLst>
              <a:ext uri="{FF2B5EF4-FFF2-40B4-BE49-F238E27FC236}">
                <ns4:creationId id="{1A4E1336-1A94-4C87-BF1E-85CD6E1633C3}"/>
              </a:ext>
            </a:extLst>
          </p:cNvPr>
          <p:cNvCxnSpPr>
            <a:stCxn id="128" idx="2"/>
            <a:endCxn id="130" idx="0"/>
          </p:cNvCxnSpPr>
          <p:nvPr/>
        </p:nvCxnSpPr>
        <p:spPr>
          <a:xfrm>
            <a:off x="3048000" y="3124200"/>
            <a:ext cx="0" cy="247650"/>
          </a:xfrm>
          <a:prstGeom prst="straightConnector1">
            <a:avLst/>
          </a:prstGeom>
          <a:ln w="16193">
            <a:solidFill>
              <a:srgbClr val="00E5FF"/>
            </a:solidFill>
            <a:tailEnd type="triangle" w="sm" len="sm"/>
          </a:ln>
        </p:spPr>
      </p:cxnSp>
      <p:cxnSp>
        <p:nvCxnSpPr>
          <p:cNvPr id="141" name="">
            <a:extLst>
              <a:ext uri="{FF2B5EF4-FFF2-40B4-BE49-F238E27FC236}">
                <ns4:creationId id="{774887BA-9440-4403-8417-120FC8539203}"/>
              </a:ext>
            </a:extLst>
          </p:cNvPr>
          <p:cNvCxnSpPr>
            <a:stCxn id="129" idx="1"/>
            <a:endCxn id="128" idx="3"/>
          </p:cNvCxnSpPr>
          <p:nvPr/>
        </p:nvCxnSpPr>
        <p:spPr>
          <a:xfrm flipH="1">
            <a:off x="4381500" y="2867025"/>
            <a:ext cx="3048000" cy="0"/>
          </a:xfrm>
          <a:prstGeom prst="straightConnector1">
            <a:avLst/>
          </a:prstGeom>
          <a:ln w="16193">
            <a:solidFill>
              <a:srgbClr val="00E5FF"/>
            </a:solidFill>
            <a:tailEnd type="triangle" w="sm" len="sm"/>
          </a:ln>
        </p:spPr>
      </p:cxnSp>
      <p:cxnSp>
        <p:nvCxnSpPr>
          <p:cNvPr id="140" name="">
            <a:extLst>
              <a:ext uri="{FF2B5EF4-FFF2-40B4-BE49-F238E27FC236}">
                <ns4:creationId id="{CEF4667F-1FEB-4602-8688-D865C396DEA7}"/>
              </a:ext>
            </a:extLst>
          </p:cNvPr>
          <p:cNvCxnSpPr>
            <a:stCxn id="127" idx="2"/>
            <a:endCxn id="129" idx="0"/>
          </p:cNvCxnSpPr>
          <p:nvPr/>
        </p:nvCxnSpPr>
        <p:spPr>
          <a:xfrm>
            <a:off x="8763000" y="2362200"/>
            <a:ext cx="0" cy="247650"/>
          </a:xfrm>
          <a:prstGeom prst="straightConnector1">
            <a:avLst/>
          </a:prstGeom>
          <a:ln w="16193">
            <a:solidFill>
              <a:srgbClr val="00E5FF"/>
            </a:solidFill>
            <a:tailEnd type="triangle" w="sm" len="sm"/>
          </a:ln>
        </p:spPr>
      </p:cxnSp>
      <p:cxnSp>
        <p:nvCxnSpPr>
          <p:cNvPr id="139" name="">
            <a:extLst>
              <a:ext uri="{FF2B5EF4-FFF2-40B4-BE49-F238E27FC236}">
                <ns4:creationId id="{7D813A67-9A8A-44B7-8823-BB0AA417DB3E}"/>
              </a:ext>
            </a:extLst>
          </p:cNvPr>
          <p:cNvCxnSpPr>
            <a:stCxn id="151" idx="2"/>
            <a:endCxn id="128" idx="0"/>
          </p:cNvCxnSpPr>
          <p:nvPr/>
        </p:nvCxnSpPr>
        <p:spPr>
          <a:xfrm>
            <a:off x="3048000" y="2362200"/>
            <a:ext cx="0" cy="247650"/>
          </a:xfrm>
          <a:prstGeom prst="straightConnector1">
            <a:avLst/>
          </a:prstGeom>
          <a:ln w="16193">
            <a:solidFill>
              <a:srgbClr val="00E5FF"/>
            </a:solidFill>
            <a:tailEnd type="triangle" w="sm" len="sm"/>
          </a:ln>
        </p:spPr>
      </p:cxnSp>
      <p:sp>
        <p:nvSpPr>
          <p:cNvPr id="151" name="Desktop">
            <a:extLst>
              <a:ext uri="{FF2B5EF4-FFF2-40B4-BE49-F238E27FC236}">
                <ns4:creationId id="{BD13608A-3ECB-4056-A271-F636C1D03F0D}"/>
              </a:ext>
            </a:extLst>
          </p:cNvPr>
          <p:cNvSpPr>
            <a:spLocks noGrp="1"/>
          </p:cNvSpPr>
          <p:nvPr/>
        </p:nvSpPr>
        <p:spPr>
          <a:xfrm>
            <a:off x="1714500" y="1847850"/>
            <a:ext cx="2667000" cy="514350"/>
          </a:xfrm>
          <a:prstGeom prst="rect">
            <a:avLst/>
          </a:prstGeom>
          <a:solidFill>
            <a:srgbClr val="0B1020"/>
          </a:solidFill>
          <a:ln w="13335">
            <a:solidFill>
              <a:srgbClr val="00E5FF"/>
            </a:solidFill>
          </a:ln>
        </p:spPr>
        <p:txBody>
          <a:bodyPr lIns="38100" tIns="38100" rIns="38100" bIns="38100" anchor="ctr"/>
          <a:lstStyle>
            <a:defPPr algn="ctr">
              <a:defRPr sz="1425" b="1">
                <a:solidFill>
                  <a:srgbClr val="FFFFFF"/>
                </a:solidFill>
                <a:latin typeface="Calibri"/>
                <a:ea typeface="Calibri"/>
                <a:cs typeface="Calibri"/>
              </a:defRPr>
            </a:defP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Laptop: web UI</a:t>
            </a:r>
          </a:p>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or Electron</a:t>
            </a:r>
          </a:p>
        </p:txBody>
      </p:sp>
      <p:sp>
        <p:nvSpPr>
          <p:cNvPr id="127" name="Phone">
            <a:extLst>
              <a:ext uri="{FF2B5EF4-FFF2-40B4-BE49-F238E27FC236}">
                <ns4:creationId id="{DC0E8FF4-8F31-4BB8-B5BD-3091229CC38A}"/>
              </a:ext>
            </a:extLst>
          </p:cNvPr>
          <p:cNvSpPr>
            <a:spLocks noGrp="1"/>
          </p:cNvSpPr>
          <p:nvPr/>
        </p:nvSpPr>
        <p:spPr>
          <a:xfrm>
            <a:off x="7429500" y="1847850"/>
            <a:ext cx="2667000" cy="514350"/>
          </a:xfrm>
          <a:prstGeom prst="rect">
            <a:avLst/>
          </a:prstGeom>
          <a:solidFill>
            <a:srgbClr val="0B1020"/>
          </a:solidFill>
          <a:ln w="13335">
            <a:solidFill>
              <a:srgbClr val="00E5FF"/>
            </a:solidFill>
            <a:prstDash val="dash"/>
          </a:ln>
        </p:spPr>
        <p:txBody>
          <a:bodyPr lIns="38100" tIns="38100" rIns="38100" bIns="38100" anchor="ctr"/>
          <a:lstStyle>
            <a:defPPr algn="ctr">
              <a:defRPr sz="1425" b="1">
                <a:solidFill>
                  <a:srgbClr val="FFFFFF"/>
                </a:solidFill>
                <a:latin typeface="Calibri"/>
                <a:ea typeface="Calibri"/>
                <a:cs typeface="Calibri"/>
              </a:defRPr>
            </a:defP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Phone: same</a:t>
            </a:r>
          </a:p>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responsive web UI</a:t>
            </a:r>
          </a:p>
        </p:txBody>
      </p:sp>
      <p:sp>
        <p:nvSpPr>
          <p:cNvPr id="128" name="API">
            <a:extLst>
              <a:ext uri="{FF2B5EF4-FFF2-40B4-BE49-F238E27FC236}">
                <ns4:creationId id="{C3E6C02B-9666-4C94-A733-C24D99EFFEC2}"/>
              </a:ext>
            </a:extLst>
          </p:cNvPr>
          <p:cNvSpPr>
            <a:spLocks noGrp="1"/>
          </p:cNvSpPr>
          <p:nvPr/>
        </p:nvSpPr>
        <p:spPr>
          <a:xfrm>
            <a:off x="1714500" y="2609850"/>
            <a:ext cx="2667000" cy="514350"/>
          </a:xfrm>
          <a:prstGeom prst="rect">
            <a:avLst/>
          </a:prstGeom>
          <a:solidFill>
            <a:srgbClr val="0B1020"/>
          </a:solidFill>
          <a:ln w="13335">
            <a:solidFill>
              <a:srgbClr val="00E5FF"/>
            </a:solidFill>
          </a:ln>
        </p:spPr>
        <p:txBody>
          <a:bodyPr lIns="38100" tIns="38100" rIns="38100" bIns="38100" anchor="ctr"/>
          <a:lstStyle>
            <a:defPPr algn="ctr">
              <a:defRPr sz="1500" b="1">
                <a:solidFill>
                  <a:srgbClr val="FFFFFF"/>
                </a:solidFill>
                <a:latin typeface="Calibri"/>
                <a:ea typeface="Calibri"/>
                <a:cs typeface="Calibri"/>
              </a:defRPr>
            </a:defPPr>
          </a:lstStyle>
          <a:p>
            <a:pPr algn="ctr">
              <a:defRPr sz="1500" b="1">
                <a:solidFill>
                  <a:srgbClr val="FFFFFF"/>
                </a:solidFill>
                <a:latin typeface="Calibri"/>
                <a:ea typeface="Calibri"/>
                <a:cs typeface="Calibri"/>
              </a:defRPr>
            </a:pPr>
            <a:r>
              <a:rPr sz="1500" b="1">
                <a:solidFill>
                  <a:srgbClr val="FFFFFF"/>
                </a:solidFill>
                <a:latin typeface="Calibri"/>
                <a:ea typeface="Calibri"/>
                <a:cs typeface="Calibri"/>
              </a:rPr>
              <a:t>Authenticated</a:t>
            </a:r>
          </a:p>
          <a:p>
            <a:pPr algn="ctr">
              <a:defRPr sz="1500" b="1">
                <a:solidFill>
                  <a:srgbClr val="FFFFFF"/>
                </a:solidFill>
                <a:latin typeface="Calibri"/>
                <a:ea typeface="Calibri"/>
                <a:cs typeface="Calibri"/>
              </a:defRPr>
            </a:pPr>
            <a:r>
              <a:rPr sz="1500" b="1">
                <a:solidFill>
                  <a:srgbClr val="FFFFFF"/>
                </a:solidFill>
                <a:latin typeface="Calibri"/>
                <a:ea typeface="Calibri"/>
                <a:cs typeface="Calibri"/>
              </a:rPr>
              <a:t>local API</a:t>
            </a:r>
          </a:p>
        </p:txBody>
      </p:sp>
      <p:sp>
        <p:nvSpPr>
          <p:cNvPr id="129" name="Tailscale">
            <a:extLst>
              <a:ext uri="{FF2B5EF4-FFF2-40B4-BE49-F238E27FC236}">
                <ns4:creationId id="{99D7B456-FE70-459A-8BEB-96F2B239FB06}"/>
              </a:ext>
            </a:extLst>
          </p:cNvPr>
          <p:cNvSpPr>
            <a:spLocks noGrp="1"/>
          </p:cNvSpPr>
          <p:nvPr/>
        </p:nvSpPr>
        <p:spPr>
          <a:xfrm>
            <a:off x="7429500" y="2609850"/>
            <a:ext cx="2667000" cy="514350"/>
          </a:xfrm>
          <a:prstGeom prst="rect">
            <a:avLst/>
          </a:prstGeom>
          <a:solidFill>
            <a:srgbClr val="0B1020"/>
          </a:solidFill>
          <a:ln w="13335">
            <a:solidFill>
              <a:srgbClr val="00E5FF"/>
            </a:solidFill>
            <a:prstDash val="dash"/>
          </a:ln>
        </p:spPr>
        <p:txBody>
          <a:bodyPr lIns="38100" tIns="38100" rIns="38100" bIns="38100" anchor="ctr"/>
          <a:lstStyle>
            <a:defPPr algn="ctr">
              <a:defRPr sz="1500" b="1">
                <a:solidFill>
                  <a:srgbClr val="FFFFFF"/>
                </a:solidFill>
                <a:latin typeface="Calibri"/>
                <a:ea typeface="Calibri"/>
                <a:cs typeface="Calibri"/>
              </a:defRPr>
            </a:defPPr>
          </a:lstStyle>
          <a:p>
            <a:pPr algn="ctr">
              <a:defRPr sz="1500" b="1">
                <a:solidFill>
                  <a:srgbClr val="FFFFFF"/>
                </a:solidFill>
                <a:latin typeface="Calibri"/>
                <a:ea typeface="Calibri"/>
                <a:cs typeface="Calibri"/>
              </a:defRPr>
            </a:pPr>
            <a:r>
              <a:rPr sz="1500" b="1">
                <a:solidFill>
                  <a:srgbClr val="FFFFFF"/>
                </a:solidFill>
                <a:latin typeface="Calibri"/>
                <a:ea typeface="Calibri"/>
                <a:cs typeface="Calibri"/>
              </a:rPr>
              <a:t>Tailscale Serve</a:t>
            </a:r>
          </a:p>
        </p:txBody>
      </p:sp>
      <p:sp>
        <p:nvSpPr>
          <p:cNvPr id="130" name="Runtime">
            <a:extLst>
              <a:ext uri="{FF2B5EF4-FFF2-40B4-BE49-F238E27FC236}">
                <ns4:creationId id="{9BC073D9-8A3C-4EA0-B02E-000C146621C5}"/>
              </a:ext>
            </a:extLst>
          </p:cNvPr>
          <p:cNvSpPr>
            <a:spLocks noGrp="1"/>
          </p:cNvSpPr>
          <p:nvPr/>
        </p:nvSpPr>
        <p:spPr>
          <a:xfrm>
            <a:off x="1714500" y="3371850"/>
            <a:ext cx="2667000" cy="533400"/>
          </a:xfrm>
          <a:prstGeom prst="rect">
            <a:avLst/>
          </a:prstGeom>
          <a:solidFill>
            <a:srgbClr val="0B1020"/>
          </a:solidFill>
          <a:ln w="13335">
            <a:solidFill>
              <a:srgbClr val="FF2BD6"/>
            </a:solidFill>
          </a:ln>
        </p:spPr>
        <p:txBody>
          <a:bodyPr lIns="38100" tIns="38100" rIns="38100" bIns="38100" anchor="ctr"/>
          <a:lstStyle>
            <a:defPPr algn="ctr">
              <a:defRPr sz="1425" b="1">
                <a:solidFill>
                  <a:srgbClr val="FFFFFF"/>
                </a:solidFill>
                <a:latin typeface="Calibri"/>
                <a:ea typeface="Calibri"/>
                <a:cs typeface="Calibri"/>
              </a:defRPr>
            </a:defP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Agent runtime:</a:t>
            </a:r>
          </a:p>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tasks, bots, schedules</a:t>
            </a:r>
          </a:p>
        </p:txBody>
      </p:sp>
      <p:sp>
        <p:nvSpPr>
          <p:cNvPr id="131" name="Install">
            <a:extLst>
              <a:ext uri="{FF2B5EF4-FFF2-40B4-BE49-F238E27FC236}">
                <ns4:creationId id="{C293CAD0-CBA0-4649-8B24-3EAC02AA12DA}"/>
              </a:ext>
            </a:extLst>
          </p:cNvPr>
          <p:cNvSpPr>
            <a:spLocks noGrp="1"/>
          </p:cNvSpPr>
          <p:nvPr/>
        </p:nvSpPr>
        <p:spPr>
          <a:xfrm>
            <a:off x="6191250" y="3371850"/>
            <a:ext cx="2190750" cy="533400"/>
          </a:xfrm>
          <a:prstGeom prst="rect">
            <a:avLst/>
          </a:prstGeom>
          <a:solidFill>
            <a:srgbClr val="0B1020"/>
          </a:solidFill>
          <a:ln w="13335">
            <a:solidFill>
              <a:srgbClr val="00E5FF"/>
            </a:solidFill>
          </a:ln>
        </p:spPr>
        <p:txBody>
          <a:bodyPr lIns="38100" tIns="38100" rIns="38100" bIns="38100" anchor="ctr"/>
          <a:lstStyle>
            <a:defPPr algn="ctr">
              <a:defRPr sz="1425" b="1">
                <a:solidFill>
                  <a:srgbClr val="FFFFFF"/>
                </a:solidFill>
                <a:latin typeface="Calibri"/>
                <a:ea typeface="Calibri"/>
                <a:cs typeface="Calibri"/>
              </a:defRPr>
            </a:defP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Reviewed installation</a:t>
            </a:r>
          </a:p>
        </p:txBody>
      </p:sp>
      <p:sp>
        <p:nvSpPr>
          <p:cNvPr id="132" name="Registry">
            <a:extLst>
              <a:ext uri="{FF2B5EF4-FFF2-40B4-BE49-F238E27FC236}">
                <ns4:creationId id="{13352C48-739D-4390-B998-57684A91DF6C}"/>
              </a:ext>
            </a:extLst>
          </p:cNvPr>
          <p:cNvSpPr>
            <a:spLocks noGrp="1"/>
          </p:cNvSpPr>
          <p:nvPr/>
        </p:nvSpPr>
        <p:spPr>
          <a:xfrm>
            <a:off x="9001125" y="3371850"/>
            <a:ext cx="2190750" cy="533400"/>
          </a:xfrm>
          <a:prstGeom prst="rect">
            <a:avLst/>
          </a:prstGeom>
          <a:solidFill>
            <a:srgbClr val="0B1020"/>
          </a:solidFill>
          <a:ln w="13335">
            <a:solidFill>
              <a:srgbClr val="00E5FF"/>
            </a:solidFill>
          </a:ln>
        </p:spPr>
        <p:txBody>
          <a:bodyPr lIns="38100" tIns="38100" rIns="38100" bIns="38100" anchor="ctr"/>
          <a:lstStyle>
            <a:defPPr algn="ctr">
              <a:defRPr sz="1425" b="1">
                <a:solidFill>
                  <a:srgbClr val="FFFFFF"/>
                </a:solidFill>
                <a:latin typeface="Calibri"/>
                <a:ea typeface="Calibri"/>
                <a:cs typeface="Calibri"/>
              </a:defRPr>
            </a:defP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Marketplace registry</a:t>
            </a:r>
          </a:p>
        </p:txBody>
      </p:sp>
      <p:sp>
        <p:nvSpPr>
          <p:cNvPr id="133" name="Models">
            <a:extLst>
              <a:ext uri="{FF2B5EF4-FFF2-40B4-BE49-F238E27FC236}">
                <ns4:creationId id="{86A620CD-8F8C-464C-AD8C-D2C216045EDB}"/>
              </a:ext>
            </a:extLst>
          </p:cNvPr>
          <p:cNvSpPr>
            <a:spLocks noGrp="1"/>
          </p:cNvSpPr>
          <p:nvPr/>
        </p:nvSpPr>
        <p:spPr>
          <a:xfrm>
            <a:off x="990600" y="4210050"/>
            <a:ext cx="2571750" cy="476250"/>
          </a:xfrm>
          <a:prstGeom prst="rect">
            <a:avLst/>
          </a:prstGeom>
          <a:solidFill>
            <a:srgbClr val="0B1020"/>
          </a:solidFill>
          <a:ln w="13335">
            <a:solidFill>
              <a:srgbClr val="00E5FF"/>
            </a:solidFill>
          </a:ln>
        </p:spPr>
        <p:txBody>
          <a:bodyPr lIns="38100" tIns="38100" rIns="38100" bIns="38100" anchor="ctr"/>
          <a:lstStyle>
            <a:defPPr algn="ctr">
              <a:defRPr sz="1350" b="1">
                <a:solidFill>
                  <a:srgbClr val="FFFFFF"/>
                </a:solidFill>
                <a:latin typeface="Calibri"/>
                <a:ea typeface="Calibri"/>
                <a:cs typeface="Calibri"/>
              </a:defRPr>
            </a:defPPr>
          </a:lstStyle>
          <a:p>
            <a:pPr algn="ctr">
              <a:defRPr sz="1350" b="1">
                <a:solidFill>
                  <a:srgbClr val="FFFFFF"/>
                </a:solidFill>
                <a:latin typeface="Calibri"/>
                <a:ea typeface="Calibri"/>
                <a:cs typeface="Calibri"/>
              </a:defRPr>
            </a:pPr>
            <a:r>
              <a:rPr sz="1350" b="1">
                <a:solidFill>
                  <a:srgbClr val="FFFFFF"/>
                </a:solidFill>
                <a:latin typeface="Calibri"/>
                <a:ea typeface="Calibri"/>
                <a:cs typeface="Calibri"/>
              </a:rPr>
              <a:t>Model adapters:</a:t>
            </a:r>
          </a:p>
          <a:p>
            <a:pPr algn="ctr">
              <a:defRPr sz="1350" b="1">
                <a:solidFill>
                  <a:srgbClr val="FFFFFF"/>
                </a:solidFill>
                <a:latin typeface="Calibri"/>
                <a:ea typeface="Calibri"/>
                <a:cs typeface="Calibri"/>
              </a:defRPr>
            </a:pPr>
            <a:r>
              <a:rPr sz="1350" b="1">
                <a:solidFill>
                  <a:srgbClr val="FFFFFF"/>
                </a:solidFill>
                <a:latin typeface="Calibri"/>
                <a:ea typeface="Calibri"/>
                <a:cs typeface="Calibri"/>
              </a:rPr>
              <a:t>local or cloud</a:t>
            </a:r>
          </a:p>
        </p:txBody>
      </p:sp>
      <p:sp>
        <p:nvSpPr>
          <p:cNvPr id="134" name="Memory">
            <a:extLst>
              <a:ext uri="{FF2B5EF4-FFF2-40B4-BE49-F238E27FC236}">
                <ns4:creationId id="{EDC443E9-70AE-4914-AE7C-30FFC6D4904F}"/>
              </a:ext>
            </a:extLst>
          </p:cNvPr>
          <p:cNvSpPr>
            <a:spLocks noGrp="1"/>
          </p:cNvSpPr>
          <p:nvPr/>
        </p:nvSpPr>
        <p:spPr>
          <a:xfrm>
            <a:off x="4095750" y="4210050"/>
            <a:ext cx="2286000" cy="476250"/>
          </a:xfrm>
          <a:prstGeom prst="rect">
            <a:avLst/>
          </a:prstGeom>
          <a:solidFill>
            <a:srgbClr val="0B1020"/>
          </a:solidFill>
          <a:ln w="13335">
            <a:solidFill>
              <a:srgbClr val="00E5FF"/>
            </a:solidFill>
          </a:ln>
        </p:spPr>
        <p:txBody>
          <a:bodyPr lIns="38100" tIns="38100" rIns="38100" bIns="38100" anchor="ctr"/>
          <a:lstStyle>
            <a:defPPr algn="ctr">
              <a:defRPr sz="1425" b="1">
                <a:solidFill>
                  <a:srgbClr val="FFFFFF"/>
                </a:solidFill>
                <a:latin typeface="Calibri"/>
                <a:ea typeface="Calibri"/>
                <a:cs typeface="Calibri"/>
              </a:defRPr>
            </a:defP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Editable memory</a:t>
            </a:r>
          </a:p>
        </p:txBody>
      </p:sp>
      <p:sp>
        <p:nvSpPr>
          <p:cNvPr id="135" name="Policy">
            <a:extLst>
              <a:ext uri="{FF2B5EF4-FFF2-40B4-BE49-F238E27FC236}">
                <ns4:creationId id="{86B81429-57A8-4942-A111-138E7BA02F65}"/>
              </a:ext>
            </a:extLst>
          </p:cNvPr>
          <p:cNvSpPr>
            <a:spLocks noGrp="1"/>
          </p:cNvSpPr>
          <p:nvPr/>
        </p:nvSpPr>
        <p:spPr>
          <a:xfrm>
            <a:off x="6953250" y="4210050"/>
            <a:ext cx="4238625" cy="476250"/>
          </a:xfrm>
          <a:prstGeom prst="rect">
            <a:avLst/>
          </a:prstGeom>
          <a:solidFill>
            <a:srgbClr val="0B1020"/>
          </a:solidFill>
          <a:ln w="13335">
            <a:solidFill>
              <a:srgbClr val="FF2BD6"/>
            </a:solidFill>
          </a:ln>
        </p:spPr>
        <p:txBody>
          <a:bodyPr lIns="38100" tIns="38100" rIns="38100" bIns="38100" anchor="ctr"/>
          <a:lstStyle>
            <a:defPPr algn="ctr">
              <a:defRPr sz="1350" b="1">
                <a:solidFill>
                  <a:srgbClr val="FFFFFF"/>
                </a:solidFill>
                <a:latin typeface="Calibri"/>
                <a:ea typeface="Calibri"/>
                <a:cs typeface="Calibri"/>
              </a:defRPr>
            </a:defPPr>
          </a:lstStyle>
          <a:p>
            <a:pPr algn="ctr">
              <a:defRPr sz="1350" b="1">
                <a:solidFill>
                  <a:srgbClr val="FFFFFF"/>
                </a:solidFill>
                <a:latin typeface="Calibri"/>
                <a:ea typeface="Calibri"/>
                <a:cs typeface="Calibri"/>
              </a:defRPr>
            </a:pPr>
            <a:r>
              <a:rPr sz="1350" b="1">
                <a:solidFill>
                  <a:srgbClr val="FFFFFF"/>
                </a:solidFill>
                <a:latin typeface="Calibri"/>
                <a:ea typeface="Calibri"/>
                <a:cs typeface="Calibri"/>
              </a:rPr>
              <a:t>Policy, approvals</a:t>
            </a:r>
          </a:p>
          <a:p>
            <a:pPr algn="ctr">
              <a:defRPr sz="1350" b="1">
                <a:solidFill>
                  <a:srgbClr val="FFFFFF"/>
                </a:solidFill>
                <a:latin typeface="Calibri"/>
                <a:ea typeface="Calibri"/>
                <a:cs typeface="Calibri"/>
              </a:defRPr>
            </a:pPr>
            <a:r>
              <a:rPr sz="1350" b="1">
                <a:solidFill>
                  <a:srgbClr val="FFFFFF"/>
                </a:solidFill>
                <a:latin typeface="Calibri"/>
                <a:ea typeface="Calibri"/>
                <a:cs typeface="Calibri"/>
              </a:rPr>
              <a:t>and activity log</a:t>
            </a:r>
          </a:p>
        </p:txBody>
      </p:sp>
      <p:sp>
        <p:nvSpPr>
          <p:cNvPr id="136" name="Tools">
            <a:extLst>
              <a:ext uri="{FF2B5EF4-FFF2-40B4-BE49-F238E27FC236}">
                <ns4:creationId id="{6F099E57-7623-44D9-BD62-BDEAD11824C5}"/>
              </a:ext>
            </a:extLst>
          </p:cNvPr>
          <p:cNvSpPr>
            <a:spLocks noGrp="1"/>
          </p:cNvSpPr>
          <p:nvPr/>
        </p:nvSpPr>
        <p:spPr>
          <a:xfrm>
            <a:off x="6953250" y="4914900"/>
            <a:ext cx="4238625" cy="400050"/>
          </a:xfrm>
          <a:prstGeom prst="rect">
            <a:avLst/>
          </a:prstGeom>
          <a:solidFill>
            <a:srgbClr val="0B1020"/>
          </a:solidFill>
          <a:ln w="13335">
            <a:solidFill>
              <a:srgbClr val="00E5FF"/>
            </a:solidFill>
            <a:prstDash val="dash"/>
          </a:ln>
        </p:spPr>
        <p:txBody>
          <a:bodyPr lIns="38100" tIns="38100" rIns="38100" bIns="38100" anchor="ctr"/>
          <a:lstStyle>
            <a:defPPr algn="ctr">
              <a:defRPr sz="1425" b="1">
                <a:solidFill>
                  <a:srgbClr val="FFFFFF"/>
                </a:solidFill>
                <a:latin typeface="Calibri"/>
                <a:ea typeface="Calibri"/>
                <a:cs typeface="Calibri"/>
              </a:defRPr>
            </a:defP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Tools and MCP connectors</a:t>
            </a:r>
          </a:p>
        </p:txBody>
      </p:sp>
      <p:sp>
        <p:nvSpPr>
          <p:cNvPr id="137" name="Browser">
            <a:extLst>
              <a:ext uri="{FF2B5EF4-FFF2-40B4-BE49-F238E27FC236}">
                <ns4:creationId id="{C1FC6071-FA33-46A7-BE37-7169DFB12B5C}"/>
              </a:ext>
            </a:extLst>
          </p:cNvPr>
          <p:cNvSpPr>
            <a:spLocks noGrp="1"/>
          </p:cNvSpPr>
          <p:nvPr/>
        </p:nvSpPr>
        <p:spPr>
          <a:xfrm>
            <a:off x="6953250" y="5581650"/>
            <a:ext cx="2000250" cy="361950"/>
          </a:xfrm>
          <a:prstGeom prst="rect">
            <a:avLst/>
          </a:prstGeom>
          <a:solidFill>
            <a:srgbClr val="0B1020"/>
          </a:solidFill>
          <a:ln w="13335">
            <a:solidFill>
              <a:srgbClr val="00E5FF"/>
            </a:solidFill>
            <a:prstDash val="dash"/>
          </a:ln>
        </p:spPr>
        <p:txBody>
          <a:bodyPr lIns="38100" tIns="38100" rIns="38100" bIns="38100" anchor="ctr"/>
          <a:lstStyle>
            <a:defPPr algn="ctr">
              <a:defRPr sz="1350" b="1">
                <a:solidFill>
                  <a:srgbClr val="FFFFFF"/>
                </a:solidFill>
                <a:latin typeface="Calibri"/>
                <a:ea typeface="Calibri"/>
                <a:cs typeface="Calibri"/>
              </a:defRPr>
            </a:defPPr>
          </a:lstStyle>
          <a:p>
            <a:pPr algn="ctr">
              <a:defRPr sz="1350" b="1">
                <a:solidFill>
                  <a:srgbClr val="FFFFFF"/>
                </a:solidFill>
                <a:latin typeface="Calibri"/>
                <a:ea typeface="Calibri"/>
                <a:cs typeface="Calibri"/>
              </a:defRPr>
            </a:pPr>
            <a:r>
              <a:rPr sz="1350" b="1">
                <a:solidFill>
                  <a:srgbClr val="FFFFFF"/>
                </a:solidFill>
                <a:latin typeface="Calibri"/>
                <a:ea typeface="Calibri"/>
                <a:cs typeface="Calibri"/>
              </a:rPr>
              <a:t>Browser worker</a:t>
            </a:r>
          </a:p>
        </p:txBody>
      </p:sp>
      <p:sp>
        <p:nvSpPr>
          <p:cNvPr id="138" name="Files">
            <a:extLst>
              <a:ext uri="{FF2B5EF4-FFF2-40B4-BE49-F238E27FC236}">
                <ns4:creationId id="{D74ACB1B-161D-4C9B-B92B-3FBACA054EB1}"/>
              </a:ext>
            </a:extLst>
          </p:cNvPr>
          <p:cNvSpPr>
            <a:spLocks noGrp="1"/>
          </p:cNvSpPr>
          <p:nvPr/>
        </p:nvSpPr>
        <p:spPr>
          <a:xfrm>
            <a:off x="9191625" y="5581650"/>
            <a:ext cx="2000250" cy="361950"/>
          </a:xfrm>
          <a:prstGeom prst="rect">
            <a:avLst/>
          </a:prstGeom>
          <a:solidFill>
            <a:srgbClr val="0B1020"/>
          </a:solidFill>
          <a:ln w="13335">
            <a:solidFill>
              <a:srgbClr val="00E5FF"/>
            </a:solidFill>
            <a:prstDash val="dash"/>
          </a:ln>
        </p:spPr>
        <p:txBody>
          <a:bodyPr lIns="38100" tIns="38100" rIns="38100" bIns="38100" anchor="ctr"/>
          <a:lstStyle>
            <a:defPPr algn="ctr">
              <a:defRPr sz="1350" b="1">
                <a:solidFill>
                  <a:srgbClr val="FFFFFF"/>
                </a:solidFill>
                <a:latin typeface="Calibri"/>
                <a:ea typeface="Calibri"/>
                <a:cs typeface="Calibri"/>
              </a:defRPr>
            </a:defPPr>
          </a:lstStyle>
          <a:p>
            <a:pPr algn="ctr">
              <a:defRPr sz="1350" b="1">
                <a:solidFill>
                  <a:srgbClr val="FFFFFF"/>
                </a:solidFill>
                <a:latin typeface="Calibri"/>
                <a:ea typeface="Calibri"/>
                <a:cs typeface="Calibri"/>
              </a:defRPr>
            </a:pPr>
            <a:r>
              <a:rPr sz="1350" b="1">
                <a:solidFill>
                  <a:srgbClr val="FFFFFF"/>
                </a:solidFill>
                <a:latin typeface="Calibri"/>
                <a:ea typeface="Calibri"/>
                <a:cs typeface="Calibri"/>
              </a:rPr>
              <a:t>Approved local files</a:t>
            </a:r>
          </a:p>
        </p:txBody>
      </p:sp>
      <p:sp>
        <p:nvSpPr>
          <p:cNvPr id="152" name="Prototype label"/>
          <p:cNvSpPr>
            <a:spLocks noGrp="1"/>
          </p:cNvSpPr>
          <p:nvPr/>
        </p:nvSpPr>
        <p:spPr>
          <a:xfrm>
            <a:off x="987552" y="4937760"/>
            <a:ext cx="5715000" cy="228600"/>
          </a:xfrm>
          <a:prstGeom prst="rect">
            <a:avLst/>
          </a:prstGeom>
          <a:noFill/>
          <a:ln w="0">
            <a:noFill/>
          </a:ln>
        </p:spPr>
        <p:txBody>
          <a:bodyPr lIns="0" tIns="0" rIns="0" bIns="0" anchor="t"/>
          <a:lstStyle>
            <a:defPPr algn="l">
              <a:defRPr sz="1350" b="1">
                <a:solidFill>
                  <a:srgbClr val="FF2BD6"/>
                </a:solidFill>
                <a:latin typeface="Calibri"/>
                <a:ea typeface="Calibri"/>
                <a:cs typeface="Calibri"/>
              </a:defRPr>
            </a:defPPr>
          </a:lstStyle>
          <a:p>
            <a:pPr algn="l">
              <a:defRPr sz="1350" b="1">
                <a:solidFill>
                  <a:srgbClr val="FF2BD6"/>
                </a:solidFill>
                <a:latin typeface="Calibri"/>
                <a:ea typeface="Calibri"/>
                <a:cs typeface="Calibri"/>
              </a:defRPr>
            </a:pPr>
            <a:r>
              <a:rPr sz="1350" b="1">
                <a:solidFill>
                  <a:srgbClr val="FF2BD6"/>
                </a:solidFill>
                <a:latin typeface="Calibri"/>
                <a:ea typeface="Calibri"/>
                <a:cs typeface="Calibri"/>
              </a:rPr>
              <a:t>WORKING PROTOTYPE   SOLID = BUILT, DASHED = NEXT</a:t>
            </a:r>
          </a:p>
        </p:txBody>
      </p:sp>
      <p:sp>
        <p:nvSpPr>
          <p:cNvPr id="153" name="Prototype body"/>
          <p:cNvSpPr>
            <a:spLocks noGrp="1"/>
          </p:cNvSpPr>
          <p:nvPr/>
        </p:nvSpPr>
        <p:spPr>
          <a:xfrm>
            <a:off x="987552" y="5212080"/>
            <a:ext cx="5715000" cy="777240"/>
          </a:xfrm>
          <a:prstGeom prst="rect">
            <a:avLst/>
          </a:prstGeom>
          <a:noFill/>
          <a:ln w="0">
            <a:noFill/>
          </a:ln>
        </p:spPr>
        <p:txBody>
          <a:bodyPr lIns="0" tIns="0" rIns="0" bIns="0" anchor="t"/>
          <a:lstStyle>
            <a:defPPr algn="l">
              <a:defRPr sz="1650" b="0">
                <a:solidFill>
                  <a:srgbClr val="FFFFFF"/>
                </a:solidFill>
                <a:latin typeface="Calibri"/>
                <a:ea typeface="Calibri"/>
                <a:cs typeface="Calibri"/>
              </a:defRPr>
            </a:defPPr>
          </a:lstStyle>
          <a:p>
            <a:pPr algn="l">
              <a:defRPr sz="1650" b="0">
                <a:solidFill>
                  <a:srgbClr val="FFFFFF"/>
                </a:solidFill>
                <a:latin typeface="Calibri"/>
                <a:ea typeface="Calibri"/>
                <a:cs typeface="Calibri"/>
              </a:defRPr>
            </a:pPr>
            <a:r>
              <a:rPr sz="1400" b="0">
                <a:solidFill>
                  <a:srgbClr val="FFFFFF"/>
                </a:solidFill>
                <a:latin typeface="Calibri"/>
                <a:ea typeface="Calibri"/>
                <a:cs typeface="Calibri"/>
              </a:rPr>
              <a:t>Electron app + local runtime, streaming AI SDK chat (Ollama, OpenAI, Anthropic), verified marketplace installs, Markdown + SQLite memory, approvals that survive restarts, encrypted keys.</a:t>
            </a:r>
          </a:p>
        </p:txBody>
      </p:sp>
    </p:spTree>
  </p:cSld>
  <p:clrMapOvr>
    <a:masterClrMapping/>
  </p:clrMapOvr>
</p:sld>
</file>

<file path=ppt/slides/slide6.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05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FEASIBILITY &amp; VIABILITY</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6</a:t>
            </a:fld>
            <a:endParaRPr lang="en-US"/>
          </a:p>
        </p:txBody>
      </p:sp>
      <p:pic>
        <p:nvPicPr>
          <p:cNvPr id="8" name="Picture 7" descr="Cintel Association (@cintel_association) · Chennai">
            <a:extLst>
              <a:ext uri="{FF2B5EF4-FFF2-40B4-BE49-F238E27FC236}">
                <ns4:creationId id="{B3F9C345-3175-0FC3-774D-B65145684CE2}"/>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40" name="Proposed V1 foundations">
            <a:extLst>
              <a:ext uri="{FF2B5EF4-FFF2-40B4-BE49-F238E27FC236}">
                <ns4:creationId id="{1FE1396B-BE9E-44EB-A726-0204016ADA27}"/>
              </a:ext>
            </a:extLst>
          </p:cNvPr>
          <p:cNvSpPr>
            <a:spLocks noGrp="1"/>
          </p:cNvSpPr>
          <p:nvPr/>
        </p:nvSpPr>
        <p:spPr>
          <a:xfrm>
            <a:off x="990600" y="1876425"/>
            <a:ext cx="4762500" cy="342900"/>
          </a:xfrm>
          <a:prstGeom prst="rect">
            <a:avLst/>
          </a:prstGeom>
          <a:noFill/>
          <a:ln w="0">
            <a:noFill/>
          </a:ln>
        </p:spPr>
        <p:txBody>
          <a:bodyPr lIns="0" tIns="0" rIns="0" bIns="0" anchor="t"/>
          <a:lstStyle>
            <a:defPPr algn="l">
              <a:defRPr sz="2025" b="1">
                <a:solidFill>
                  <a:srgbClr val="00E5FF"/>
                </a:solidFill>
                <a:latin typeface="Calibri"/>
                <a:ea typeface="Calibri"/>
                <a:cs typeface="Calibri"/>
              </a:defRPr>
            </a:defPPr>
          </a:lstStyle>
          <a:p>
            <a:pPr algn="l">
              <a:defRPr sz="2025" b="1">
                <a:solidFill>
                  <a:srgbClr val="00E5FF"/>
                </a:solidFill>
                <a:latin typeface="Calibri"/>
                <a:ea typeface="Calibri"/>
                <a:cs typeface="Calibri"/>
              </a:defRPr>
            </a:pPr>
            <a:r>
              <a:rPr sz="2025" b="1">
                <a:solidFill>
                  <a:srgbClr val="00E5FF"/>
                </a:solidFill>
                <a:latin typeface="Calibri"/>
                <a:ea typeface="Calibri"/>
                <a:cs typeface="Calibri"/>
              </a:rPr>
              <a:t>Built on proven open tech</a:t>
            </a:r>
          </a:p>
        </p:txBody>
      </p:sp>
      <p:sp>
        <p:nvSpPr>
          <p:cNvPr id="127" name="Business model">
            <a:extLst>
              <a:ext uri="{FF2B5EF4-FFF2-40B4-BE49-F238E27FC236}">
                <ns4:creationId id="{14AEC921-CA55-4747-9FDD-286BECF1BC95}"/>
              </a:ext>
            </a:extLst>
          </p:cNvPr>
          <p:cNvSpPr>
            <a:spLocks noGrp="1"/>
          </p:cNvSpPr>
          <p:nvPr/>
        </p:nvSpPr>
        <p:spPr>
          <a:xfrm>
            <a:off x="6267450" y="1876425"/>
            <a:ext cx="4572000" cy="342900"/>
          </a:xfrm>
          <a:prstGeom prst="rect">
            <a:avLst/>
          </a:prstGeom>
          <a:noFill/>
          <a:ln w="0">
            <a:noFill/>
          </a:ln>
        </p:spPr>
        <p:txBody>
          <a:bodyPr lIns="0" tIns="0" rIns="0" bIns="0" anchor="t"/>
          <a:lstStyle>
            <a:defPPr algn="l">
              <a:defRPr sz="2025" b="1">
                <a:solidFill>
                  <a:srgbClr val="00E5FF"/>
                </a:solidFill>
                <a:latin typeface="Calibri"/>
                <a:ea typeface="Calibri"/>
                <a:cs typeface="Calibri"/>
              </a:defRPr>
            </a:defPPr>
          </a:lstStyle>
          <a:p>
            <a:pPr algn="l">
              <a:defRPr sz="2025" b="1">
                <a:solidFill>
                  <a:srgbClr val="00E5FF"/>
                </a:solidFill>
                <a:latin typeface="Calibri"/>
                <a:ea typeface="Calibri"/>
                <a:cs typeface="Calibri"/>
              </a:defRPr>
            </a:pPr>
            <a:r>
              <a:rPr sz="2025" b="1">
                <a:solidFill>
                  <a:srgbClr val="00E5FF"/>
                </a:solidFill>
                <a:latin typeface="Calibri"/>
                <a:ea typeface="Calibri"/>
                <a:cs typeface="Calibri"/>
              </a:rPr>
              <a:t>Business model</a:t>
            </a:r>
          </a:p>
        </p:txBody>
      </p:sp>
      <p:sp>
        <p:nvSpPr>
          <p:cNvPr id="128" name="Shared UI and remote access">
            <a:extLst>
              <a:ext uri="{FF2B5EF4-FFF2-40B4-BE49-F238E27FC236}">
                <ns4:creationId id="{0E705971-B392-4A9E-96BF-544A87F8BDC8}"/>
              </a:ext>
            </a:extLst>
          </p:cNvPr>
          <p:cNvSpPr>
            <a:spLocks noGrp="1"/>
          </p:cNvSpPr>
          <p:nvPr/>
        </p:nvSpPr>
        <p:spPr>
          <a:xfrm>
            <a:off x="990600" y="2400300"/>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Already running</a:t>
            </a:r>
          </a:p>
        </p:txBody>
      </p:sp>
      <p:sp>
        <p:nvSpPr>
          <p:cNvPr id="129" name="React, TypeScript and Vite, with Tailwind/shadcn and Tailsca">
            <a:extLst>
              <a:ext uri="{FF2B5EF4-FFF2-40B4-BE49-F238E27FC236}">
                <ns4:creationId id="{F5E76CE2-AA24-47FE-A6CE-6540FB2F4FD8}"/>
              </a:ext>
            </a:extLst>
          </p:cNvPr>
          <p:cNvSpPr>
            <a:spLocks noGrp="1"/>
          </p:cNvSpPr>
          <p:nvPr/>
        </p:nvSpPr>
        <p:spPr>
          <a:xfrm>
            <a:off x="990600" y="2790825"/>
            <a:ext cx="4533900" cy="742950"/>
          </a:xfrm>
          <a:prstGeom prst="rect">
            <a:avLst/>
          </a:prstGeom>
          <a:noFill/>
          <a:ln w="0">
            <a:noFill/>
          </a:ln>
        </p:spPr>
        <p:txBody>
          <a:bodyPr lIns="0" tIns="0" rIns="0" bIns="0" anchor="t"/>
          <a:lstStyle>
            <a:defPPr algn="l">
              <a:defRPr sz="1650" b="0">
                <a:solidFill>
                  <a:srgbClr val="FFFFFF"/>
                </a:solidFill>
                <a:latin typeface="Calibri"/>
                <a:ea typeface="Calibri"/>
                <a:cs typeface="Calibri"/>
              </a:defRPr>
            </a:defPPr>
          </a:lstStyle>
          <a:p>
            <a:pPr algn="l">
              <a:defRPr sz="1650" b="0">
                <a:solidFill>
                  <a:srgbClr val="FFFFFF"/>
                </a:solidFill>
                <a:latin typeface="Calibri"/>
                <a:ea typeface="Calibri"/>
                <a:cs typeface="Calibri"/>
              </a:defRPr>
            </a:pPr>
            <a:r>
              <a:rPr sz="1650" b="0">
                <a:solidFill>
                  <a:srgbClr val="FFFFFF"/>
                </a:solidFill>
                <a:latin typeface="Calibri"/>
                <a:ea typeface="Calibri"/>
                <a:cs typeface="Calibri"/>
              </a:rPr>
              <a:t>Electron + React app with a local runtime, AI SDK chat, SQLite memory and end-to-end tests.</a:t>
            </a:r>
          </a:p>
        </p:txBody>
      </p:sp>
      <p:sp>
        <p:nvSpPr>
          <p:cNvPr id="130" name="Local execution and tools">
            <a:extLst>
              <a:ext uri="{FF2B5EF4-FFF2-40B4-BE49-F238E27FC236}">
                <ns4:creationId id="{0314870B-40B5-4A6F-B008-811B5C64049D}"/>
              </a:ext>
            </a:extLst>
          </p:cNvPr>
          <p:cNvSpPr>
            <a:spLocks noGrp="1"/>
          </p:cNvSpPr>
          <p:nvPr/>
        </p:nvSpPr>
        <p:spPr>
          <a:xfrm>
            <a:off x="990600" y="345757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Open standards, no lock-in</a:t>
            </a:r>
          </a:p>
        </p:txBody>
      </p:sp>
      <p:sp>
        <p:nvSpPr>
          <p:cNvPr id="131" name="AI SDK, Ollama, SQLite, Playwright and MCP. Validate model/t">
            <a:extLst>
              <a:ext uri="{FF2B5EF4-FFF2-40B4-BE49-F238E27FC236}">
                <ns4:creationId id="{C106F6F6-EAB0-48D9-9691-06045B62A912}"/>
              </a:ext>
            </a:extLst>
          </p:cNvPr>
          <p:cNvSpPr>
            <a:spLocks noGrp="1"/>
          </p:cNvSpPr>
          <p:nvPr/>
        </p:nvSpPr>
        <p:spPr>
          <a:xfrm>
            <a:off x="990600" y="3848100"/>
            <a:ext cx="4533900" cy="742950"/>
          </a:xfrm>
          <a:prstGeom prst="rect">
            <a:avLst/>
          </a:prstGeom>
          <a:noFill/>
          <a:ln w="0">
            <a:noFill/>
          </a:ln>
        </p:spPr>
        <p:txBody>
          <a:bodyPr lIns="0" tIns="0" rIns="0" bIns="0" anchor="t"/>
          <a:lstStyle>
            <a:defPPr algn="l">
              <a:defRPr sz="1650" b="0">
                <a:solidFill>
                  <a:srgbClr val="FFFFFF"/>
                </a:solidFill>
                <a:latin typeface="Calibri"/>
                <a:ea typeface="Calibri"/>
                <a:cs typeface="Calibri"/>
              </a:defRPr>
            </a:defPPr>
          </a:lstStyle>
          <a:p>
            <a:pPr algn="l">
              <a:defRPr sz="1650" b="0">
                <a:solidFill>
                  <a:srgbClr val="FFFFFF"/>
                </a:solidFill>
                <a:latin typeface="Calibri"/>
                <a:ea typeface="Calibri"/>
                <a:cs typeface="Calibri"/>
              </a:defRPr>
            </a:pPr>
            <a:r>
              <a:rPr sz="1650" b="0">
                <a:solidFill>
                  <a:srgbClr val="FFFFFF"/>
                </a:solidFill>
                <a:latin typeface="Calibri"/>
                <a:ea typeface="Calibri"/>
                <a:cs typeface="Calibri"/>
              </a:rPr>
              <a:t>MCP connectors, Agent Skills (SKILL.md), Ollama for local models, Tailscale for the phone.</a:t>
            </a:r>
          </a:p>
        </p:txBody>
      </p:sp>
      <p:sp>
        <p:nvSpPr>
          <p:cNvPr id="132" name="Candidates to evaluate">
            <a:extLst>
              <a:ext uri="{FF2B5EF4-FFF2-40B4-BE49-F238E27FC236}">
                <ns4:creationId id="{D5E3B59C-9487-4802-8F6C-0BCBC06AB372}"/>
              </a:ext>
            </a:extLst>
          </p:cNvPr>
          <p:cNvSpPr>
            <a:spLocks noGrp="1"/>
          </p:cNvSpPr>
          <p:nvPr/>
        </p:nvSpPr>
        <p:spPr>
          <a:xfrm>
            <a:off x="990600" y="4514850"/>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Demand is proven</a:t>
            </a:r>
          </a:p>
        </p:txBody>
      </p:sp>
      <p:sp>
        <p:nvSpPr>
          <p:cNvPr id="133" name="Eve for runtime, Supermemory local for memory, Electron/Forg">
            <a:extLst>
              <a:ext uri="{FF2B5EF4-FFF2-40B4-BE49-F238E27FC236}">
                <ns4:creationId id="{2F795D3C-A78C-4CC8-A657-80D083AF5B37}"/>
              </a:ext>
            </a:extLst>
          </p:cNvPr>
          <p:cNvSpPr>
            <a:spLocks noGrp="1"/>
          </p:cNvSpPr>
          <p:nvPr/>
        </p:nvSpPr>
        <p:spPr>
          <a:xfrm>
            <a:off x="990600" y="4905375"/>
            <a:ext cx="4533900" cy="742950"/>
          </a:xfrm>
          <a:prstGeom prst="rect">
            <a:avLst/>
          </a:prstGeom>
          <a:noFill/>
          <a:ln w="0">
            <a:noFill/>
          </a:ln>
        </p:spPr>
        <p:txBody>
          <a:bodyPr lIns="0" tIns="0" rIns="0" bIns="0" anchor="t"/>
          <a:lstStyle>
            <a:defPPr algn="l">
              <a:defRPr sz="1650" b="0">
                <a:solidFill>
                  <a:srgbClr val="FFFFFF"/>
                </a:solidFill>
                <a:latin typeface="Calibri"/>
                <a:ea typeface="Calibri"/>
                <a:cs typeface="Calibri"/>
              </a:defRPr>
            </a:defPPr>
          </a:lstStyle>
          <a:p>
            <a:pPr algn="l">
              <a:defRPr sz="1650" b="0">
                <a:solidFill>
                  <a:srgbClr val="FFFFFF"/>
                </a:solidFill>
                <a:latin typeface="Calibri"/>
                <a:ea typeface="Calibri"/>
                <a:cs typeface="Calibri"/>
              </a:defRPr>
            </a:pPr>
            <a:r>
              <a:rPr sz="1650" b="0">
                <a:solidFill>
                  <a:srgbClr val="FFFFFF"/>
                </a:solidFill>
                <a:latin typeface="Calibri"/>
                <a:ea typeface="Calibri"/>
                <a:cs typeface="Calibri"/>
              </a:rPr>
              <a:t>Open agents like OpenClaw and Hermes Agent have huge followings. None is India-first.</a:t>
            </a:r>
          </a:p>
        </p:txBody>
      </p:sp>
      <p:sp>
        <p:nvSpPr>
          <p:cNvPr id="134" name="Free, open-source core">
            <a:extLst>
              <a:ext uri="{FF2B5EF4-FFF2-40B4-BE49-F238E27FC236}">
                <ns4:creationId id="{690C705D-A8E2-46B6-A9E2-4CF8630A722B}"/>
              </a:ext>
            </a:extLst>
          </p:cNvPr>
          <p:cNvSpPr>
            <a:spLocks noGrp="1"/>
          </p:cNvSpPr>
          <p:nvPr/>
        </p:nvSpPr>
        <p:spPr>
          <a:xfrm>
            <a:off x="6267450" y="2400300"/>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Free, open-source core</a:t>
            </a:r>
          </a:p>
        </p:txBody>
      </p:sp>
      <p:sp>
        <p:nvSpPr>
          <p:cNvPr id="135" name="Proposed revenue: paid-skill commission, optional INR cloud ">
            <a:extLst>
              <a:ext uri="{FF2B5EF4-FFF2-40B4-BE49-F238E27FC236}">
                <ns4:creationId id="{B7217614-6AE4-4D6D-A6D0-F50CB68DADBC}"/>
              </a:ext>
            </a:extLst>
          </p:cNvPr>
          <p:cNvSpPr>
            <a:spLocks noGrp="1"/>
          </p:cNvSpPr>
          <p:nvPr/>
        </p:nvSpPr>
        <p:spPr>
          <a:xfrm>
            <a:off x="6267450" y="2790825"/>
            <a:ext cx="4533900" cy="742950"/>
          </a:xfrm>
          <a:prstGeom prst="rect">
            <a:avLst/>
          </a:prstGeom>
          <a:noFill/>
          <a:ln w="0">
            <a:noFill/>
          </a:ln>
        </p:spPr>
        <p:txBody>
          <a:bodyPr lIns="0" tIns="0" rIns="0" bIns="0" anchor="t"/>
          <a:lstStyle>
            <a:defPPr algn="l">
              <a:defRPr sz="1650" b="0">
                <a:solidFill>
                  <a:srgbClr val="FFFFFF"/>
                </a:solidFill>
                <a:latin typeface="Calibri"/>
                <a:ea typeface="Calibri"/>
                <a:cs typeface="Calibri"/>
              </a:defRPr>
            </a:defPPr>
          </a:lstStyle>
          <a:p>
            <a:pPr algn="l">
              <a:defRPr sz="1650" b="0">
                <a:solidFill>
                  <a:srgbClr val="FFFFFF"/>
                </a:solidFill>
                <a:latin typeface="Calibri"/>
                <a:ea typeface="Calibri"/>
                <a:cs typeface="Calibri"/>
              </a:defRPr>
            </a:pPr>
            <a:r>
              <a:rPr sz="1650" b="0">
                <a:solidFill>
                  <a:srgbClr val="FFFFFF"/>
                </a:solidFill>
                <a:latin typeface="Calibri"/>
                <a:ea typeface="Calibri"/>
                <a:cs typeface="Calibri"/>
              </a:rPr>
              <a:t>Earn from paid-skill commissions, rupee cloud plans and team plans for colleges and SMBs.</a:t>
            </a:r>
          </a:p>
        </p:txBody>
      </p:sp>
      <p:sp>
        <p:nvSpPr>
          <p:cNvPr id="136" name="Feasibility checks">
            <a:extLst>
              <a:ext uri="{FF2B5EF4-FFF2-40B4-BE49-F238E27FC236}">
                <ns4:creationId id="{9EF7F5F3-9AC2-4464-9A9B-0F27B6E8B2F9}"/>
              </a:ext>
            </a:extLst>
          </p:cNvPr>
          <p:cNvSpPr>
            <a:spLocks noGrp="1"/>
          </p:cNvSpPr>
          <p:nvPr/>
        </p:nvSpPr>
        <p:spPr>
          <a:xfrm>
            <a:off x="6267450" y="368617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Risks we've planned for</a:t>
            </a:r>
          </a:p>
        </p:txBody>
      </p:sp>
      <p:sp>
        <p:nvSpPr>
          <p:cNvPr id="137" name="Laptop awake and connected, local hardware capacity, reliabl">
            <a:extLst>
              <a:ext uri="{FF2B5EF4-FFF2-40B4-BE49-F238E27FC236}">
                <ns4:creationId id="{5CE1D511-2C70-4C17-9998-635501381B1F}"/>
              </a:ext>
            </a:extLst>
          </p:cNvPr>
          <p:cNvSpPr>
            <a:spLocks noGrp="1"/>
          </p:cNvSpPr>
          <p:nvPr/>
        </p:nvSpPr>
        <p:spPr>
          <a:xfrm>
            <a:off x="6267450" y="4076700"/>
            <a:ext cx="4533900" cy="742950"/>
          </a:xfrm>
          <a:prstGeom prst="rect">
            <a:avLst/>
          </a:prstGeom>
          <a:noFill/>
          <a:ln w="0">
            <a:noFill/>
          </a:ln>
        </p:spPr>
        <p:txBody>
          <a:bodyPr lIns="0" tIns="0" rIns="0" bIns="0" anchor="t"/>
          <a:lstStyle>
            <a:defPPr algn="l">
              <a:defRPr sz="1650" b="0">
                <a:solidFill>
                  <a:srgbClr val="FFFFFF"/>
                </a:solidFill>
                <a:latin typeface="Calibri"/>
                <a:ea typeface="Calibri"/>
                <a:cs typeface="Calibri"/>
              </a:defRPr>
            </a:defPPr>
          </a:lstStyle>
          <a:p>
            <a:pPr algn="l">
              <a:defRPr sz="1650" b="0">
                <a:solidFill>
                  <a:srgbClr val="FFFFFF"/>
                </a:solidFill>
                <a:latin typeface="Calibri"/>
                <a:ea typeface="Calibri"/>
                <a:cs typeface="Calibri"/>
              </a:defRPr>
            </a:pPr>
            <a:r>
              <a:rPr sz="1650" b="0">
                <a:solidFill>
                  <a:srgbClr val="FFFFFF"/>
                </a:solidFill>
                <a:latin typeface="Calibri"/>
                <a:ea typeface="Calibri"/>
                <a:cs typeface="Calibri"/>
              </a:rPr>
              <a:t>Laptop asleep: jobs pause (cloud option later). Data stays local, ready for DPDP rules (May 2027).</a:t>
            </a:r>
          </a:p>
        </p:txBody>
      </p:sp>
      <p:sp>
        <p:nvSpPr>
          <p:cNvPr id="138" name="MVP DEMO">
            <a:extLst>
              <a:ext uri="{FF2B5EF4-FFF2-40B4-BE49-F238E27FC236}">
                <ns4:creationId id="{21279B2B-DB9F-4919-8A02-9DFEAD9DFBA5}"/>
              </a:ext>
            </a:extLst>
          </p:cNvPr>
          <p:cNvSpPr>
            <a:spLocks noGrp="1"/>
          </p:cNvSpPr>
          <p:nvPr/>
        </p:nvSpPr>
        <p:spPr>
          <a:xfrm>
            <a:off x="6267450" y="4991100"/>
            <a:ext cx="1428750" cy="228600"/>
          </a:xfrm>
          <a:prstGeom prst="rect">
            <a:avLst/>
          </a:prstGeom>
          <a:noFill/>
          <a:ln w="0">
            <a:noFill/>
          </a:ln>
        </p:spPr>
        <p:txBody>
          <a:bodyPr lIns="0" tIns="0" rIns="0" bIns="0" anchor="t"/>
          <a:lstStyle>
            <a:defPPr algn="l">
              <a:defRPr sz="1350" b="1">
                <a:solidFill>
                  <a:srgbClr val="FF2BD6"/>
                </a:solidFill>
                <a:latin typeface="Calibri"/>
                <a:ea typeface="Calibri"/>
                <a:cs typeface="Calibri"/>
              </a:defRPr>
            </a:defPPr>
          </a:lstStyle>
          <a:p>
            <a:pPr algn="l">
              <a:defRPr sz="1350" b="1">
                <a:solidFill>
                  <a:srgbClr val="FF2BD6"/>
                </a:solidFill>
                <a:latin typeface="Calibri"/>
                <a:ea typeface="Calibri"/>
                <a:cs typeface="Calibri"/>
              </a:defRPr>
            </a:pPr>
            <a:r>
              <a:rPr sz="1350" b="1">
                <a:solidFill>
                  <a:srgbClr val="FF2BD6"/>
                </a:solidFill>
                <a:latin typeface="Calibri"/>
                <a:ea typeface="Calibri"/>
                <a:cs typeface="Calibri"/>
              </a:rPr>
              <a:t>DEMO</a:t>
            </a:r>
          </a:p>
        </p:txBody>
      </p:sp>
      <p:sp>
        <p:nvSpPr>
          <p:cNvPr id="139" name="Phone request, local PDF summary, a deadline reminder and a ">
            <a:extLst>
              <a:ext uri="{FF2B5EF4-FFF2-40B4-BE49-F238E27FC236}">
                <ns4:creationId id="{7006354F-463A-4832-B90F-30ECC740F29C}"/>
              </a:ext>
            </a:extLst>
          </p:cNvPr>
          <p:cNvSpPr>
            <a:spLocks noGrp="1"/>
          </p:cNvSpPr>
          <p:nvPr/>
        </p:nvSpPr>
        <p:spPr>
          <a:xfrm>
            <a:off x="6267450" y="5295900"/>
            <a:ext cx="4572000" cy="590550"/>
          </a:xfrm>
          <a:prstGeom prst="rect">
            <a:avLst/>
          </a:prstGeom>
          <a:noFill/>
          <a:ln w="0">
            <a:noFill/>
          </a:ln>
        </p:spPr>
        <p:txBody>
          <a:bodyPr lIns="0" tIns="0" rIns="0" bIns="0" anchor="t"/>
          <a:lstStyle>
            <a:defPPr algn="l">
              <a:defRPr sz="1650" b="0">
                <a:solidFill>
                  <a:srgbClr val="FFFFFF"/>
                </a:solidFill>
                <a:latin typeface="Calibri"/>
                <a:ea typeface="Calibri"/>
                <a:cs typeface="Calibri"/>
              </a:defRPr>
            </a:defPPr>
          </a:lstStyle>
          <a:p>
            <a:pPr algn="l">
              <a:defRPr sz="1650" b="0">
                <a:solidFill>
                  <a:srgbClr val="FFFFFF"/>
                </a:solidFill>
                <a:latin typeface="Calibri"/>
                <a:ea typeface="Calibri"/>
                <a:cs typeface="Calibri"/>
              </a:defRPr>
            </a:pPr>
            <a:r>
              <a:rPr sz="1650" b="0">
                <a:solidFill>
                  <a:srgbClr val="FFFFFF"/>
                </a:solidFill>
                <a:latin typeface="Calibri"/>
                <a:ea typeface="Calibri"/>
                <a:cs typeface="Calibri"/>
              </a:rPr>
              <a:t>Attach notes, get a summary, save it to memory, then switch from Ollama to a cloud model live.</a:t>
            </a:r>
          </a:p>
        </p:txBody>
      </p:sp>
    </p:spTree>
  </p:cSld>
  <p:clrMapOvr>
    <a:masterClrMapping/>
  </p:clrMapOvr>
</p:sld>
</file>

<file path=ppt/slides/slide7.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06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IMPACT &amp; BENEFITS</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7</a:t>
            </a:fld>
            <a:endParaRPr lang="en-US"/>
          </a:p>
        </p:txBody>
      </p:sp>
      <p:pic>
        <p:nvPicPr>
          <p:cNvPr id="8" name="Picture 7" descr="Cintel Association (@cintel_association) · Chennai">
            <a:extLst>
              <a:ext uri="{FF2B5EF4-FFF2-40B4-BE49-F238E27FC236}">
                <ns4:creationId id="{4C292BB1-9370-B915-6759-5A0E082E6DBA}"/>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37" name="Expected benefits for users and skill creators">
            <a:extLst>
              <a:ext uri="{FF2B5EF4-FFF2-40B4-BE49-F238E27FC236}">
                <ns4:creationId id="{44833566-499C-47E3-84F0-0BA64E21FA9B}"/>
              </a:ext>
            </a:extLst>
          </p:cNvPr>
          <p:cNvSpPr>
            <a:spLocks noGrp="1"/>
          </p:cNvSpPr>
          <p:nvPr/>
        </p:nvSpPr>
        <p:spPr>
          <a:xfrm>
            <a:off x="990600" y="1876425"/>
            <a:ext cx="10096500" cy="419100"/>
          </a:xfrm>
          <a:prstGeom prst="rect">
            <a:avLst/>
          </a:prstGeom>
          <a:noFill/>
          <a:ln w="0">
            <a:noFill/>
          </a:ln>
        </p:spPr>
        <p:txBody>
          <a:bodyPr lIns="0" tIns="0" rIns="0" bIns="0" anchor="t"/>
          <a:lstStyle>
            <a:defPPr algn="l">
              <a:defRPr sz="2325" b="1">
                <a:solidFill>
                  <a:srgbClr val="FFFFFF"/>
                </a:solidFill>
                <a:latin typeface="Calibri"/>
                <a:ea typeface="Calibri"/>
                <a:cs typeface="Calibri"/>
              </a:defRPr>
            </a:defPPr>
          </a:lstStyle>
          <a:p>
            <a:pPr algn="l">
              <a:defRPr sz="2325" b="1">
                <a:solidFill>
                  <a:srgbClr val="FFFFFF"/>
                </a:solidFill>
                <a:latin typeface="Calibri"/>
                <a:ea typeface="Calibri"/>
                <a:cs typeface="Calibri"/>
              </a:defRPr>
            </a:pPr>
            <a:r>
              <a:rPr sz="2325" b="1">
                <a:solidFill>
                  <a:srgbClr val="FFFFFF"/>
                </a:solidFill>
                <a:latin typeface="Calibri"/>
                <a:ea typeface="Calibri"/>
                <a:cs typeface="Calibri"/>
              </a:rPr>
              <a:t>Who wins, and how Socius scales</a:t>
            </a:r>
          </a:p>
        </p:txBody>
      </p:sp>
      <p:sp>
        <p:nvSpPr>
          <p:cNvPr id="127" name="Students">
            <a:extLst>
              <a:ext uri="{FF2B5EF4-FFF2-40B4-BE49-F238E27FC236}">
                <ns4:creationId id="{EE3D01F6-8D95-4914-BA32-D8C9985B3AA4}"/>
              </a:ext>
            </a:extLst>
          </p:cNvPr>
          <p:cNvSpPr>
            <a:spLocks noGrp="1"/>
          </p:cNvSpPr>
          <p:nvPr/>
        </p:nvSpPr>
        <p:spPr>
          <a:xfrm>
            <a:off x="990600" y="2590800"/>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Students</a:t>
            </a:r>
          </a:p>
        </p:txBody>
      </p:sp>
      <p:sp>
        <p:nvSpPr>
          <p:cNvPr id="128" name="Collect deadlines, summarise study files and reduce repeat w">
            <a:extLst>
              <a:ext uri="{FF2B5EF4-FFF2-40B4-BE49-F238E27FC236}">
                <ns4:creationId id="{6890A10C-7DF5-49EE-AD8B-76CC1AD2BA5A}"/>
              </a:ext>
            </a:extLst>
          </p:cNvPr>
          <p:cNvSpPr>
            <a:spLocks noGrp="1"/>
          </p:cNvSpPr>
          <p:nvPr/>
        </p:nvSpPr>
        <p:spPr>
          <a:xfrm>
            <a:off x="990600" y="2981325"/>
            <a:ext cx="4533900" cy="742950"/>
          </a:xfrm>
          <a:prstGeom prst="rect">
            <a:avLst/>
          </a:prstGeom>
          <a:noFill/>
          <a:ln w="0">
            <a:noFill/>
          </a:ln>
        </p:spPr>
        <p:txBody>
          <a:bodyPr lIns="0" tIns="0" rIns="0" bIns="0" anchor="t"/>
          <a:lstStyle>
            <a:defPPr algn="l">
              <a:defRPr sz="1800" b="0">
                <a:solidFill>
                  <a:srgbClr val="FFFFFF"/>
                </a:solidFill>
                <a:latin typeface="Calibri"/>
                <a:ea typeface="Calibri"/>
                <a:cs typeface="Calibri"/>
              </a:defRPr>
            </a:defPPr>
          </a:lstStyle>
          <a:p>
            <a:pPr algn="l">
              <a:defRPr sz="1800" b="0">
                <a:solidFill>
                  <a:srgbClr val="FFFFFF"/>
                </a:solidFill>
                <a:latin typeface="Calibri"/>
                <a:ea typeface="Calibri"/>
                <a:cs typeface="Calibri"/>
              </a:defRPr>
            </a:pPr>
            <a:r>
              <a:rPr sz="1800" b="0">
                <a:solidFill>
                  <a:srgbClr val="FFFFFF"/>
                </a:solidFill>
                <a:latin typeface="Calibri"/>
                <a:ea typeface="Calibri"/>
                <a:cs typeface="Calibri"/>
              </a:rPr>
              <a:t>College-portal deadlines tracked, notes summarised, all free on a local model.</a:t>
            </a:r>
          </a:p>
        </p:txBody>
      </p:sp>
      <p:sp>
        <p:nvSpPr>
          <p:cNvPr id="129" name="Freelancers">
            <a:extLst>
              <a:ext uri="{FF2B5EF4-FFF2-40B4-BE49-F238E27FC236}">
                <ns4:creationId id="{D1D1C49B-AD3E-40A3-8FB2-5BA05DBFAF74}"/>
              </a:ext>
            </a:extLst>
          </p:cNvPr>
          <p:cNvSpPr>
            <a:spLocks noGrp="1"/>
          </p:cNvSpPr>
          <p:nvPr/>
        </p:nvSpPr>
        <p:spPr>
          <a:xfrm>
            <a:off x="6267450" y="2590800"/>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Freelancers</a:t>
            </a:r>
          </a:p>
        </p:txBody>
      </p:sp>
      <p:sp>
        <p:nvSpPr>
          <p:cNvPr id="130" name="Prepare research, draft replies in their own voice and track">
            <a:extLst>
              <a:ext uri="{FF2B5EF4-FFF2-40B4-BE49-F238E27FC236}">
                <ns4:creationId id="{80E958F7-158D-4555-A03A-B56FF98DE6FE}"/>
              </a:ext>
            </a:extLst>
          </p:cNvPr>
          <p:cNvSpPr>
            <a:spLocks noGrp="1"/>
          </p:cNvSpPr>
          <p:nvPr/>
        </p:nvSpPr>
        <p:spPr>
          <a:xfrm>
            <a:off x="6267450" y="2981325"/>
            <a:ext cx="4533900" cy="742950"/>
          </a:xfrm>
          <a:prstGeom prst="rect">
            <a:avLst/>
          </a:prstGeom>
          <a:noFill/>
          <a:ln w="0">
            <a:noFill/>
          </a:ln>
        </p:spPr>
        <p:txBody>
          <a:bodyPr lIns="0" tIns="0" rIns="0" bIns="0" anchor="t"/>
          <a:lstStyle>
            <a:defPPr algn="l">
              <a:defRPr sz="1800" b="0">
                <a:solidFill>
                  <a:srgbClr val="FFFFFF"/>
                </a:solidFill>
                <a:latin typeface="Calibri"/>
                <a:ea typeface="Calibri"/>
                <a:cs typeface="Calibri"/>
              </a:defRPr>
            </a:defPPr>
          </a:lstStyle>
          <a:p>
            <a:pPr algn="l">
              <a:defRPr sz="1800" b="0">
                <a:solidFill>
                  <a:srgbClr val="FFFFFF"/>
                </a:solidFill>
                <a:latin typeface="Calibri"/>
                <a:ea typeface="Calibri"/>
                <a:cs typeface="Calibri"/>
              </a:defRPr>
            </a:pPr>
            <a:r>
              <a:rPr sz="1800" b="0">
                <a:solidFill>
                  <a:srgbClr val="FFFFFF"/>
                </a:solidFill>
                <a:latin typeface="Calibri"/>
                <a:ea typeface="Calibri"/>
                <a:cs typeface="Calibri"/>
              </a:rPr>
              <a:t>Research, client follow-ups and replies drafted in their own voice.</a:t>
            </a:r>
          </a:p>
        </p:txBody>
      </p:sp>
      <p:sp>
        <p:nvSpPr>
          <p:cNvPr id="131" name="Small businesses">
            <a:extLst>
              <a:ext uri="{FF2B5EF4-FFF2-40B4-BE49-F238E27FC236}">
                <ns4:creationId id="{6F098AAB-B681-4A10-98A1-EB119D5340ED}"/>
              </a:ext>
            </a:extLst>
          </p:cNvPr>
          <p:cNvSpPr>
            <a:spLocks noGrp="1"/>
          </p:cNvSpPr>
          <p:nvPr/>
        </p:nvSpPr>
        <p:spPr>
          <a:xfrm>
            <a:off x="990600" y="397192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Small businesses</a:t>
            </a:r>
          </a:p>
        </p:txBody>
      </p:sp>
      <p:sp>
        <p:nvSpPr>
          <p:cNvPr id="132" name="Reuse routines for inbox and document administration, with a">
            <a:extLst>
              <a:ext uri="{FF2B5EF4-FFF2-40B4-BE49-F238E27FC236}">
                <ns4:creationId id="{EDC27646-4664-46F0-B30C-25326208FEF9}"/>
              </a:ext>
            </a:extLst>
          </p:cNvPr>
          <p:cNvSpPr>
            <a:spLocks noGrp="1"/>
          </p:cNvSpPr>
          <p:nvPr/>
        </p:nvSpPr>
        <p:spPr>
          <a:xfrm>
            <a:off x="990600" y="4362450"/>
            <a:ext cx="4533900" cy="742950"/>
          </a:xfrm>
          <a:prstGeom prst="rect">
            <a:avLst/>
          </a:prstGeom>
          <a:noFill/>
          <a:ln w="0">
            <a:noFill/>
          </a:ln>
        </p:spPr>
        <p:txBody>
          <a:bodyPr lIns="0" tIns="0" rIns="0" bIns="0" anchor="t"/>
          <a:lstStyle>
            <a:defPPr algn="l">
              <a:defRPr sz="1800" b="0">
                <a:solidFill>
                  <a:srgbClr val="FFFFFF"/>
                </a:solidFill>
                <a:latin typeface="Calibri"/>
                <a:ea typeface="Calibri"/>
                <a:cs typeface="Calibri"/>
              </a:defRPr>
            </a:defPPr>
          </a:lstStyle>
          <a:p>
            <a:pPr algn="l">
              <a:defRPr sz="1800" b="0">
                <a:solidFill>
                  <a:srgbClr val="FFFFFF"/>
                </a:solidFill>
                <a:latin typeface="Calibri"/>
                <a:ea typeface="Calibri"/>
                <a:cs typeface="Calibri"/>
              </a:defRPr>
            </a:pPr>
            <a:r>
              <a:rPr sz="1800" b="0">
                <a:solidFill>
                  <a:srgbClr val="FFFFFF"/>
                </a:solidFill>
                <a:latin typeface="Calibri"/>
                <a:ea typeface="Calibri"/>
                <a:cs typeface="Calibri"/>
              </a:rPr>
              <a:t>GST reminders, inbox and invoices handled, with approval before anything goes out.</a:t>
            </a:r>
          </a:p>
        </p:txBody>
      </p:sp>
      <p:sp>
        <p:nvSpPr>
          <p:cNvPr id="133" name="Developers">
            <a:extLst>
              <a:ext uri="{FF2B5EF4-FFF2-40B4-BE49-F238E27FC236}">
                <ns4:creationId id="{6C951C5E-264D-43B4-89F1-C54201C23B02}"/>
              </a:ext>
            </a:extLst>
          </p:cNvPr>
          <p:cNvSpPr>
            <a:spLocks noGrp="1"/>
          </p:cNvSpPr>
          <p:nvPr/>
        </p:nvSpPr>
        <p:spPr>
          <a:xfrm>
            <a:off x="6267450" y="3971925"/>
            <a:ext cx="4533900" cy="342900"/>
          </a:xfrm>
          <a:prstGeom prst="rect">
            <a:avLst/>
          </a:prstGeom>
          <a:noFill/>
          <a:ln w="0">
            <a:noFill/>
          </a:ln>
        </p:spPr>
        <p:txBody>
          <a:bodyPr lIns="0" tIns="0" rIns="0" bIns="0" anchor="t"/>
          <a:lstStyle>
            <a:defPPr algn="l">
              <a:defRPr sz="1950" b="1">
                <a:solidFill>
                  <a:srgbClr val="00E5FF"/>
                </a:solidFill>
                <a:latin typeface="Calibri"/>
                <a:ea typeface="Calibri"/>
                <a:cs typeface="Calibri"/>
              </a:defRPr>
            </a:defPPr>
          </a:lstStyle>
          <a:p>
            <a:pPr algn="l">
              <a:defRPr sz="1950" b="1">
                <a:solidFill>
                  <a:srgbClr val="00E5FF"/>
                </a:solidFill>
                <a:latin typeface="Calibri"/>
                <a:ea typeface="Calibri"/>
                <a:cs typeface="Calibri"/>
              </a:defRPr>
            </a:pPr>
            <a:r>
              <a:rPr sz="1950" b="1">
                <a:solidFill>
                  <a:srgbClr val="00E5FF"/>
                </a:solidFill>
                <a:latin typeface="Calibri"/>
                <a:ea typeface="Calibri"/>
                <a:cs typeface="Calibri"/>
              </a:rPr>
              <a:t>Developers</a:t>
            </a:r>
          </a:p>
        </p:txBody>
      </p:sp>
      <p:sp>
        <p:nvSpPr>
          <p:cNvPr id="134" name="Build, publish and maintain reusable skills that address loc">
            <a:extLst>
              <a:ext uri="{FF2B5EF4-FFF2-40B4-BE49-F238E27FC236}">
                <ns4:creationId id="{1C23D697-201C-45B2-9DA3-BCF53FD1BFA3}"/>
              </a:ext>
            </a:extLst>
          </p:cNvPr>
          <p:cNvSpPr>
            <a:spLocks noGrp="1"/>
          </p:cNvSpPr>
          <p:nvPr/>
        </p:nvSpPr>
        <p:spPr>
          <a:xfrm>
            <a:off x="6267450" y="4362450"/>
            <a:ext cx="4533900" cy="742950"/>
          </a:xfrm>
          <a:prstGeom prst="rect">
            <a:avLst/>
          </a:prstGeom>
          <a:noFill/>
          <a:ln w="0">
            <a:noFill/>
          </a:ln>
        </p:spPr>
        <p:txBody>
          <a:bodyPr lIns="0" tIns="0" rIns="0" bIns="0" anchor="t"/>
          <a:lstStyle>
            <a:defPPr algn="l">
              <a:defRPr sz="1800" b="0">
                <a:solidFill>
                  <a:srgbClr val="FFFFFF"/>
                </a:solidFill>
                <a:latin typeface="Calibri"/>
                <a:ea typeface="Calibri"/>
                <a:cs typeface="Calibri"/>
              </a:defRPr>
            </a:defPPr>
          </a:lstStyle>
          <a:p>
            <a:pPr algn="l">
              <a:defRPr sz="1800" b="0">
                <a:solidFill>
                  <a:srgbClr val="FFFFFF"/>
                </a:solidFill>
                <a:latin typeface="Calibri"/>
                <a:ea typeface="Calibri"/>
                <a:cs typeface="Calibri"/>
              </a:defRPr>
            </a:pPr>
            <a:r>
              <a:rPr sz="1800" b="0">
                <a:solidFill>
                  <a:srgbClr val="FFFFFF"/>
                </a:solidFill>
                <a:latin typeface="Calibri"/>
                <a:ea typeface="Calibri"/>
                <a:cs typeface="Calibri"/>
              </a:rPr>
              <a:t>India has the most open-source contributors on GitHub. Here, they earn from skills.</a:t>
            </a:r>
          </a:p>
        </p:txBody>
      </p:sp>
      <p:sp>
        <p:nvSpPr>
          <p:cNvPr id="135" name="PILOT MEASURES">
            <a:extLst>
              <a:ext uri="{FF2B5EF4-FFF2-40B4-BE49-F238E27FC236}">
                <ns4:creationId id="{D6ACB5C8-67DE-44D1-AF2C-FA69846D8F81}"/>
              </a:ext>
            </a:extLst>
          </p:cNvPr>
          <p:cNvSpPr>
            <a:spLocks noGrp="1"/>
          </p:cNvSpPr>
          <p:nvPr/>
        </p:nvSpPr>
        <p:spPr>
          <a:xfrm>
            <a:off x="990600" y="5505450"/>
            <a:ext cx="2190750" cy="238125"/>
          </a:xfrm>
          <a:prstGeom prst="rect">
            <a:avLst/>
          </a:prstGeom>
          <a:noFill/>
          <a:ln w="0">
            <a:noFill/>
          </a:ln>
        </p:spPr>
        <p:txBody>
          <a:bodyPr lIns="0" tIns="0" rIns="0" bIns="0" anchor="t"/>
          <a:lstStyle>
            <a:defPPr algn="l">
              <a:defRPr sz="1350" b="1">
                <a:solidFill>
                  <a:srgbClr val="FF2BD6"/>
                </a:solidFill>
                <a:latin typeface="Calibri"/>
                <a:ea typeface="Calibri"/>
                <a:cs typeface="Calibri"/>
              </a:defRPr>
            </a:defPPr>
          </a:lstStyle>
          <a:p>
            <a:pPr algn="l">
              <a:defRPr sz="1350" b="1">
                <a:solidFill>
                  <a:srgbClr val="FF2BD6"/>
                </a:solidFill>
                <a:latin typeface="Calibri"/>
                <a:ea typeface="Calibri"/>
                <a:cs typeface="Calibri"/>
              </a:defRPr>
            </a:pPr>
            <a:r>
              <a:rPr sz="1350" b="1">
                <a:solidFill>
                  <a:srgbClr val="FF2BD6"/>
                </a:solidFill>
                <a:latin typeface="Calibri"/>
                <a:ea typeface="Calibri"/>
                <a:cs typeface="Calibri"/>
              </a:rPr>
              <a:t>HOW IT SCALES</a:t>
            </a:r>
          </a:p>
        </p:txBody>
      </p:sp>
      <p:sp>
        <p:nvSpPr>
          <p:cNvPr id="136" name="Task completion, time saved, repeat use and correct approval">
            <a:extLst>
              <a:ext uri="{FF2B5EF4-FFF2-40B4-BE49-F238E27FC236}">
                <ns4:creationId id="{71984B46-F184-4DCF-91B1-4263458C2F47}"/>
              </a:ext>
            </a:extLst>
          </p:cNvPr>
          <p:cNvSpPr>
            <a:spLocks noGrp="1"/>
          </p:cNvSpPr>
          <p:nvPr/>
        </p:nvSpPr>
        <p:spPr>
          <a:xfrm>
            <a:off x="990600" y="5791200"/>
            <a:ext cx="10096500" cy="266700"/>
          </a:xfrm>
          <a:prstGeom prst="rect">
            <a:avLst/>
          </a:prstGeom>
          <a:noFill/>
          <a:ln w="0">
            <a:noFill/>
          </a:ln>
        </p:spPr>
        <p:txBody>
          <a:bodyPr lIns="0" tIns="0" rIns="0" bIns="0" anchor="t"/>
          <a:lstStyle>
            <a:defPPr algn="l">
              <a:defRPr sz="1725" b="1">
                <a:solidFill>
                  <a:srgbClr val="00E5FF"/>
                </a:solidFill>
                <a:latin typeface="Calibri"/>
                <a:ea typeface="Calibri"/>
                <a:cs typeface="Calibri"/>
              </a:defRPr>
            </a:defPPr>
          </a:lstStyle>
          <a:p>
            <a:pPr algn="l">
              <a:defRPr sz="1725" b="1">
                <a:solidFill>
                  <a:srgbClr val="00E5FF"/>
                </a:solidFill>
                <a:latin typeface="Calibri"/>
                <a:ea typeface="Calibri"/>
                <a:cs typeface="Calibri"/>
              </a:defRPr>
            </a:pPr>
            <a:r>
              <a:rPr sz="1725" b="1">
                <a:solidFill>
                  <a:srgbClr val="00E5FF"/>
                </a:solidFill>
                <a:latin typeface="Calibri"/>
                <a:ea typeface="Calibri"/>
                <a:cs typeface="Calibri"/>
              </a:rPr>
              <a:t>Each skill a developer publishes works for every user; the community sets the ceiling.</a:t>
            </a:r>
          </a:p>
        </p:txBody>
      </p:sp>
    </p:spTree>
  </p:cSld>
  <p:clrMapOvr>
    <a:masterClrMapping/>
  </p:clrMapOvr>
</p:sld>
</file>

<file path=ppt/theme/theme1.xml><?xml version="1.0" encoding="utf-8"?>
<a:theme xmlns:a="http://schemas.openxmlformats.org/drawingml/2006/main" name="CINTEL Neon">
  <a:themeElements>
    <a:clrScheme name="CINTEL Neon">
      <a:dk1>
        <a:srgbClr val="FFFFFF"/>
      </a:dk1>
      <a:lt1>
        <a:srgbClr val="05060B"/>
      </a:lt1>
      <a:dk2>
        <a:srgbClr val="AEB6CC"/>
      </a:dk2>
      <a:lt2>
        <a:srgbClr val="0B1020"/>
      </a:lt2>
      <a:accent1>
        <a:srgbClr val="00E5FF"/>
      </a:accent1>
      <a:accent2>
        <a:srgbClr val="FF2BD6"/>
      </a:accent2>
      <a:accent3>
        <a:srgbClr val="7C4DFF"/>
      </a:accent3>
      <a:accent4>
        <a:srgbClr val="FFB000"/>
      </a:accent4>
      <a:accent5>
        <a:srgbClr val="FF3D6E"/>
      </a:accent5>
      <a:accent6>
        <a:srgbClr val="2BFF9A"/>
      </a:accent6>
      <a:hlink>
        <a:srgbClr val="00E5FF"/>
      </a:hlink>
      <a:folHlink>
        <a:srgbClr val="FF2BD6"/>
      </a:folHlink>
    </a:clrScheme>
    <a:fontScheme name="CINTEL Ne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TotalTime>
  <Words>100</Words>
  <Application>Microsoft Office PowerPoint</Application>
  <PresentationFormat>Widescreen</PresentationFormat>
  <Paragraphs>39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Arial Black</vt:lpstr>
      <vt:lpstr>Calibri</vt:lpstr>
      <vt:lpstr>CINTEL Neon</vt:lpstr>
      <vt:lpstr>IDEATHON 3.0</vt:lpstr>
      <vt:lpstr>PROBLEM STATEMENT</vt:lpstr>
      <vt:lpstr>PROPOSED SOLUTION</vt:lpstr>
      <vt:lpstr>INNOVATION &amp; KEY FEATURES</vt:lpstr>
      <vt:lpstr>TECHNICAL APPROACH &amp; PROTOTYPE</vt:lpstr>
      <vt:lpstr>FEASIBILITY &amp; VIABILITY</vt:lpstr>
      <vt:lpstr>IMPACT &amp; BENEFITS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CINTEL Ideathon 3.0 – Pitch Deck Template</dc:title>
  <dc:subject>PptxGenJS Presentation</dc:subject>
  <dc:creator>CINTEL Student Association</dc:creator>
  <cp:lastModifiedBy>Nataasha Leo</cp:lastModifiedBy>
  <cp:revision>4</cp:revision>
  <dcterms:created xsi:type="dcterms:W3CDTF">2026-10-13T17:27:27Z</dcterms:created>
  <dcterms:modified xsi:type="dcterms:W3CDTF">2026-10-14T01:05:27Z</dcterms:modified>
</cp:coreProperties>
</file>