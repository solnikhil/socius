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BF7F2AD-AA78-22E9-4EC3-CB81E878941D}">
          <p14:sldIdLst>
            <p14:sldId id="256"/>
          </p14:sldIdLst>
        </p14:section>
        <p14:section name="Pitch" id="{601EABAE-FBCC-D890-2D88-3B6E63AA42F6}">
          <p14:sldIdLst>
            <p14:sldId id="257"/>
            <p14:sldId id="258"/>
            <p14:sldId id="259"/>
            <p14:sldId id="260"/>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6250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Product sources, checked 15 October 2026: https://github.com/solnikhil/Socius/tree/7b74994 and https://app.notion.com/p/Socius-Ideathon-3-0-3f910c43ad3e81198b7bdf7be7bf6b06 . Current main includes direct orchestration PR 29, reviewed connectors PRs 14-19, paired phone PR 20, routines runtime/API PR 21, scoped skills PR 22, avatars PR 23, composer PR 24, date/time PR 27 and database migration repair PR 28. Browser control PR 30 is open, not implemented on main. Source files in this deck are the current repository snapshot, not the older proposal. Proposed pilots, monetisation and India-specific workflows are plans, not launched features or measured outcomes.</a:t>
            </a:r>
          </a:p>
          <a:p>
            <a:r>
              <a:t>Socius is a personal AI workspace that runs on a user's laptop. The main Socius bot coordinates private specialists, with memory and app actions under the user's control. Team California Burrito. Track: AI Automation. The central outcome is automating work across assistants and connected apps. Open Innovation is the broader alternative, but AI Automation most directly describes the working product. India-first is our intended audience and product direction, not a claim that India lacks AI development.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notesSlides/notesSlide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Product sources, checked 15 October 2026: https://github.com/solnikhil/Socius/tree/7b74994 and https://app.notion.com/p/Socius-Ideathon-3-0-3f910c43ad3e81198b7bdf7be7bf6b06 . Current main includes direct orchestration PR 29, reviewed connectors PRs 14-19, paired phone PR 20, routines runtime/API PR 21, scoped skills PR 22, avatars PR 23, composer PR 24, date/time PR 27 and database migration repair PR 28. Browser control PR 30 is open, not implemented on main. Source files in this deck are the current repository snapshot, not the older proposal. Proposed pilots, monetisation and India-specific workflows are plans, not launched features or measured outcomes.</a:t>
            </a:r>
          </a:p>
          <a:p>
            <a:r>
              <a:t>A student organising a campus event may move deadlines from email into a planning chat, ask a separate assistant for a draft, then copy the draft into another app. Freelancers and small businesses face similar coordination work. These audience pain points are hypotheses for our pilot, not findings from a completed survey. India's 22 scheduled languages show the diversity to design for. We do not claim Socius already supports every language or that all other products ignore India.</a:t>
            </a:r>
          </a:p>
          <a:p>
            <a:r>
              <a:t>Language fact source: Government of India, Department of Official Language, https://rajbhasha.gov.in/en/languages-included-eighth-schedule-indian-constitution . Illustration generated with the built-in image tool for this deck: two matte speech tiles, black Devanagari अ and Tamil அ, neutral palette and transparent background. The illustration represents language diversity, not a shipped translation feature.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ns2:creationId val="1024086991"/>
      </p:ext>
    </p:extLst>
  </p:cSld>
  <p:clrMapOvr>
    <a:masterClrMapping/>
  </p:clrMapOvr>
</p:notes>
</file>

<file path=ppt/notesSlides/notesSlide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Product sources, checked 15 October 2026: https://github.com/solnikhil/Socius/tree/7b74994 and https://app.notion.com/p/Socius-Ideathon-3-0-3f910c43ad3e81198b7bdf7be7bf6b06 . Current main includes direct orchestration PR 29, reviewed connectors PRs 14-19, paired phone PR 20, routines runtime/API PR 21, scoped skills PR 22, avatars PR 23, composer PR 24, date/time PR 27 and database migration repair PR 28. Browser control PR 30 is open, not implemented on main. Source files in this deck are the current repository snapshot, not the older proposal. Proposed pilots, monetisation and India-specific workflows are plans, not launched features or measured outcomes.</a:t>
            </a:r>
          </a:p>
          <a:p>
            <a:r>
              <a:t>The screenshot shows current main's actual web UI with deterministic demo data. Socius asks Planner for a campus meetup sequence and Writer for an announcement. Their replies appear with their own attribution inside the same Socius conversation. This is a presentation fixture, not a live-model benchmark or evidence that any message was sent. Each specialist keeps its own model, memory, assigned skills and app permissions. Socius supplies an explicit task, not the whole parent transcript. External changes require a separate exact action approval.</a:t>
            </a:r>
          </a:p>
          <a:p>
            <a:r>
              <a:t>Baymax is the user-selected companion metaphor, not Socius hardware or an original character. Original Disney poster source: https://static.filmvandaag.nl/shows/original/8000/8142.jpg?v=1 . High-resolution original pixels and lollipop pose retained in a transparent cutout. No banner or competing mascot equation appears. Cloud models receive context routed to them. Paired phone access controls the same laptop runtime, which must be awake and reachable.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ns2:creationId val="1024086991"/>
      </p:ext>
    </p:extLst>
  </p:cSld>
  <p:clrMapOvr>
    <a:masterClrMapping/>
  </p:clrMapOvr>
</p:notes>
</file>

<file path=ppt/notesSlides/notesSlide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Product sources, checked 15 October 2026: https://github.com/solnikhil/Socius/tree/7b74994 and https://app.notion.com/p/Socius-Ideathon-3-0-3f910c43ad3e81198b7bdf7be7bf6b06 . Current main includes direct orchestration PR 29, reviewed connectors PRs 14-19, paired phone PR 20, routines runtime/API PR 21, scoped skills PR 22, avatars PR 23, composer PR 24, date/time PR 27 and database migration repair PR 28. Browser control PR 30 is open, not implemented on main. Source files in this deck are the current repository snapshot, not the older proposal. Proposed pilots, monetisation and India-specific workflows are plans, not launched features or measured outcomes.</a:t>
            </a:r>
          </a:p>
          <a:p>
            <a:r>
              <a:t>These mechanisms are implemented in the current product. The main bot can delegate directly or coordinate a group chat. Scoped skills bind exact releases to individual bots and do not grant permissions by being installed. Dreaming is optional idle memory consolidation, with source evidence and correction/deletion protections. Its sensitive-data classification remains incomplete, so this deck does not claim perfect secret exclusion. Reviewed app capabilities are bounded, not arbitrary MCP access. The seven connector implementations exist, but live-account acceptance remains a pilot task. Requests to create a group or change a bot require approval. External writes require their own exact approval.</a:t>
            </a:r>
          </a:p>
          <a:p>
            <a:r>
              <a:t>The seven authentic connector marks are the source SVG assets shipped in apps/web/src/assets/connectors at repository commit 7b74994. They indicate implemented connector packages, not partnerships or connected demo accounts.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ns2:creationId val="1024086991"/>
      </p:ext>
    </p:extLst>
  </p:cSld>
  <p:clrMapOvr>
    <a:masterClrMapping/>
  </p:clrMapOvr>
</p:notes>
</file>

<file path=ppt/notesSlides/notesSlide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Product sources, checked 15 October 2026: https://github.com/solnikhil/Socius/tree/7b74994 and https://app.notion.com/p/Socius-Ideathon-3-0-3f910c43ad3e81198b7bdf7be7bf6b06 . Current main includes direct orchestration PR 29, reviewed connectors PRs 14-19, paired phone PR 20, routines runtime/API PR 21, scoped skills PR 22, avatars PR 23, composer PR 24, date/time PR 27 and database migration repair PR 28. Browser control PR 30 is open, not implemented on main. Source files in this deck are the current repository snapshot, not the older proposal. Proposed pilots, monetisation and India-specific workflows are plans, not launched features or measured outcomes.</a:t>
            </a:r>
          </a:p>
          <a:p>
            <a:r>
              <a:t>The diagram abstracts the working architecture. Laptop Electron and the paired responsive phone interface access an authenticated local API. Phone access uses opt-in Tailscale HTTPS plus independently revocable Socius device sessions. Both share the same local runtime and workspace. The runtime coordinates bots, selected model adapters, editable private memory and scoped skills. Tool execution crosses the same policy/approval boundary before reviewed connectors run. Credentials stay behind the runtime boundary. Registry discovery and reviewed installation feed skill assignments.</a:t>
            </a:r>
          </a:p>
          <a:p>
            <a:r>
              <a:t>The runtime includes routines APIs, schedules, checkpointed runs and durable approvals. A routine UI is still next. Browser control is a separate open PR and is deliberately absent from the implemented connector path. A tailnet is transport, not a replacement for application authentication. Real-tailnet acceptance, SSH/full Serve lifecycle and connected-account acceptance remain to validate. The architecture PNG is a high-resolution technical diagram with a genuine transparent background.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ns2:creationId val="1024086991"/>
      </p:ext>
    </p:extLst>
  </p:cSld>
  <p:clrMapOvr>
    <a:masterClrMapping/>
  </p:clrMapOvr>
</p:notes>
</file>

<file path=ppt/notesSlides/notesSlide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Product sources, checked 15 October 2026: https://github.com/solnikhil/Socius/tree/7b74994 and https://app.notion.com/p/Socius-Ideathon-3-0-3f910c43ad3e81198b7bdf7be7bf6b06 . Current main includes direct orchestration PR 29, reviewed connectors PRs 14-19, paired phone PR 20, routines runtime/API PR 21, scoped skills PR 22, avatars PR 23, composer PR 24, date/time PR 27 and database migration repair PR 28. Browser control PR 30 is open, not implemented on main. Source files in this deck are the current repository snapshot, not the older proposal. Proposed pilots, monetisation and India-specific workflows are plans, not launched features or measured outcomes.</a:t>
            </a:r>
          </a:p>
          <a:p>
            <a:r>
              <a:t>We have a working Electron/React prototype and runtime, not merely a framework selection. Automated desktop/browser fixtures cover product behaviours. There is limited live-provider evidence for model interactions and Dreaming. Fixture coverage does not establish real connected-account or real-tailnet readiness. Phone access is implemented, but end-to-end pilots on real phone/laptop tailnets remain. The phone screenshot is the actual responsive UI from the same controlled demonstration workspace as slide 3. It is not a claim that this screenshot ran over a real tailnet.</a:t>
            </a:r>
          </a:p>
          <a:p>
            <a:r>
              <a:t>Browser control PR 30 proposes headed Chromium/Playwright with visible sessions, user takeover for login/2FA and explicit resume. It is not merged. Routines runtime/API is merged, while the routine UI is next. The laptop must remain awake and reachable for phone-controlled work.</a:t>
            </a:r>
          </a:p>
          <a:p>
            <a:r>
              <a:t>Commercial viability is a proposal: a free core with optional managed hosting priced in INR, team plans and a commission on paid skills. These offers have not launched and no revenue or willingness-to-pay results are claimed. Repository license selection remains an open decision, so this deck does not assert a settled open-source license.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ns2:creationId val="1024086991"/>
      </p:ext>
    </p:extLst>
  </p:cSld>
  <p:clrMapOvr>
    <a:masterClrMapping/>
  </p:clrMapOvr>
</p:notes>
</file>

<file path=ppt/notesSlides/notesSlide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Product sources, checked 15 October 2026: https://github.com/solnikhil/Socius/tree/7b74994 and https://app.notion.com/p/Socius-Ideathon-3-0-3f910c43ad3e81198b7bdf7be7bf6b06 . Current main includes direct orchestration PR 29, reviewed connectors PRs 14-19, paired phone PR 20, routines runtime/API PR 21, scoped skills PR 22, avatars PR 23, composer PR 24, date/time PR 27 and database migration repair PR 28. Browser control PR 30 is open, not implemented on main. Source files in this deck are the current repository snapshot, not the older proposal. Proposed pilots, monetisation and India-specific workflows are plans, not launched features or measured outcomes.</a:t>
            </a:r>
          </a:p>
          <a:p>
            <a:r>
              <a:t>India-first means designing the initial pilot around Indian students and freelancers, then inviting developers to build reusable local skills. GitHub's Octoverse 2025 reports 21.9 million developers in India. This is a community opportunity, not Socius's addressable market, traction or projected customers. India is already a major developer community, which supports an optimistic India-first story without claiming that India has no AI development.</a:t>
            </a:r>
          </a:p>
          <a:p>
            <a:r>
              <a:t>Source: GitHub, Octoverse 2025, https://github.blog/news-insights/octoverse/octoverse-a-new-developer-joins-github-every-second-as-ai-leads-typescript-to-1/ .</a:t>
            </a:r>
          </a:p>
          <a:p>
            <a:r>
              <a:t>Hindi/Tamil workflows and Indian app or campus integrations are roadmap candidates, not shipped language support. Browser dictation depends on the browser and may use cloud services. No on-device Indian-language voice, UPI, GST or DigiLocker integration is claimed. The first pilot should compare existing coordination work with Socius on agreed tasks and track completion, assisted time, return use and unwanted or incorrect action approvals. Expected benefits include less copying and repeated explanation. These outcomes still need measurement.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ns2:creationId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17352" y="6355080"/>
            <a:ext cx="73152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1"/>
                </a:solidFill>
              </a:defRPr>
            </a:lvl1pPr>
          </a:lstStyle>
          <a:p>
            <a:pPr algn="r"/>
            <a:fld id="{F7021451-1387-4CA6-816F-3879F97B5CBC}" type="slidenum">
              <a:rPr lang="en-US" b="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85800"/>
            <a:ext cx="10908792" cy="777240"/>
          </a:xfrm>
          <a:prstGeom prst="rect">
            <a:avLst/>
          </a:prstGeom>
          <a:noFill/>
          <a:ln/>
        </p:spPr>
        <p:txBody>
          <a:bodyPr wrap="square" rtlCol="0"/>
          <a:lstStyle>
            <a:lvl1pPr marL="0" indent="0" algn="l">
              <a:buNone/>
              <a:defRPr lang="en-US" sz="3400" b="1" kern="0" spc="200" dirty="0">
                <a:solidFill>
                  <a:schemeClr val="tx1"/>
                </a:solidFill>
              </a:defRPr>
            </a:lvl1pPr>
          </a:lstStyle>
          <a:p>
            <a:pPr marL="0" indent="0" algn="l">
              <a:buNone/>
            </a:pPr>
            <a:r>
              <a:rPr lang="en-US" sz="3400" b="1" kern="0" spc="200" dirty="0">
                <a:solidFill>
                  <a:schemeClr val="tx1"/>
                </a:solidFill>
              </a:rPr>
              <a:t>Slide Title</a:t>
            </a:r>
            <a:endParaRPr lang="en-US" sz="3400" dirty="0"/>
          </a:p>
        </p:txBody>
      </p:sp>
      <p:sp>
        <p:nvSpPr>
          <p:cNvPr id="3" name="Text 0"/>
          <p:cNvSpPr>
            <a:spLocks noGrp="1"/>
          </p:cNvSpPr>
          <p:nvPr>
            <p:ph type="body" idx="101" hasCustomPrompt="1"/>
          </p:nvPr>
        </p:nvSpPr>
        <p:spPr>
          <a:xfrm>
            <a:off x="960120" y="1874520"/>
            <a:ext cx="10268712" cy="3931920"/>
          </a:xfrm>
          <a:prstGeom prst="rect">
            <a:avLst/>
          </a:prstGeom>
          <a:noFill/>
          <a:ln/>
        </p:spPr>
        <p:txBody>
          <a:bodyPr wrap="square" rtlCol="0"/>
          <a:lstStyle>
            <a:lvl1pPr marL="0" indent="0">
              <a:buNone/>
              <a:defRPr lang="en-US" sz="1800" dirty="0">
                <a:solidFill>
                  <a:schemeClr val="tx1"/>
                </a:solidFill>
              </a:defRPr>
            </a:lvl1pPr>
          </a:lstStyle>
          <a:p>
            <a:pPr marL="0" indent="0">
              <a:buNone/>
            </a:pPr>
            <a:r>
              <a:rPr lang="en-US" sz="1800" dirty="0">
                <a:solidFill>
                  <a:schemeClr val="tx1"/>
                </a:solidFill>
              </a:rPr>
              <a:t>Click to add content</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783080"/>
            <a:ext cx="8229600" cy="1371600"/>
          </a:xfrm>
          <a:prstGeom prst="rect">
            <a:avLst/>
          </a:prstGeom>
          <a:noFill/>
          <a:ln/>
        </p:spPr>
        <p:txBody>
          <a:bodyPr wrap="square" rtlCol="0"/>
          <a:lstStyle>
            <a:lvl1pPr marL="0" indent="0" algn="l">
              <a:buNone/>
              <a:defRPr lang="en-US" sz="7200" b="1" dirty="0">
                <a:solidFill>
                  <a:schemeClr val="tx1"/>
                </a:solidFill>
              </a:defRPr>
            </a:lvl1pPr>
          </a:lstStyle>
          <a:p>
            <a:pPr marL="0" indent="0" algn="l">
              <a:buNone/>
            </a:pPr>
            <a:r>
              <a:rPr lang="en-US" sz="7200" b="1" dirty="0">
                <a:solidFill>
                  <a:schemeClr val="tx1"/>
                </a:solidFill>
              </a:rPr>
              <a:t>Title</a:t>
            </a:r>
            <a:endParaRPr lang="en-US" sz="7200" dirty="0"/>
          </a:p>
        </p:txBody>
      </p:sp>
      <p:sp>
        <p:nvSpPr>
          <p:cNvPr id="3" name="Text 0"/>
          <p:cNvSpPr>
            <a:spLocks noGrp="1"/>
          </p:cNvSpPr>
          <p:nvPr>
            <p:ph type="body" idx="101" hasCustomPrompt="1"/>
          </p:nvPr>
        </p:nvSpPr>
        <p:spPr>
          <a:xfrm>
            <a:off x="777240" y="4480560"/>
            <a:ext cx="3017520" cy="548640"/>
          </a:xfrm>
          <a:prstGeom prst="rect">
            <a:avLst/>
          </a:prstGeom>
          <a:noFill/>
          <a:ln/>
        </p:spPr>
        <p:txBody>
          <a:bodyPr wrap="square" rtlCol="0"/>
          <a:lstStyle>
            <a:lvl1pPr marL="0" indent="0">
              <a:buNone/>
              <a:defRPr lang="en-US" sz="1600" dirty="0">
                <a:solidFill>
                  <a:schemeClr val="tx1"/>
                </a:solidFill>
              </a:defRPr>
            </a:lvl1pPr>
          </a:lstStyle>
          <a:p>
            <a:pPr marL="0" indent="0">
              <a:buNone/>
            </a:pPr>
            <a:r>
              <a:rPr lang="en-US" sz="1600" dirty="0">
                <a:solidFill>
                  <a:schemeClr val="tx1"/>
                </a:solidFill>
              </a:rPr>
              <a:t>Click to add</a:t>
            </a:r>
            <a:endParaRPr lang="en-US" sz="1600" dirty="0"/>
          </a:p>
        </p:txBody>
      </p:sp>
      <p:sp>
        <p:nvSpPr>
          <p:cNvPr id="4" name="Text 0"/>
          <p:cNvSpPr>
            <a:spLocks noGrp="1"/>
          </p:cNvSpPr>
          <p:nvPr>
            <p:ph type="body" idx="102" hasCustomPrompt="1"/>
          </p:nvPr>
        </p:nvSpPr>
        <p:spPr>
          <a:xfrm>
            <a:off x="4297680" y="4480560"/>
            <a:ext cx="3017520" cy="548640"/>
          </a:xfrm>
          <a:prstGeom prst="rect">
            <a:avLst/>
          </a:prstGeom>
          <a:noFill/>
          <a:ln/>
        </p:spPr>
        <p:txBody>
          <a:bodyPr wrap="square" rtlCol="0"/>
          <a:lstStyle>
            <a:lvl1pPr marL="0" indent="0">
              <a:buNone/>
              <a:defRPr lang="en-US" sz="1600" dirty="0">
                <a:solidFill>
                  <a:schemeClr val="tx1"/>
                </a:solidFill>
              </a:defRPr>
            </a:lvl1pPr>
          </a:lstStyle>
          <a:p>
            <a:pPr marL="0" indent="0">
              <a:buNone/>
            </a:pPr>
            <a:r>
              <a:rPr lang="en-US" sz="1600" dirty="0">
                <a:solidFill>
                  <a:schemeClr val="tx1"/>
                </a:solidFill>
              </a:rPr>
              <a:t>Click to add</a:t>
            </a:r>
            <a:endParaRPr lang="en-US" sz="1600" dirty="0"/>
          </a:p>
        </p:txBody>
      </p:sp>
      <p:sp>
        <p:nvSpPr>
          <p:cNvPr id="5" name="Text 0"/>
          <p:cNvSpPr>
            <a:spLocks noGrp="1"/>
          </p:cNvSpPr>
          <p:nvPr>
            <p:ph type="body" idx="103" hasCustomPrompt="1"/>
          </p:nvPr>
        </p:nvSpPr>
        <p:spPr>
          <a:xfrm>
            <a:off x="777240" y="5577840"/>
            <a:ext cx="3017520" cy="548640"/>
          </a:xfrm>
          <a:prstGeom prst="rect">
            <a:avLst/>
          </a:prstGeom>
          <a:noFill/>
          <a:ln/>
        </p:spPr>
        <p:txBody>
          <a:bodyPr wrap="square" rtlCol="0"/>
          <a:lstStyle>
            <a:lvl1pPr marL="0" indent="0">
              <a:buNone/>
              <a:defRPr lang="en-US" sz="1600" dirty="0">
                <a:solidFill>
                  <a:schemeClr val="tx1"/>
                </a:solidFill>
              </a:defRPr>
            </a:lvl1pPr>
          </a:lstStyle>
          <a:p>
            <a:pPr marL="0" indent="0">
              <a:buNone/>
            </a:pPr>
            <a:r>
              <a:rPr lang="en-US" sz="1600" dirty="0">
                <a:solidFill>
                  <a:schemeClr val="tx1"/>
                </a:solidFill>
              </a:rPr>
              <a:t>Click to add</a:t>
            </a:r>
            <a:endParaRPr lang="en-US" sz="1600" dirty="0"/>
          </a:p>
        </p:txBody>
      </p:sp>
      <p:sp>
        <p:nvSpPr>
          <p:cNvPr id="6" name="Text 0"/>
          <p:cNvSpPr>
            <a:spLocks noGrp="1"/>
          </p:cNvSpPr>
          <p:nvPr>
            <p:ph type="body" idx="104" hasCustomPrompt="1"/>
          </p:nvPr>
        </p:nvSpPr>
        <p:spPr>
          <a:xfrm>
            <a:off x="4297680" y="5577840"/>
            <a:ext cx="3017520" cy="548640"/>
          </a:xfrm>
          <a:prstGeom prst="rect">
            <a:avLst/>
          </a:prstGeom>
          <a:noFill/>
          <a:ln/>
        </p:spPr>
        <p:txBody>
          <a:bodyPr wrap="square" rtlCol="0"/>
          <a:lstStyle>
            <a:lvl1pPr marL="0" indent="0">
              <a:buNone/>
              <a:defRPr lang="en-US" sz="1600" dirty="0">
                <a:solidFill>
                  <a:schemeClr val="tx1"/>
                </a:solidFill>
              </a:defRPr>
            </a:lvl1pPr>
          </a:lstStyle>
          <a:p>
            <a:pPr marL="0" indent="0">
              <a:buNone/>
            </a:pPr>
            <a:r>
              <a:rPr lang="en-US" sz="1600" dirty="0">
                <a:solidFill>
                  <a:schemeClr val="tx1"/>
                </a:solidFill>
              </a:rPr>
              <a:t>Click to add</a:t>
            </a: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17352" y="6355080"/>
            <a:ext cx="73152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1"/>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ns0:Relationships xmlns:ns0="http://schemas.openxmlformats.org/package/2006/relationships"><ns0:Relationship Id="rId3" Type="http://schemas.openxmlformats.org/officeDocument/2006/relationships/image" Target="../media/image1.png" /><ns0:Relationship Id="rId2" Type="http://schemas.openxmlformats.org/officeDocument/2006/relationships/notesSlide" Target="../notesSlides/notesSlide1.xml" /><ns0:Relationship Id="rId1" Type="http://schemas.openxmlformats.org/officeDocument/2006/relationships/slideLayout" Target="../slideLayouts/slideLayout3.xml" /><ns0:Relationship Id="rId5" Type="http://schemas.openxmlformats.org/officeDocument/2006/relationships/image" Target="../media/image3.jpeg" /><ns0:Relationship Id="rId4" Type="http://schemas.openxmlformats.org/officeDocument/2006/relationships/image" Target="../media/image2.png" /></ns0:Relationships>
</file>

<file path=ppt/slides/_rels/slide2.xml.rels><?xml version='1.0' encoding='utf-8'?>
<ns0:Relationships xmlns:ns0="http://schemas.openxmlformats.org/package/2006/relationships"><ns0:Relationship Id="rId3" Type="http://schemas.openxmlformats.org/officeDocument/2006/relationships/image" Target="../media/image4.png" /><ns0:Relationship Id="rId2" Type="http://schemas.openxmlformats.org/officeDocument/2006/relationships/notesSlide" Target="../notesSlides/notesSlide2.xml" /><ns0:Relationship Id="rId1" Type="http://schemas.openxmlformats.org/officeDocument/2006/relationships/slideLayout" Target="../slideLayouts/slideLayout2.xml" /><ns0:Relationship Id="rId4" Type="http://schemas.openxmlformats.org/officeDocument/2006/relationships/image" Target="../media/image3.jpeg" /><ns0:Relationship Type="http://schemas.openxmlformats.org/officeDocument/2006/relationships/image" Target="../media/socius_image.png" Id="rIdSocius1" /></ns0:Relationships>
</file>

<file path=ppt/slides/_rels/slide3.xml.rels><?xml version='1.0' encoding='utf-8'?>
<ns0:Relationships xmlns:ns0="http://schemas.openxmlformats.org/package/2006/relationships"><ns0:Relationship Id="rId3" Type="http://schemas.openxmlformats.org/officeDocument/2006/relationships/image" Target="../media/image4.png" /><ns0:Relationship Id="rId2" Type="http://schemas.openxmlformats.org/officeDocument/2006/relationships/notesSlide" Target="../notesSlides/notesSlide3.xml" /><ns0:Relationship Id="rId1" Type="http://schemas.openxmlformats.org/officeDocument/2006/relationships/slideLayout" Target="../slideLayouts/slideLayout2.xml" /><ns0:Relationship Id="rId4" Type="http://schemas.openxmlformats.org/officeDocument/2006/relationships/image" Target="../media/image3.jpeg" /><ns0:Relationship Type="http://schemas.openxmlformats.org/officeDocument/2006/relationships/image" Target="../media/socius_image2.png" Id="rIdSocius1" /><ns0:Relationship Type="http://schemas.openxmlformats.org/officeDocument/2006/relationships/image" Target="../media/socius_image3.png" Id="rIdSocius2" /></ns0:Relationships>
</file>

<file path=ppt/slides/_rels/slide4.xml.rels><?xml version='1.0' encoding='utf-8'?>
<ns0:Relationships xmlns:ns0="http://schemas.openxmlformats.org/package/2006/relationships"><ns0:Relationship Id="rId3" Type="http://schemas.openxmlformats.org/officeDocument/2006/relationships/image" Target="../media/image4.png" /><ns0:Relationship Id="rId2" Type="http://schemas.openxmlformats.org/officeDocument/2006/relationships/notesSlide" Target="../notesSlides/notesSlide4.xml" /><ns0:Relationship Id="rId1" Type="http://schemas.openxmlformats.org/officeDocument/2006/relationships/slideLayout" Target="../slideLayouts/slideLayout2.xml" /><ns0:Relationship Id="rId4" Type="http://schemas.openxmlformats.org/officeDocument/2006/relationships/image" Target="../media/image3.jpeg" /><ns0:Relationship Type="http://schemas.openxmlformats.org/officeDocument/2006/relationships/image" Target="../media/socius_image4.png" Id="rIdSocius1" /><ns0:Relationship Type="http://schemas.openxmlformats.org/officeDocument/2006/relationships/image" Target="../media/socius_image5.png" Id="rIdSocius2" /><ns0:Relationship Type="http://schemas.openxmlformats.org/officeDocument/2006/relationships/image" Target="../media/socius_image6.png" Id="rIdSocius3" /><ns0:Relationship Type="http://schemas.openxmlformats.org/officeDocument/2006/relationships/image" Target="../media/socius_image7.png" Id="rIdSocius4" /><ns0:Relationship Type="http://schemas.openxmlformats.org/officeDocument/2006/relationships/image" Target="../media/socius_image8.png" Id="rIdSocius5" /><ns0:Relationship Type="http://schemas.openxmlformats.org/officeDocument/2006/relationships/image" Target="../media/socius_image9.png" Id="rIdSocius6" /><ns0:Relationship Type="http://schemas.openxmlformats.org/officeDocument/2006/relationships/image" Target="../media/socius_image10.png" Id="rIdSocius7" /></ns0:Relationships>
</file>

<file path=ppt/slides/_rels/slide5.xml.rels><?xml version='1.0' encoding='utf-8'?>
<ns0:Relationships xmlns:ns0="http://schemas.openxmlformats.org/package/2006/relationships"><ns0:Relationship Id="rId3" Type="http://schemas.openxmlformats.org/officeDocument/2006/relationships/image" Target="../media/image4.png" /><ns0:Relationship Id="rId2" Type="http://schemas.openxmlformats.org/officeDocument/2006/relationships/notesSlide" Target="../notesSlides/notesSlide5.xml" /><ns0:Relationship Id="rId1" Type="http://schemas.openxmlformats.org/officeDocument/2006/relationships/slideLayout" Target="../slideLayouts/slideLayout2.xml" /><ns0:Relationship Id="rId4" Type="http://schemas.openxmlformats.org/officeDocument/2006/relationships/image" Target="../media/image3.jpeg" /><ns0:Relationship Type="http://schemas.openxmlformats.org/officeDocument/2006/relationships/image" Target="../media/socius_image11.png" Id="rIdSocius1" /></ns0:Relationships>
</file>

<file path=ppt/slides/_rels/slide6.xml.rels><?xml version='1.0' encoding='utf-8'?>
<ns0:Relationships xmlns:ns0="http://schemas.openxmlformats.org/package/2006/relationships"><ns0:Relationship Id="rId3" Type="http://schemas.openxmlformats.org/officeDocument/2006/relationships/image" Target="../media/image4.png" /><ns0:Relationship Id="rId2" Type="http://schemas.openxmlformats.org/officeDocument/2006/relationships/notesSlide" Target="../notesSlides/notesSlide6.xml" /><ns0:Relationship Id="rId1" Type="http://schemas.openxmlformats.org/officeDocument/2006/relationships/slideLayout" Target="../slideLayouts/slideLayout2.xml" /><ns0:Relationship Id="rId4" Type="http://schemas.openxmlformats.org/officeDocument/2006/relationships/image" Target="../media/image3.jpeg" /><ns0:Relationship Type="http://schemas.openxmlformats.org/officeDocument/2006/relationships/image" Target="../media/socius_image12.png" Id="rIdSocius1" /></ns0:Relationships>
</file>

<file path=ppt/slides/_rels/slide7.xml.rels><?xml version='1.0' encoding='utf-8'?>
<ns0:Relationships xmlns:ns0="http://schemas.openxmlformats.org/package/2006/relationships"><ns0:Relationship Id="rId3" Type="http://schemas.openxmlformats.org/officeDocument/2006/relationships/image" Target="../media/image4.png" /><ns0:Relationship Id="rId2" Type="http://schemas.openxmlformats.org/officeDocument/2006/relationships/notesSlide" Target="../notesSlides/notesSlide7.xml" /><ns0:Relationship Id="rId1" Type="http://schemas.openxmlformats.org/officeDocument/2006/relationships/slideLayout" Target="../slideLayouts/slideLayout2.xml" /><ns0:Relationship Id="rId4" Type="http://schemas.openxmlformats.org/officeDocument/2006/relationships/image" Target="../media/image3.jpeg" /></ns0:Relationships>
</file>

<file path=ppt/slides/slide1.xml><?xml version="1.0" encoding="utf-8"?>
<p:sld xmlns:a="http://schemas.openxmlformats.org/drawingml/2006/main" xmlns:ns3="http://schemas.microsoft.com/office/drawing/2014/main" xmlns:p="http://schemas.openxmlformats.org/presentationml/2006/main" xmlns:r="http://schemas.openxmlformats.org/officeDocument/2006/relationships">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Association Name"/>
          <p:cNvSpPr txBox="1"/>
          <p:nvPr/>
        </p:nvSpPr>
        <p:spPr>
          <a:xfrm>
            <a:off x="640080" y="1325880"/>
            <a:ext cx="7315200" cy="365760"/>
          </a:xfrm>
          <a:prstGeom prst="rect">
            <a:avLst/>
          </a:prstGeom>
          <a:noFill/>
          <a:ln/>
        </p:spPr>
        <p:txBody>
          <a:bodyPr wrap="square" lIns="0" tIns="0" rIns="0" bIns="0" rtlCol="0" anchor="ctr"/>
          <a:lstStyle/>
          <a:p>
            <a:pPr marL="0" indent="0">
              <a:buNone/>
            </a:pPr>
            <a:r>
              <a:rPr lang="en-US" sz="1600" b="1" kern="0" spc="800" dirty="0">
                <a:solidFill>
                  <a:schemeClr val="accent1"/>
                </a:solidFill>
                <a:latin typeface="Arial Black" panose="020B0A04020102020204" pitchFamily="34" charset="0"/>
              </a:rPr>
              <a:t>CINTEL STUDENT ASSOCIATION</a:t>
            </a:r>
            <a:endParaRPr lang="en-US" sz="1600" dirty="0">
              <a:latin typeface="Arial Black" panose="020B0A04020102020204" pitchFamily="34" charset="0"/>
            </a:endParaRPr>
          </a:p>
        </p:txBody>
      </p:sp>
      <p:sp>
        <p:nvSpPr>
          <p:cNvPr id="4" name="Text 0"/>
          <p:cNvSpPr>
            <a:spLocks noGrp="1"/>
          </p:cNvSpPr>
          <p:nvPr>
            <p:ph type="title" idx="100" hasCustomPrompt="1"/>
          </p:nvPr>
        </p:nvSpPr>
        <p:spPr>
          <a:xfrm>
            <a:off x="640080" y="1759418"/>
            <a:ext cx="8229600" cy="1371600"/>
          </a:xfrm>
          <a:prstGeom prst="rect">
            <a:avLst/>
          </a:prstGeom>
          <a:noFill/>
          <a:ln/>
        </p:spPr>
        <p:txBody>
          <a:bodyPr wrap="square" lIns="0" tIns="0" rIns="0" bIns="0" rtlCol="0" anchor="ctr"/>
          <a:lstStyle/>
          <a:p>
            <a:pPr marL="0" indent="0" algn="l">
              <a:buNone/>
            </a:pPr>
            <a:r>
              <a:rPr lang="en-US" sz="7200" b="1" dirty="0">
                <a:solidFill>
                  <a:schemeClr val="tx1"/>
                </a:solidFill>
              </a:rPr>
              <a:t>IDEATHON 3.0</a:t>
            </a:r>
            <a:endParaRPr lang="en-US" sz="7200" dirty="0"/>
          </a:p>
        </p:txBody>
      </p:sp>
      <p:sp>
        <p:nvSpPr>
          <p:cNvPr id="5" name="Subtitle"/>
          <p:cNvSpPr txBox="1"/>
          <p:nvPr/>
        </p:nvSpPr>
        <p:spPr>
          <a:xfrm>
            <a:off x="640080" y="3200400"/>
            <a:ext cx="5486400" cy="457200"/>
          </a:xfrm>
          <a:prstGeom prst="rect">
            <a:avLst/>
          </a:prstGeom>
          <a:noFill/>
          <a:ln/>
        </p:spPr>
        <p:txBody>
          <a:bodyPr wrap="square" lIns="0" tIns="0" rIns="0" bIns="0" rtlCol="0" anchor="ctr"/>
          <a:lstStyle/>
          <a:p>
            <a:pPr marL="0" indent="0">
              <a:buNone/>
            </a:pPr>
            <a:r>
              <a:rPr lang="en-US" sz="2400" b="1" kern="0" spc="1000" dirty="0">
                <a:solidFill>
                  <a:schemeClr val="accent2"/>
                </a:solidFill>
              </a:rPr>
              <a:t>PITCH DECK</a:t>
            </a:r>
            <a:endParaRPr lang="en-US" sz="2400" dirty="0"/>
          </a:p>
        </p:txBody>
      </p:sp>
      <p:sp>
        <p:nvSpPr>
          <p:cNvPr id="6" name="Label PROJECT TITLE"/>
          <p:cNvSpPr txBox="1"/>
          <p:nvPr/>
        </p:nvSpPr>
        <p:spPr>
          <a:xfrm>
            <a:off x="622434" y="4148489"/>
            <a:ext cx="3291840" cy="274320"/>
          </a:xfrm>
          <a:prstGeom prst="rect">
            <a:avLst/>
          </a:prstGeom>
          <a:noFill/>
          <a:ln/>
        </p:spPr>
        <p:txBody>
          <a:bodyPr wrap="square" lIns="0" tIns="0" rIns="0" bIns="0" rtlCol="0" anchor="ctr"/>
          <a:lstStyle/>
          <a:p>
            <a:pPr marL="0" indent="0">
              <a:buNone/>
            </a:pPr>
            <a:r>
              <a:rPr lang="en-US" sz="1100" b="1" kern="0" spc="400" dirty="0">
                <a:solidFill>
                  <a:schemeClr val="accent1"/>
                </a:solidFill>
              </a:rPr>
              <a:t>TITLE</a:t>
            </a:r>
            <a:endParaRPr lang="en-US" sz="1100" dirty="0"/>
          </a:p>
        </p:txBody>
      </p:sp>
      <p:sp>
        <p:nvSpPr>
          <p:cNvPr id="7" name="Field Box 1"/>
          <p:cNvSpPr/>
          <p:nvPr/>
        </p:nvSpPr>
        <p:spPr>
          <a:xfrm>
            <a:off x="640080" y="4480560"/>
            <a:ext cx="3291840" cy="548640"/>
          </a:xfrm>
          <a:prstGeom prst="rect">
            <a:avLst/>
          </a:prstGeom>
          <a:solidFill>
            <a:schemeClr val="bg2">
              <a:alpha val="65000"/>
            </a:schemeClr>
          </a:solidFill>
          <a:ln w="15875">
            <a:solidFill>
              <a:schemeClr val="accent1"/>
            </a:solidFill>
            <a:prstDash val="solid"/>
          </a:ln>
        </p:spPr>
      </p:sp>
      <p:sp>
        <p:nvSpPr>
          <p:cNvPr id="8" name="Text 0"/>
          <p:cNvSpPr>
            <a:spLocks noGrp="1"/>
          </p:cNvSpPr>
          <p:nvPr>
            <p:ph type="body" idx="101" hasCustomPrompt="1"/>
          </p:nvPr>
        </p:nvSpPr>
        <p:spPr>
          <a:xfrm>
            <a:off x="777240" y="4480560"/>
            <a:ext cx="3017520" cy="548640"/>
          </a:xfrm>
          <a:prstGeom prst="rect">
            <a:avLst/>
          </a:prstGeom>
          <a:noFill/>
          <a:ln/>
        </p:spPr>
        <p:txBody>
          <a:bodyPr anchor="ctr" lIns="0" rIns="0"/>
          <a:lstStyle/>
          <a:p>
            <a:r>
              <a:rPr sz="1600" lang="en-US">
                <a:solidFill>
                  <a:srgbClr val="FFFFFF"/>
                </a:solidFill>
                <a:latin typeface="Calibri"/>
              </a:rPr>
              <a:t>Socius</a:t>
            </a:r>
          </a:p>
        </p:txBody>
      </p:sp>
      <p:sp>
        <p:nvSpPr>
          <p:cNvPr id="9" name="Label TEAM NAME"/>
          <p:cNvSpPr txBox="1"/>
          <p:nvPr/>
        </p:nvSpPr>
        <p:spPr>
          <a:xfrm>
            <a:off x="4160520" y="4160520"/>
            <a:ext cx="3291840" cy="274320"/>
          </a:xfrm>
          <a:prstGeom prst="rect">
            <a:avLst/>
          </a:prstGeom>
          <a:noFill/>
          <a:ln/>
        </p:spPr>
        <p:txBody>
          <a:bodyPr wrap="square" lIns="0" tIns="0" rIns="0" bIns="0" rtlCol="0" anchor="ctr"/>
          <a:lstStyle/>
          <a:p>
            <a:pPr marL="0" indent="0">
              <a:buNone/>
            </a:pPr>
            <a:r>
              <a:rPr lang="en-US" sz="1100" b="1" kern="0" spc="400" dirty="0">
                <a:solidFill>
                  <a:schemeClr val="accent1"/>
                </a:solidFill>
              </a:rPr>
              <a:t>TEAM NAME</a:t>
            </a:r>
            <a:endParaRPr lang="en-US" sz="1100" dirty="0"/>
          </a:p>
        </p:txBody>
      </p:sp>
      <p:sp>
        <p:nvSpPr>
          <p:cNvPr id="10" name="Field Box 2"/>
          <p:cNvSpPr/>
          <p:nvPr/>
        </p:nvSpPr>
        <p:spPr>
          <a:xfrm>
            <a:off x="4160520" y="4480560"/>
            <a:ext cx="3291840" cy="548640"/>
          </a:xfrm>
          <a:prstGeom prst="rect">
            <a:avLst/>
          </a:prstGeom>
          <a:solidFill>
            <a:schemeClr val="bg2">
              <a:alpha val="65000"/>
            </a:schemeClr>
          </a:solidFill>
          <a:ln w="15875">
            <a:solidFill>
              <a:schemeClr val="accent2"/>
            </a:solidFill>
            <a:prstDash val="solid"/>
          </a:ln>
        </p:spPr>
      </p:sp>
      <p:sp>
        <p:nvSpPr>
          <p:cNvPr id="11" name="Text 0"/>
          <p:cNvSpPr>
            <a:spLocks noGrp="1"/>
          </p:cNvSpPr>
          <p:nvPr>
            <p:ph type="body" idx="102" hasCustomPrompt="1"/>
          </p:nvPr>
        </p:nvSpPr>
        <p:spPr>
          <a:xfrm>
            <a:off x="4297680" y="4480560"/>
            <a:ext cx="3017520" cy="548640"/>
          </a:xfrm>
          <a:prstGeom prst="rect">
            <a:avLst/>
          </a:prstGeom>
          <a:noFill/>
          <a:ln/>
        </p:spPr>
        <p:txBody>
          <a:bodyPr anchor="ctr" lIns="0" rIns="0"/>
          <a:lstStyle/>
          <a:p>
            <a:r>
              <a:rPr sz="1600" lang="en-US">
                <a:solidFill>
                  <a:srgbClr val="FFFFFF"/>
                </a:solidFill>
                <a:latin typeface="Calibri"/>
              </a:rPr>
              <a:t>California Burrito</a:t>
            </a:r>
          </a:p>
        </p:txBody>
      </p:sp>
      <p:sp>
        <p:nvSpPr>
          <p:cNvPr id="12" name="Label TRACK"/>
          <p:cNvSpPr txBox="1"/>
          <p:nvPr/>
        </p:nvSpPr>
        <p:spPr>
          <a:xfrm>
            <a:off x="640080" y="5257800"/>
            <a:ext cx="3291840" cy="274320"/>
          </a:xfrm>
          <a:prstGeom prst="rect">
            <a:avLst/>
          </a:prstGeom>
          <a:noFill/>
          <a:ln/>
        </p:spPr>
        <p:txBody>
          <a:bodyPr wrap="square" lIns="0" tIns="0" rIns="0" bIns="0" rtlCol="0" anchor="ctr"/>
          <a:lstStyle/>
          <a:p>
            <a:pPr marL="0" indent="0">
              <a:buNone/>
            </a:pPr>
            <a:r>
              <a:rPr lang="en-US" sz="1100" b="1" kern="0" spc="400" dirty="0">
                <a:solidFill>
                  <a:schemeClr val="accent1"/>
                </a:solidFill>
              </a:rPr>
              <a:t>TRACK</a:t>
            </a:r>
            <a:endParaRPr lang="en-US" sz="1100" dirty="0"/>
          </a:p>
        </p:txBody>
      </p:sp>
      <p:sp>
        <p:nvSpPr>
          <p:cNvPr id="13" name="Field Box 3"/>
          <p:cNvSpPr/>
          <p:nvPr/>
        </p:nvSpPr>
        <p:spPr>
          <a:xfrm>
            <a:off x="640080" y="5577840"/>
            <a:ext cx="3291840" cy="548640"/>
          </a:xfrm>
          <a:prstGeom prst="rect">
            <a:avLst/>
          </a:prstGeom>
          <a:solidFill>
            <a:schemeClr val="bg2">
              <a:alpha val="65000"/>
            </a:schemeClr>
          </a:solidFill>
          <a:ln w="15875">
            <a:solidFill>
              <a:schemeClr val="accent1"/>
            </a:solidFill>
            <a:prstDash val="solid"/>
          </a:ln>
        </p:spPr>
      </p:sp>
      <p:sp>
        <p:nvSpPr>
          <p:cNvPr id="14" name="Text 0"/>
          <p:cNvSpPr>
            <a:spLocks noGrp="1"/>
          </p:cNvSpPr>
          <p:nvPr>
            <p:ph type="body" idx="103" hasCustomPrompt="1"/>
          </p:nvPr>
        </p:nvSpPr>
        <p:spPr>
          <a:xfrm>
            <a:off x="777240" y="5577840"/>
            <a:ext cx="3017520" cy="548640"/>
          </a:xfrm>
          <a:prstGeom prst="rect">
            <a:avLst/>
          </a:prstGeom>
          <a:noFill/>
          <a:ln/>
        </p:spPr>
        <p:txBody>
          <a:bodyPr anchor="ctr" lIns="0" rIns="0"/>
          <a:lstStyle/>
          <a:p>
            <a:r>
              <a:rPr sz="1600" lang="en-US">
                <a:solidFill>
                  <a:srgbClr val="FFFFFF"/>
                </a:solidFill>
                <a:latin typeface="Calibri"/>
              </a:rPr>
              <a:t>AI Automation</a:t>
            </a:r>
          </a:p>
        </p:txBody>
      </p:sp>
      <p:sp>
        <p:nvSpPr>
          <p:cNvPr id="18" name="Tagline"/>
          <p:cNvSpPr txBox="1"/>
          <p:nvPr/>
        </p:nvSpPr>
        <p:spPr>
          <a:xfrm>
            <a:off x="7498080" y="6355080"/>
            <a:ext cx="4050792" cy="274320"/>
          </a:xfrm>
          <a:prstGeom prst="rect">
            <a:avLst/>
          </a:prstGeom>
          <a:noFill/>
          <a:ln/>
        </p:spPr>
        <p:txBody>
          <a:bodyPr wrap="square" lIns="0" tIns="0" rIns="0" bIns="0" rtlCol="0" anchor="ctr"/>
          <a:lstStyle/>
          <a:p>
            <a:pPr marL="0" indent="0" algn="r">
              <a:buNone/>
            </a:pPr>
            <a:r>
              <a:rPr lang="en-US" sz="1000" kern="0" spc="400" dirty="0"/>
              <a:t>TURN IDEAS INTO REAL SOLUTIONS</a:t>
            </a:r>
            <a:endParaRPr lang="en-US" sz="1000" dirty="0"/>
          </a:p>
        </p:txBody>
      </p:sp>
      <p:pic>
        <p:nvPicPr>
          <p:cNvPr id="15" name="Picture 14">
            <a:extLst>
              <a:ext uri="{FF2B5EF4-FFF2-40B4-BE49-F238E27FC236}">
                <ns3:creationId id="{C4B93741-B75A-7C08-C14C-9C6452E393BD}"/>
              </a:ext>
            </a:extLst>
          </p:cNvPr>
          <p:cNvPicPr>
            <a:picLocks noChangeAspect="1"/>
          </p:cNvPicPr>
          <p:nvPr/>
        </p:nvPicPr>
        <p:blipFill>
          <a:blip r:embed="rId4"/>
          <a:stretch>
            <a:fillRect/>
          </a:stretch>
        </p:blipFill>
        <p:spPr>
          <a:xfrm>
            <a:off x="219777" y="182078"/>
            <a:ext cx="931244" cy="931244"/>
          </a:xfrm>
          <a:prstGeom prst="rect">
            <a:avLst/>
          </a:prstGeom>
        </p:spPr>
      </p:pic>
      <p:pic>
        <p:nvPicPr>
          <p:cNvPr id="17" name="Picture 16" descr="Cintel Association (@cintel_association) · Chennai">
            <a:extLst>
              <a:ext uri="{FF2B5EF4-FFF2-40B4-BE49-F238E27FC236}">
                <ns3:creationId id="{E2C38E2C-1821-0E08-9437-5235DCA0F8B0}"/>
              </a:ext>
            </a:extLst>
          </p:cNvPr>
          <p:cNvPicPr>
            <a:picLocks noChangeAspect="1"/>
          </p:cNvPicPr>
          <p:nvPr/>
        </p:nvPicPr>
        <p:blipFill>
          <a:blip r:embed="rId5"/>
          <a:stretch>
            <a:fillRect/>
          </a:stretch>
        </p:blipFill>
        <p:spPr>
          <a:xfrm>
            <a:off x="11069052" y="244642"/>
            <a:ext cx="815691" cy="815691"/>
          </a:xfrm>
          <a:prstGeom prst="rect">
            <a:avLst/>
          </a:prstGeom>
        </p:spPr>
      </p:pic>
      <p:sp>
        <p:nvSpPr>
          <p:cNvPr id="120" name="An AI workspace for everyday work in India">
            <a:extLst>
              <a:ext uri="{FF2B5EF4-FFF2-40B4-BE49-F238E27FC236}">
                <ns3:creationId id="{B24482A1-2777-4093-A412-155493CCD84A}"/>
              </a:ext>
            </a:extLst>
          </p:cNvPr>
          <p:cNvSpPr>
            <a:spLocks noGrp="1"/>
          </p:cNvSpPr>
          <p:nvPr/>
        </p:nvSpPr>
        <p:spPr>
          <a:xfrm>
            <a:off x="638175" y="3752850"/>
            <a:ext cx="6477000" cy="323850"/>
          </a:xfrm>
          <a:prstGeom prst="rect">
            <a:avLst/>
          </a:prstGeom>
          <a:noFill/>
          <a:ln w="0">
            <a:noFill/>
          </a:ln>
        </p:spPr>
        <p:txBody>
          <a:bodyPr lIns="0" tIns="0" rIns="0" bIns="0" anchor="t"/>
          <a:lstStyle>
            <a:defPPr algn="l">
              <a:defRPr sz="1950" b="0">
                <a:solidFill>
                  <a:srgbClr val="C1C5CE"/>
                </a:solidFill>
                <a:latin typeface="Calibri"/>
                <a:ea typeface="Calibri"/>
                <a:cs typeface="Calibri"/>
              </a:defRPr>
            </a:defPPr>
          </a:lstStyle>
          <a:p>
            <a:pPr algn="l">
              <a:defRPr sz="1950" b="0">
                <a:solidFill>
                  <a:srgbClr val="C1C5CE"/>
                </a:solidFill>
                <a:latin typeface="Calibri"/>
                <a:ea typeface="Calibri"/>
                <a:cs typeface="Calibri"/>
              </a:defRPr>
            </a:pPr>
            <a:r>
              <a:rPr sz="1950" b="0">
                <a:solidFill>
                  <a:srgbClr val="C1C5CE"/>
                </a:solidFill>
                <a:latin typeface="Calibri"/>
                <a:ea typeface="Calibri"/>
                <a:cs typeface="Calibri"/>
              </a:rPr>
              <a:t>An AI workspace for everyday work in India</a:t>
            </a:r>
          </a:p>
        </p:txBody>
      </p:sp>
    </p:spTree>
  </p:cSld>
  <p:clrMapOvr>
    <a:masterClrMapping/>
  </p:clrMapOvr>
</p:sld>
</file>

<file path=ppt/slides/slide2.xml><?xml version="1.0" encoding="utf-8"?>
<p:sld xmlns:a="http://schemas.openxmlformats.org/drawingml/2006/main" xmlns:ns3="http://schemas.microsoft.com/office/mac/drawingml/2011/main" xmlns:ns4="http://schemas.microsoft.com/office/drawing/2014/main" xmlns:p="http://schemas.openxmlformats.org/presentationml/2006/main" xmlns:r="http://schemas.openxmlformats.org/officeDocument/2006/relationships">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Content Panel"/>
          <p:cNvSpPr/>
          <p:nvPr/>
        </p:nvSpPr>
        <p:spPr>
          <a:xfrm>
            <a:off x="640080" y="1600200"/>
            <a:ext cx="10908792" cy="4480560"/>
          </a:xfrm>
          <a:prstGeom prst="rect">
            <a:avLst/>
          </a:prstGeom>
          <a:solidFill>
            <a:schemeClr val="bg2">
              <a:alpha val="65000"/>
            </a:schemeClr>
          </a:solidFill>
          <a:ln w="15875">
            <a:solidFill>
              <a:schemeClr val="accent1"/>
            </a:solidFill>
            <a:prstDash val="solid"/>
          </a:ln>
        </p:spPr>
      </p:sp>
      <p:sp>
        <p:nvSpPr>
          <p:cNvPr id="3" name="Section Tag"/>
          <p:cNvSpPr txBox="1"/>
          <p:nvPr/>
        </p:nvSpPr>
        <p:spPr>
          <a:xfrm>
            <a:off x="640080" y="365760"/>
            <a:ext cx="2743200" cy="274320"/>
          </a:xfrm>
          <a:prstGeom prst="rect">
            <a:avLst/>
          </a:prstGeom>
          <a:noFill/>
          <a:ln/>
        </p:spPr>
        <p:txBody>
          <a:bodyPr wrap="square" lIns="0" tIns="0" rIns="0" bIns="0" rtlCol="0" anchor="ctr"/>
          <a:lstStyle/>
          <a:p>
            <a:pPr marL="0" indent="0">
              <a:buNone/>
            </a:pPr>
            <a:r>
              <a:rPr lang="en-US" sz="1100" b="1" kern="0" spc="400" dirty="0">
                <a:solidFill>
                  <a:schemeClr val="accent2"/>
                </a:solidFill>
              </a:rPr>
              <a:t>01  /  06</a:t>
            </a:r>
            <a:endParaRPr lang="en-US" sz="1100" dirty="0"/>
          </a:p>
        </p:txBody>
      </p:sp>
      <p:sp>
        <p:nvSpPr>
          <p:cNvPr id="4" name="Text 0"/>
          <p:cNvSpPr>
            <a:spLocks noGrp="1"/>
          </p:cNvSpPr>
          <p:nvPr>
            <p:ph type="title" idx="100" hasCustomPrompt="1"/>
          </p:nvPr>
        </p:nvSpPr>
        <p:spPr>
          <a:xfrm>
            <a:off x="640080" y="685800"/>
            <a:ext cx="10908792" cy="777240"/>
          </a:xfrm>
          <a:prstGeom prst="rect">
            <a:avLst/>
          </a:prstGeom>
          <a:noFill/>
          <a:ln/>
        </p:spPr>
        <p:txBody>
          <a:bodyPr wrap="square" lIns="0" tIns="0" rIns="0" bIns="0" rtlCol="0" anchor="ctr"/>
          <a:lstStyle/>
          <a:p>
            <a:pPr marL="0" indent="0" algn="l">
              <a:buNone/>
            </a:pPr>
            <a:r>
              <a:rPr lang="en-US" sz="3400" b="1" kern="0" spc="200" dirty="0">
                <a:solidFill>
                  <a:schemeClr val="tx1"/>
                </a:solidFill>
              </a:rPr>
              <a:t>PROBLEM STATEMENT</a:t>
            </a:r>
            <a:endParaRPr lang="en-US" sz="3400" dirty="0"/>
          </a:p>
        </p:txBody>
      </p:sp>
      <p:sp>
        <p:nvSpPr>
          <p:cNvPr id="5" name="Text 0"/>
          <p:cNvSpPr>
            <a:spLocks noGrp="1"/>
          </p:cNvSpPr>
          <p:nvPr>
            <p:ph type="body" idx="101" hasCustomPrompt="1"/>
          </p:nvPr>
        </p:nvSpPr>
        <p:spPr>
          <a:xfrm>
            <a:off x="960120" y="1874520"/>
            <a:ext cx="10268712" cy="3931920"/>
          </a:xfrm>
          <a:prstGeom prst="rect">
            <a:avLst/>
          </a:prstGeom>
          <a:noFill/>
          <a:ln/>
        </p:spPr>
        <p:txBody>
          <a:bodyPr wrap="square" lIns="0" tIns="0" rIns="0" bIns="0" rtlCol="0" anchor="t"/>
          <a:lstStyle/>
          <a:p>
            <a:pPr marL="0" indent="0">
              <a:buNone/>
            </a:pPr>
            <a:endParaRPr lang="en-US" sz="1800" dirty="0"/>
          </a:p>
        </p:txBody>
      </p:sp>
      <p:sp>
        <p:nvSpPr>
          <p:cNvPr id="6" name="Footer"/>
          <p:cNvSpPr txBox="1"/>
          <p:nvPr/>
        </p:nvSpPr>
        <p:spPr>
          <a:xfrm>
            <a:off x="640080" y="6355080"/>
            <a:ext cx="4572000" cy="274320"/>
          </a:xfrm>
          <a:prstGeom prst="rect">
            <a:avLst/>
          </a:prstGeom>
          <a:noFill/>
          <a:ln/>
        </p:spPr>
        <p:txBody>
          <a:bodyPr wrap="square" lIns="0" tIns="0" rIns="0" bIns="0" rtlCol="0" anchor="ctr"/>
          <a:lstStyle/>
          <a:p>
            <a:pPr marL="0" indent="0">
              <a:buNone/>
            </a:pPr>
            <a:r>
              <a:rPr lang="en-US" sz="1000" kern="0" spc="400" dirty="0">
                <a:solidFill>
                  <a:schemeClr val="tx2"/>
                </a:solidFill>
              </a:rPr>
              <a:t>CINTEL IDEATHON 3.0</a:t>
            </a:r>
            <a:endParaRPr lang="en-US" sz="1000" dirty="0"/>
          </a:p>
        </p:txBody>
      </p:sp>
      <p:sp>
        <p:nvSpPr>
          <p:cNvPr id="25" name="Slide Number Placeholder 0"/>
          <p:cNvSpPr>
            <a:spLocks noGrp="1"/>
          </p:cNvSpPr>
          <p:nvPr>
            <p:ph type="sldNum" sz="quarter" idx="4294967295"/>
          </p:nvPr>
        </p:nvSpPr>
        <p:spPr>
          <a:xfrm>
            <a:off x="10817352" y="6355080"/>
            <a:ext cx="731520" cy="274320"/>
          </a:xfrm>
          <a:prstGeom prst="rect">
            <a:avLst/>
          </a:prstGeom>
          <a:extLst>
            <a:ext uri="{C572A759-6A51-4108-AA02-DFA0A04FC94B}">
              <ns3:wrappingTextBoxFlag val="0"/>
            </a:ext>
          </a:extLst>
        </p:spPr>
        <p:txBody>
          <a:bodyPr lIns="0" tIns="0" rIns="0" bIns="0"/>
          <a:lstStyle>
            <a:lvl1pPr>
              <a:defRPr sz="1000">
                <a:solidFill>
                  <a:schemeClr val="accent1"/>
                </a:solidFill>
              </a:defRPr>
            </a:lvl1pPr>
          </a:lstStyle>
          <a:p>
            <a:pPr algn="r"/>
            <a:fld id="{F7021451-1387-4CA6-816F-3879F97B5CBC}" type="slidenum">
              <a:rPr lang="en-US" b="0"/>
              <a:t>2</a:t>
            </a:fld>
            <a:endParaRPr lang="en-US"/>
          </a:p>
        </p:txBody>
      </p:sp>
      <p:pic>
        <p:nvPicPr>
          <p:cNvPr id="8" name="Picture 7" descr="Cintel Association (@cintel_association) · Chennai">
            <a:extLst>
              <a:ext uri="{FF2B5EF4-FFF2-40B4-BE49-F238E27FC236}">
                <ns4:creationId id="{A72662FD-D237-A963-9179-40B012F5139D}"/>
              </a:ext>
            </a:extLst>
          </p:cNvPr>
          <p:cNvPicPr>
            <a:picLocks noChangeAspect="1"/>
          </p:cNvPicPr>
          <p:nvPr/>
        </p:nvPicPr>
        <p:blipFill>
          <a:blip r:embed="rId4"/>
          <a:stretch>
            <a:fillRect/>
          </a:stretch>
        </p:blipFill>
        <p:spPr>
          <a:xfrm>
            <a:off x="11069052" y="228600"/>
            <a:ext cx="815691" cy="815691"/>
          </a:xfrm>
          <a:prstGeom prst="rect">
            <a:avLst/>
          </a:prstGeom>
        </p:spPr>
      </p:pic>
      <p:sp>
        <p:nvSpPr>
          <p:cNvPr id="138" name="People still coordinate the work&#10;between their apps">
            <a:extLst>
              <a:ext uri="{FF2B5EF4-FFF2-40B4-BE49-F238E27FC236}">
                <ns4:creationId id="{EE7E6D83-BAAC-4579-9226-67D7987B683E}"/>
              </a:ext>
            </a:extLst>
          </p:cNvPr>
          <p:cNvSpPr>
            <a:spLocks noGrp="1"/>
          </p:cNvSpPr>
          <p:nvPr/>
        </p:nvSpPr>
        <p:spPr>
          <a:xfrm>
            <a:off x="990600" y="1847850"/>
            <a:ext cx="7048500" cy="838200"/>
          </a:xfrm>
          <a:prstGeom prst="rect">
            <a:avLst/>
          </a:prstGeom>
          <a:noFill/>
          <a:ln w="0">
            <a:noFill/>
          </a:ln>
        </p:spPr>
        <p:txBody>
          <a:bodyPr lIns="0" tIns="0" rIns="0" bIns="0" anchor="t"/>
          <a:lstStyle>
            <a:defPPr algn="l">
              <a:defRPr sz="2550" b="1">
                <a:solidFill>
                  <a:srgbClr val="FFFFFF"/>
                </a:solidFill>
                <a:latin typeface="Calibri"/>
                <a:ea typeface="Calibri"/>
                <a:cs typeface="Calibri"/>
              </a:defRPr>
            </a:defPPr>
          </a:lstStyle>
          <a:p>
            <a:pPr algn="l">
              <a:defRPr sz="2550" b="1">
                <a:solidFill>
                  <a:srgbClr val="FFFFFF"/>
                </a:solidFill>
                <a:latin typeface="Calibri"/>
                <a:ea typeface="Calibri"/>
                <a:cs typeface="Calibri"/>
              </a:defRPr>
            </a:pPr>
            <a:r>
              <a:rPr sz="2550" b="1">
                <a:solidFill>
                  <a:srgbClr val="FFFFFF"/>
                </a:solidFill>
                <a:latin typeface="Calibri"/>
                <a:ea typeface="Calibri"/>
                <a:cs typeface="Calibri"/>
              </a:rPr>
              <a:t>People still coordinate the work</a:t>
            </a:r>
          </a:p>
          <a:p>
            <a:pPr algn="l">
              <a:defRPr sz="2550" b="1">
                <a:solidFill>
                  <a:srgbClr val="FFFFFF"/>
                </a:solidFill>
                <a:latin typeface="Calibri"/>
                <a:ea typeface="Calibri"/>
                <a:cs typeface="Calibri"/>
              </a:defRPr>
            </a:pPr>
            <a:r>
              <a:rPr sz="2550" b="1">
                <a:solidFill>
                  <a:srgbClr val="FFFFFF"/>
                </a:solidFill>
                <a:latin typeface="Calibri"/>
                <a:ea typeface="Calibri"/>
                <a:cs typeface="Calibri"/>
              </a:rPr>
              <a:t>between their apps</a:t>
            </a:r>
          </a:p>
        </p:txBody>
      </p:sp>
      <p:sp>
        <p:nvSpPr>
          <p:cNvPr id="127" name="Repeated context">
            <a:extLst>
              <a:ext uri="{FF2B5EF4-FFF2-40B4-BE49-F238E27FC236}">
                <ns4:creationId id="{A97DA95D-A0A7-41DC-B4BA-8C4BEEE4B980}"/>
              </a:ext>
            </a:extLst>
          </p:cNvPr>
          <p:cNvSpPr>
            <a:spLocks noGrp="1"/>
          </p:cNvSpPr>
          <p:nvPr/>
        </p:nvSpPr>
        <p:spPr>
          <a:xfrm>
            <a:off x="990600" y="2924175"/>
            <a:ext cx="6762750" cy="304800"/>
          </a:xfrm>
          <a:prstGeom prst="rect">
            <a:avLst/>
          </a:prstGeom>
          <a:noFill/>
          <a:ln w="0">
            <a:noFill/>
          </a:ln>
        </p:spPr>
        <p:txBody>
          <a:bodyPr lIns="0" tIns="0" rIns="0" bIns="0" anchor="t"/>
          <a:lstStyle>
            <a:defPPr algn="l">
              <a:defRPr sz="1950" b="1">
                <a:solidFill>
                  <a:srgbClr val="FFFFFF"/>
                </a:solidFill>
                <a:latin typeface="Calibri"/>
                <a:ea typeface="Calibri"/>
                <a:cs typeface="Calibri"/>
              </a:defRPr>
            </a:defPPr>
          </a:lstStyle>
          <a:p>
            <a:pPr algn="l">
              <a:defRPr sz="1950" b="1">
                <a:solidFill>
                  <a:srgbClr val="FFFFFF"/>
                </a:solidFill>
                <a:latin typeface="Calibri"/>
                <a:ea typeface="Calibri"/>
                <a:cs typeface="Calibri"/>
              </a:defRPr>
            </a:pPr>
            <a:r>
              <a:rPr sz="1950" b="1">
                <a:solidFill>
                  <a:srgbClr val="FFFFFF"/>
                </a:solidFill>
                <a:latin typeface="Calibri"/>
                <a:ea typeface="Calibri"/>
                <a:cs typeface="Calibri"/>
              </a:rPr>
              <a:t>Repeated context</a:t>
            </a:r>
          </a:p>
        </p:txBody>
      </p:sp>
      <p:sp>
        <p:nvSpPr>
          <p:cNvPr id="128" name="Every new chat needs another explanation.">
            <a:extLst>
              <a:ext uri="{FF2B5EF4-FFF2-40B4-BE49-F238E27FC236}">
                <ns4:creationId id="{6ACBBA8D-D351-486C-A640-906BB5EE9884}"/>
              </a:ext>
            </a:extLst>
          </p:cNvPr>
          <p:cNvSpPr>
            <a:spLocks noGrp="1"/>
          </p:cNvSpPr>
          <p:nvPr/>
        </p:nvSpPr>
        <p:spPr>
          <a:xfrm>
            <a:off x="990600" y="3257550"/>
            <a:ext cx="6762750" cy="400050"/>
          </a:xfrm>
          <a:prstGeom prst="rect">
            <a:avLst/>
          </a:prstGeom>
          <a:noFill/>
          <a:ln w="0">
            <a:noFill/>
          </a:ln>
        </p:spPr>
        <p:txBody>
          <a:bodyPr lIns="0" tIns="0" rIns="0" bIns="0" anchor="t"/>
          <a:lstStyle>
            <a:defPPr algn="l">
              <a:defRPr sz="1725" b="0">
                <a:solidFill>
                  <a:srgbClr val="C1C5CE"/>
                </a:solidFill>
                <a:latin typeface="Calibri"/>
                <a:ea typeface="Calibri"/>
                <a:cs typeface="Calibri"/>
              </a:defRPr>
            </a:defPPr>
          </a:lstStyle>
          <a:p>
            <a:pPr algn="l">
              <a:defRPr sz="1725" b="0">
                <a:solidFill>
                  <a:srgbClr val="C1C5CE"/>
                </a:solidFill>
                <a:latin typeface="Calibri"/>
                <a:ea typeface="Calibri"/>
                <a:cs typeface="Calibri"/>
              </a:defRPr>
            </a:pPr>
            <a:r>
              <a:rPr sz="1725" b="0">
                <a:solidFill>
                  <a:srgbClr val="C1C5CE"/>
                </a:solidFill>
                <a:latin typeface="Calibri"/>
                <a:ea typeface="Calibri"/>
                <a:cs typeface="Calibri"/>
              </a:rPr>
              <a:t>Every new chat needs another explanation.</a:t>
            </a:r>
          </a:p>
        </p:txBody>
      </p:sp>
      <p:sp>
        <p:nvSpPr>
          <p:cNvPr id="129" name="Manual follow-through">
            <a:extLst>
              <a:ext uri="{FF2B5EF4-FFF2-40B4-BE49-F238E27FC236}">
                <ns4:creationId id="{C1C27BDC-C172-4F50-B3C0-16C44CFD0BF5}"/>
              </a:ext>
            </a:extLst>
          </p:cNvPr>
          <p:cNvSpPr>
            <a:spLocks noGrp="1"/>
          </p:cNvSpPr>
          <p:nvPr/>
        </p:nvSpPr>
        <p:spPr>
          <a:xfrm>
            <a:off x="990600" y="3733800"/>
            <a:ext cx="6762750" cy="304800"/>
          </a:xfrm>
          <a:prstGeom prst="rect">
            <a:avLst/>
          </a:prstGeom>
          <a:noFill/>
          <a:ln w="0">
            <a:noFill/>
          </a:ln>
        </p:spPr>
        <p:txBody>
          <a:bodyPr lIns="0" tIns="0" rIns="0" bIns="0" anchor="t"/>
          <a:lstStyle>
            <a:defPPr algn="l">
              <a:defRPr sz="1950" b="1">
                <a:solidFill>
                  <a:srgbClr val="FFFFFF"/>
                </a:solidFill>
                <a:latin typeface="Calibri"/>
                <a:ea typeface="Calibri"/>
                <a:cs typeface="Calibri"/>
              </a:defRPr>
            </a:defPPr>
          </a:lstStyle>
          <a:p>
            <a:pPr algn="l">
              <a:defRPr sz="1950" b="1">
                <a:solidFill>
                  <a:srgbClr val="FFFFFF"/>
                </a:solidFill>
                <a:latin typeface="Calibri"/>
                <a:ea typeface="Calibri"/>
                <a:cs typeface="Calibri"/>
              </a:defRPr>
            </a:pPr>
            <a:r>
              <a:rPr sz="1950" b="1">
                <a:solidFill>
                  <a:srgbClr val="FFFFFF"/>
                </a:solidFill>
                <a:latin typeface="Calibri"/>
                <a:ea typeface="Calibri"/>
                <a:cs typeface="Calibri"/>
              </a:rPr>
              <a:t>Manual follow-through</a:t>
            </a:r>
          </a:p>
        </p:txBody>
      </p:sp>
      <p:sp>
        <p:nvSpPr>
          <p:cNvPr id="130" name="Notes, deadlines and replies need copying between apps.">
            <a:extLst>
              <a:ext uri="{FF2B5EF4-FFF2-40B4-BE49-F238E27FC236}">
                <ns4:creationId id="{59291CB0-B8DE-408B-81F6-CC63931B3678}"/>
              </a:ext>
            </a:extLst>
          </p:cNvPr>
          <p:cNvSpPr>
            <a:spLocks noGrp="1"/>
          </p:cNvSpPr>
          <p:nvPr/>
        </p:nvSpPr>
        <p:spPr>
          <a:xfrm>
            <a:off x="990600" y="4067175"/>
            <a:ext cx="6762750" cy="400050"/>
          </a:xfrm>
          <a:prstGeom prst="rect">
            <a:avLst/>
          </a:prstGeom>
          <a:noFill/>
          <a:ln w="0">
            <a:noFill/>
          </a:ln>
        </p:spPr>
        <p:txBody>
          <a:bodyPr lIns="0" tIns="0" rIns="0" bIns="0" anchor="t"/>
          <a:lstStyle>
            <a:defPPr algn="l">
              <a:defRPr sz="1725" b="0">
                <a:solidFill>
                  <a:srgbClr val="C1C5CE"/>
                </a:solidFill>
                <a:latin typeface="Calibri"/>
                <a:ea typeface="Calibri"/>
                <a:cs typeface="Calibri"/>
              </a:defRPr>
            </a:defPPr>
          </a:lstStyle>
          <a:p>
            <a:pPr algn="l">
              <a:defRPr sz="1725" b="0">
                <a:solidFill>
                  <a:srgbClr val="C1C5CE"/>
                </a:solidFill>
                <a:latin typeface="Calibri"/>
                <a:ea typeface="Calibri"/>
                <a:cs typeface="Calibri"/>
              </a:defRPr>
            </a:pPr>
            <a:r>
              <a:rPr sz="1725" b="0">
                <a:solidFill>
                  <a:srgbClr val="C1C5CE"/>
                </a:solidFill>
                <a:latin typeface="Calibri"/>
                <a:ea typeface="Calibri"/>
                <a:cs typeface="Calibri"/>
              </a:rPr>
              <a:t>Notes, deadlines and replies need copying between apps.</a:t>
            </a:r>
          </a:p>
        </p:txBody>
      </p:sp>
      <p:sp>
        <p:nvSpPr>
          <p:cNvPr id="131" name="Local needs, global defaults">
            <a:extLst>
              <a:ext uri="{FF2B5EF4-FFF2-40B4-BE49-F238E27FC236}">
                <ns4:creationId id="{09D59BEC-DE04-41A1-998D-DF02F2D793AC}"/>
              </a:ext>
            </a:extLst>
          </p:cNvPr>
          <p:cNvSpPr>
            <a:spLocks noGrp="1"/>
          </p:cNvSpPr>
          <p:nvPr/>
        </p:nvSpPr>
        <p:spPr>
          <a:xfrm>
            <a:off x="990600" y="4543425"/>
            <a:ext cx="6762750" cy="304800"/>
          </a:xfrm>
          <a:prstGeom prst="rect">
            <a:avLst/>
          </a:prstGeom>
          <a:noFill/>
          <a:ln w="0">
            <a:noFill/>
          </a:ln>
        </p:spPr>
        <p:txBody>
          <a:bodyPr lIns="0" tIns="0" rIns="0" bIns="0" anchor="t"/>
          <a:lstStyle>
            <a:defPPr algn="l">
              <a:defRPr sz="1950" b="1">
                <a:solidFill>
                  <a:srgbClr val="FFFFFF"/>
                </a:solidFill>
                <a:latin typeface="Calibri"/>
                <a:ea typeface="Calibri"/>
                <a:cs typeface="Calibri"/>
              </a:defRPr>
            </a:defPPr>
          </a:lstStyle>
          <a:p>
            <a:pPr algn="l">
              <a:defRPr sz="1950" b="1">
                <a:solidFill>
                  <a:srgbClr val="FFFFFF"/>
                </a:solidFill>
                <a:latin typeface="Calibri"/>
                <a:ea typeface="Calibri"/>
                <a:cs typeface="Calibri"/>
              </a:defRPr>
            </a:pPr>
            <a:r>
              <a:rPr sz="1950" b="1">
                <a:solidFill>
                  <a:srgbClr val="FFFFFF"/>
                </a:solidFill>
                <a:latin typeface="Calibri"/>
                <a:ea typeface="Calibri"/>
                <a:cs typeface="Calibri"/>
              </a:rPr>
              <a:t>Local needs, global defaults</a:t>
            </a:r>
          </a:p>
        </p:txBody>
      </p:sp>
      <p:sp>
        <p:nvSpPr>
          <p:cNvPr id="132" name="Indian languages and local workflows need specific support.">
            <a:extLst>
              <a:ext uri="{FF2B5EF4-FFF2-40B4-BE49-F238E27FC236}">
                <ns4:creationId id="{04DADEE2-7004-4526-95C6-4D9600522279}"/>
              </a:ext>
            </a:extLst>
          </p:cNvPr>
          <p:cNvSpPr>
            <a:spLocks noGrp="1"/>
          </p:cNvSpPr>
          <p:nvPr/>
        </p:nvSpPr>
        <p:spPr>
          <a:xfrm>
            <a:off x="990600" y="4876800"/>
            <a:ext cx="6762750" cy="400050"/>
          </a:xfrm>
          <a:prstGeom prst="rect">
            <a:avLst/>
          </a:prstGeom>
          <a:noFill/>
          <a:ln w="0">
            <a:noFill/>
          </a:ln>
        </p:spPr>
        <p:txBody>
          <a:bodyPr lIns="0" tIns="0" rIns="0" bIns="0" anchor="t"/>
          <a:lstStyle>
            <a:defPPr algn="l">
              <a:defRPr sz="1725" b="0">
                <a:solidFill>
                  <a:srgbClr val="C1C5CE"/>
                </a:solidFill>
                <a:latin typeface="Calibri"/>
                <a:ea typeface="Calibri"/>
                <a:cs typeface="Calibri"/>
              </a:defRPr>
            </a:defPPr>
          </a:lstStyle>
          <a:p>
            <a:pPr algn="l">
              <a:defRPr sz="1725" b="0">
                <a:solidFill>
                  <a:srgbClr val="C1C5CE"/>
                </a:solidFill>
                <a:latin typeface="Calibri"/>
                <a:ea typeface="Calibri"/>
                <a:cs typeface="Calibri"/>
              </a:defRPr>
            </a:pPr>
            <a:r>
              <a:rPr sz="1725" b="0">
                <a:solidFill>
                  <a:srgbClr val="C1C5CE"/>
                </a:solidFill>
                <a:latin typeface="Calibri"/>
                <a:ea typeface="Calibri"/>
                <a:cs typeface="Calibri"/>
              </a:rPr>
              <a:t>Indian languages and local workflows need specific support.</a:t>
            </a:r>
          </a:p>
        </p:txBody>
      </p:sp>
      <p:pic>
        <p:nvPicPr>
          <p:cNvPr id="133" name="">
            <a:extLst>
              <a:ext uri="{FF2B5EF4-FFF2-40B4-BE49-F238E27FC236}">
                <ns4:creationId id="{A1AE2222-4CAE-44A6-9E74-569572AA06C9}"/>
              </a:ext>
            </a:extLst>
          </p:cNvPr>
          <p:cNvPicPr>
            <a:picLocks noChangeAspect="1"/>
          </p:cNvPicPr>
          <p:nvPr/>
        </p:nvPicPr>
        <p:blipFill>
          <a:blip r:embed="rIdSocius1"/>
          <a:stretch/>
        </p:blipFill>
        <p:spPr>
          <a:xfrm>
            <a:off x="8210550" y="2009775"/>
            <a:ext cx="2857500" cy="1905000"/>
          </a:xfrm>
          <a:prstGeom prst="rect">
            <a:avLst/>
          </a:prstGeom>
        </p:spPr>
      </p:pic>
      <p:sp>
        <p:nvSpPr>
          <p:cNvPr id="134" name="22">
            <a:extLst>
              <a:ext uri="{FF2B5EF4-FFF2-40B4-BE49-F238E27FC236}">
                <ns4:creationId id="{3392AA1C-1010-4C1C-9133-A3B29214241F}"/>
              </a:ext>
            </a:extLst>
          </p:cNvPr>
          <p:cNvSpPr>
            <a:spLocks noGrp="1"/>
          </p:cNvSpPr>
          <p:nvPr/>
        </p:nvSpPr>
        <p:spPr>
          <a:xfrm>
            <a:off x="8477250" y="4105275"/>
            <a:ext cx="2000250" cy="685800"/>
          </a:xfrm>
          <a:prstGeom prst="rect">
            <a:avLst/>
          </a:prstGeom>
          <a:noFill/>
          <a:ln w="0">
            <a:noFill/>
          </a:ln>
        </p:spPr>
        <p:txBody>
          <a:bodyPr lIns="0" tIns="0" rIns="0" bIns="0" anchor="t"/>
          <a:lstStyle>
            <a:defPPr algn="l">
              <a:defRPr sz="5025" b="1">
                <a:solidFill>
                  <a:srgbClr val="FFFFFF"/>
                </a:solidFill>
                <a:latin typeface="Calibri"/>
                <a:ea typeface="Calibri"/>
                <a:cs typeface="Calibri"/>
              </a:defRPr>
            </a:defPPr>
          </a:lstStyle>
          <a:p>
            <a:pPr algn="l">
              <a:defRPr sz="5025" b="1">
                <a:solidFill>
                  <a:srgbClr val="FFFFFF"/>
                </a:solidFill>
                <a:latin typeface="Calibri"/>
                <a:ea typeface="Calibri"/>
                <a:cs typeface="Calibri"/>
              </a:defRPr>
            </a:pPr>
            <a:r>
              <a:rPr sz="5025" b="1">
                <a:solidFill>
                  <a:srgbClr val="FFFFFF"/>
                </a:solidFill>
                <a:latin typeface="Calibri"/>
                <a:ea typeface="Calibri"/>
                <a:cs typeface="Calibri"/>
              </a:rPr>
              <a:t>22</a:t>
            </a:r>
          </a:p>
        </p:txBody>
      </p:sp>
      <p:sp>
        <p:nvSpPr>
          <p:cNvPr id="135" name="scheduled languages&#10;in India">
            <a:extLst>
              <a:ext uri="{FF2B5EF4-FFF2-40B4-BE49-F238E27FC236}">
                <ns4:creationId id="{028B1EFE-434B-49E9-9CF2-4A9201406AAE}"/>
              </a:ext>
            </a:extLst>
          </p:cNvPr>
          <p:cNvSpPr>
            <a:spLocks noGrp="1"/>
          </p:cNvSpPr>
          <p:nvPr/>
        </p:nvSpPr>
        <p:spPr>
          <a:xfrm>
            <a:off x="8477250" y="4838700"/>
            <a:ext cx="2571750" cy="609600"/>
          </a:xfrm>
          <a:prstGeom prst="rect">
            <a:avLst/>
          </a:prstGeom>
          <a:noFill/>
          <a:ln w="0">
            <a:noFill/>
          </a:ln>
        </p:spPr>
        <p:txBody>
          <a:bodyPr lIns="0" tIns="0" rIns="0" bIns="0" anchor="t"/>
          <a:lstStyle>
            <a:defPPr algn="l">
              <a:defRPr sz="1800" b="0">
                <a:solidFill>
                  <a:srgbClr val="C1C5CE"/>
                </a:solidFill>
                <a:latin typeface="Calibri"/>
                <a:ea typeface="Calibri"/>
                <a:cs typeface="Calibri"/>
              </a:defRPr>
            </a:defPPr>
          </a:lstStyle>
          <a:p>
            <a:pPr algn="l">
              <a:defRPr sz="1800" b="0">
                <a:solidFill>
                  <a:srgbClr val="C1C5CE"/>
                </a:solidFill>
                <a:latin typeface="Calibri"/>
                <a:ea typeface="Calibri"/>
                <a:cs typeface="Calibri"/>
              </a:defRPr>
            </a:pPr>
            <a:r>
              <a:rPr sz="1800" b="0">
                <a:solidFill>
                  <a:srgbClr val="C1C5CE"/>
                </a:solidFill>
                <a:latin typeface="Calibri"/>
                <a:ea typeface="Calibri"/>
                <a:cs typeface="Calibri"/>
              </a:rPr>
              <a:t>scheduled languages</a:t>
            </a:r>
          </a:p>
          <a:p>
            <a:pPr algn="l">
              <a:defRPr sz="1800" b="0">
                <a:solidFill>
                  <a:srgbClr val="C1C5CE"/>
                </a:solidFill>
                <a:latin typeface="Calibri"/>
                <a:ea typeface="Calibri"/>
                <a:cs typeface="Calibri"/>
              </a:defRPr>
            </a:pPr>
            <a:r>
              <a:rPr sz="1800" b="0">
                <a:solidFill>
                  <a:srgbClr val="C1C5CE"/>
                </a:solidFill>
                <a:latin typeface="Calibri"/>
                <a:ea typeface="Calibri"/>
                <a:cs typeface="Calibri"/>
              </a:rPr>
              <a:t>in India</a:t>
            </a:r>
          </a:p>
        </p:txBody>
      </p:sp>
      <p:sp>
        <p:nvSpPr>
          <p:cNvPr id="136" name="Source: Rajbhasha, Eighth Schedule">
            <a:extLst>
              <a:ext uri="{FF2B5EF4-FFF2-40B4-BE49-F238E27FC236}">
                <ns4:creationId id="{FBA70AE8-BB8B-47B5-9408-7EB2D9A0762F}"/>
              </a:ext>
            </a:extLst>
          </p:cNvPr>
          <p:cNvSpPr>
            <a:spLocks noGrp="1"/>
          </p:cNvSpPr>
          <p:nvPr/>
        </p:nvSpPr>
        <p:spPr>
          <a:xfrm>
            <a:off x="8401050" y="5553075"/>
            <a:ext cx="2667000" cy="247650"/>
          </a:xfrm>
          <a:prstGeom prst="rect">
            <a:avLst/>
          </a:prstGeom>
          <a:noFill/>
          <a:ln w="0">
            <a:noFill/>
          </a:ln>
        </p:spPr>
        <p:txBody>
          <a:bodyPr lIns="0" tIns="0" rIns="0" bIns="0" anchor="t"/>
          <a:lstStyle>
            <a:defPPr algn="l">
              <a:defRPr sz="1125" b="0">
                <a:solidFill>
                  <a:srgbClr val="969DAE"/>
                </a:solidFill>
                <a:latin typeface="Calibri"/>
                <a:ea typeface="Calibri"/>
                <a:cs typeface="Calibri"/>
              </a:defRPr>
            </a:defPPr>
          </a:lstStyle>
          <a:p>
            <a:pPr algn="l">
              <a:defRPr sz="1125" b="0">
                <a:solidFill>
                  <a:srgbClr val="969DAE"/>
                </a:solidFill>
                <a:latin typeface="Calibri"/>
                <a:ea typeface="Calibri"/>
                <a:cs typeface="Calibri"/>
              </a:defRPr>
            </a:pPr>
            <a:r>
              <a:rPr sz="1125" b="0">
                <a:solidFill>
                  <a:srgbClr val="969DAE"/>
                </a:solidFill>
                <a:latin typeface="Calibri"/>
                <a:ea typeface="Calibri"/>
                <a:cs typeface="Calibri"/>
              </a:rPr>
              <a:t>Source: Rajbhasha, Eighth Schedule</a:t>
            </a:r>
          </a:p>
        </p:txBody>
      </p:sp>
      <p:sp>
        <p:nvSpPr>
          <p:cNvPr id="137" name="Starting audience: students, freelancers and small businesses">
            <a:extLst>
              <a:ext uri="{FF2B5EF4-FFF2-40B4-BE49-F238E27FC236}">
                <ns4:creationId id="{7F87DF5A-854F-4729-8C72-2BAFF2601321}"/>
              </a:ext>
            </a:extLst>
          </p:cNvPr>
          <p:cNvSpPr>
            <a:spLocks noGrp="1"/>
          </p:cNvSpPr>
          <p:nvPr/>
        </p:nvSpPr>
        <p:spPr>
          <a:xfrm>
            <a:off x="990600" y="5638800"/>
            <a:ext cx="6953250" cy="285750"/>
          </a:xfrm>
          <a:prstGeom prst="rect">
            <a:avLst/>
          </a:prstGeom>
          <a:noFill/>
          <a:ln w="0">
            <a:noFill/>
          </a:ln>
        </p:spPr>
        <p:txBody>
          <a:bodyPr lIns="0" tIns="0" rIns="0" bIns="0" anchor="t"/>
          <a:lstStyle>
            <a:defPPr algn="l">
              <a:defRPr sz="1650" b="0">
                <a:solidFill>
                  <a:srgbClr val="C1C5CE"/>
                </a:solidFill>
                <a:latin typeface="Calibri"/>
                <a:ea typeface="Calibri"/>
                <a:cs typeface="Calibri"/>
              </a:defRPr>
            </a:defPPr>
          </a:lstStyle>
          <a:p>
            <a:pPr algn="l">
              <a:defRPr sz="1650" b="0">
                <a:solidFill>
                  <a:srgbClr val="C1C5CE"/>
                </a:solidFill>
                <a:latin typeface="Calibri"/>
                <a:ea typeface="Calibri"/>
                <a:cs typeface="Calibri"/>
              </a:defRPr>
            </a:pPr>
            <a:r>
              <a:rPr sz="1650" b="0">
                <a:solidFill>
                  <a:srgbClr val="C1C5CE"/>
                </a:solidFill>
                <a:latin typeface="Calibri"/>
                <a:ea typeface="Calibri"/>
                <a:cs typeface="Calibri"/>
              </a:rPr>
              <a:t>Starting audience: students, freelancers and small businesses</a:t>
            </a:r>
          </a:p>
        </p:txBody>
      </p:sp>
    </p:spTree>
  </p:cSld>
  <p:clrMapOvr>
    <a:masterClrMapping/>
  </p:clrMapOvr>
</p:sld>
</file>

<file path=ppt/slides/slide3.xml><?xml version="1.0" encoding="utf-8"?>
<p:sld xmlns:a="http://schemas.openxmlformats.org/drawingml/2006/main" xmlns:ns3="http://schemas.microsoft.com/office/mac/drawingml/2011/main" xmlns:ns4="http://schemas.microsoft.com/office/drawing/2014/main" xmlns:p="http://schemas.openxmlformats.org/presentationml/2006/main" xmlns:r="http://schemas.openxmlformats.org/officeDocument/2006/relationships">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Content Panel"/>
          <p:cNvSpPr/>
          <p:nvPr/>
        </p:nvSpPr>
        <p:spPr>
          <a:xfrm>
            <a:off x="640080" y="1600200"/>
            <a:ext cx="10908792" cy="4480560"/>
          </a:xfrm>
          <a:prstGeom prst="rect">
            <a:avLst/>
          </a:prstGeom>
          <a:solidFill>
            <a:schemeClr val="bg2">
              <a:alpha val="65000"/>
            </a:schemeClr>
          </a:solidFill>
          <a:ln w="15875">
            <a:solidFill>
              <a:schemeClr val="accent1"/>
            </a:solidFill>
            <a:prstDash val="solid"/>
          </a:ln>
        </p:spPr>
      </p:sp>
      <p:sp>
        <p:nvSpPr>
          <p:cNvPr id="3" name="Section Tag"/>
          <p:cNvSpPr txBox="1"/>
          <p:nvPr/>
        </p:nvSpPr>
        <p:spPr>
          <a:xfrm>
            <a:off x="640080" y="365760"/>
            <a:ext cx="2743200" cy="274320"/>
          </a:xfrm>
          <a:prstGeom prst="rect">
            <a:avLst/>
          </a:prstGeom>
          <a:noFill/>
          <a:ln/>
        </p:spPr>
        <p:txBody>
          <a:bodyPr wrap="square" lIns="0" tIns="0" rIns="0" bIns="0" rtlCol="0" anchor="ctr"/>
          <a:lstStyle/>
          <a:p>
            <a:pPr marL="0" indent="0">
              <a:buNone/>
            </a:pPr>
            <a:r>
              <a:rPr lang="en-US" sz="1100" b="1" kern="0" spc="400" dirty="0">
                <a:solidFill>
                  <a:schemeClr val="accent2"/>
                </a:solidFill>
              </a:rPr>
              <a:t>02  /  06</a:t>
            </a:r>
            <a:endParaRPr lang="en-US" sz="1100" dirty="0"/>
          </a:p>
        </p:txBody>
      </p:sp>
      <p:sp>
        <p:nvSpPr>
          <p:cNvPr id="4" name="Text 0"/>
          <p:cNvSpPr>
            <a:spLocks noGrp="1"/>
          </p:cNvSpPr>
          <p:nvPr>
            <p:ph type="title" idx="100" hasCustomPrompt="1"/>
          </p:nvPr>
        </p:nvSpPr>
        <p:spPr>
          <a:xfrm>
            <a:off x="640080" y="685800"/>
            <a:ext cx="10908792" cy="777240"/>
          </a:xfrm>
          <a:prstGeom prst="rect">
            <a:avLst/>
          </a:prstGeom>
          <a:noFill/>
          <a:ln/>
        </p:spPr>
        <p:txBody>
          <a:bodyPr wrap="square" lIns="0" tIns="0" rIns="0" bIns="0" rtlCol="0" anchor="ctr"/>
          <a:lstStyle/>
          <a:p>
            <a:pPr marL="0" indent="0" algn="l">
              <a:buNone/>
            </a:pPr>
            <a:r>
              <a:rPr lang="en-US" sz="3400" b="1" kern="0" spc="200" dirty="0">
                <a:solidFill>
                  <a:schemeClr val="tx1"/>
                </a:solidFill>
              </a:rPr>
              <a:t>PROPOSED SOLUTION</a:t>
            </a:r>
            <a:endParaRPr lang="en-US" sz="3400" dirty="0"/>
          </a:p>
        </p:txBody>
      </p:sp>
      <p:sp>
        <p:nvSpPr>
          <p:cNvPr id="5" name="Text 0"/>
          <p:cNvSpPr>
            <a:spLocks noGrp="1"/>
          </p:cNvSpPr>
          <p:nvPr>
            <p:ph type="body" idx="101" hasCustomPrompt="1"/>
          </p:nvPr>
        </p:nvSpPr>
        <p:spPr>
          <a:xfrm>
            <a:off x="960120" y="1874520"/>
            <a:ext cx="10268712" cy="3931920"/>
          </a:xfrm>
          <a:prstGeom prst="rect">
            <a:avLst/>
          </a:prstGeom>
          <a:noFill/>
          <a:ln/>
        </p:spPr>
        <p:txBody>
          <a:bodyPr wrap="square" lIns="0" tIns="0" rIns="0" bIns="0" rtlCol="0" anchor="t"/>
          <a:lstStyle/>
          <a:p>
            <a:pPr marL="0" indent="0">
              <a:buNone/>
            </a:pPr>
            <a:endParaRPr lang="en-US" sz="1800" dirty="0"/>
          </a:p>
        </p:txBody>
      </p:sp>
      <p:sp>
        <p:nvSpPr>
          <p:cNvPr id="6" name="Footer"/>
          <p:cNvSpPr txBox="1"/>
          <p:nvPr/>
        </p:nvSpPr>
        <p:spPr>
          <a:xfrm>
            <a:off x="640080" y="6355080"/>
            <a:ext cx="4572000" cy="274320"/>
          </a:xfrm>
          <a:prstGeom prst="rect">
            <a:avLst/>
          </a:prstGeom>
          <a:noFill/>
          <a:ln/>
        </p:spPr>
        <p:txBody>
          <a:bodyPr wrap="square" lIns="0" tIns="0" rIns="0" bIns="0" rtlCol="0" anchor="ctr"/>
          <a:lstStyle/>
          <a:p>
            <a:pPr marL="0" indent="0">
              <a:buNone/>
            </a:pPr>
            <a:r>
              <a:rPr lang="en-US" sz="1000" kern="0" spc="400" dirty="0">
                <a:solidFill>
                  <a:schemeClr val="tx2"/>
                </a:solidFill>
              </a:rPr>
              <a:t>CINTEL IDEATHON 3.0</a:t>
            </a:r>
            <a:endParaRPr lang="en-US" sz="1000" dirty="0"/>
          </a:p>
        </p:txBody>
      </p:sp>
      <p:sp>
        <p:nvSpPr>
          <p:cNvPr id="25" name="Slide Number Placeholder 0"/>
          <p:cNvSpPr>
            <a:spLocks noGrp="1"/>
          </p:cNvSpPr>
          <p:nvPr>
            <p:ph type="sldNum" sz="quarter" idx="4294967295"/>
          </p:nvPr>
        </p:nvSpPr>
        <p:spPr>
          <a:xfrm>
            <a:off x="10817352" y="6355080"/>
            <a:ext cx="731520" cy="274320"/>
          </a:xfrm>
          <a:prstGeom prst="rect">
            <a:avLst/>
          </a:prstGeom>
          <a:extLst>
            <a:ext uri="{C572A759-6A51-4108-AA02-DFA0A04FC94B}">
              <ns3:wrappingTextBoxFlag val="0"/>
            </a:ext>
          </a:extLst>
        </p:spPr>
        <p:txBody>
          <a:bodyPr lIns="0" tIns="0" rIns="0" bIns="0"/>
          <a:lstStyle>
            <a:lvl1pPr>
              <a:defRPr sz="1000">
                <a:solidFill>
                  <a:schemeClr val="accent1"/>
                </a:solidFill>
              </a:defRPr>
            </a:lvl1pPr>
          </a:lstStyle>
          <a:p>
            <a:pPr algn="r"/>
            <a:fld id="{F7021451-1387-4CA6-816F-3879F97B5CBC}" type="slidenum">
              <a:rPr lang="en-US" b="0"/>
              <a:t>3</a:t>
            </a:fld>
            <a:endParaRPr lang="en-US"/>
          </a:p>
        </p:txBody>
      </p:sp>
      <p:pic>
        <p:nvPicPr>
          <p:cNvPr id="8" name="Picture 7" descr="Cintel Association (@cintel_association) · Chennai">
            <a:extLst>
              <a:ext uri="{FF2B5EF4-FFF2-40B4-BE49-F238E27FC236}">
                <ns4:creationId id="{DE1B24FC-6170-B47A-1F69-CBDCC9A33F5D}"/>
              </a:ext>
            </a:extLst>
          </p:cNvPr>
          <p:cNvPicPr>
            <a:picLocks noChangeAspect="1"/>
          </p:cNvPicPr>
          <p:nvPr/>
        </p:nvPicPr>
        <p:blipFill>
          <a:blip r:embed="rId4"/>
          <a:stretch>
            <a:fillRect/>
          </a:stretch>
        </p:blipFill>
        <p:spPr>
          <a:xfrm>
            <a:off x="11069052" y="228600"/>
            <a:ext cx="815691" cy="815691"/>
          </a:xfrm>
          <a:prstGeom prst="rect">
            <a:avLst/>
          </a:prstGeom>
        </p:spPr>
      </p:pic>
      <p:sp>
        <p:nvSpPr>
          <p:cNvPr id="134" name="Your specialists, coordinated by Socius">
            <a:extLst>
              <a:ext uri="{FF2B5EF4-FFF2-40B4-BE49-F238E27FC236}">
                <ns4:creationId id="{81AA660C-CCCF-4A73-8944-9A58AA908AAA}"/>
              </a:ext>
            </a:extLst>
          </p:cNvPr>
          <p:cNvSpPr>
            <a:spLocks noGrp="1"/>
          </p:cNvSpPr>
          <p:nvPr/>
        </p:nvSpPr>
        <p:spPr>
          <a:xfrm>
            <a:off x="990600" y="1866900"/>
            <a:ext cx="10096500" cy="419100"/>
          </a:xfrm>
          <a:prstGeom prst="rect">
            <a:avLst/>
          </a:prstGeom>
          <a:noFill/>
          <a:ln w="0">
            <a:noFill/>
          </a:ln>
        </p:spPr>
        <p:txBody>
          <a:bodyPr lIns="0" tIns="0" rIns="0" bIns="0" anchor="t"/>
          <a:lstStyle>
            <a:defPPr algn="l">
              <a:defRPr sz="2475" b="1">
                <a:solidFill>
                  <a:srgbClr val="FFFFFF"/>
                </a:solidFill>
                <a:latin typeface="Calibri"/>
                <a:ea typeface="Calibri"/>
                <a:cs typeface="Calibri"/>
              </a:defRPr>
            </a:defPPr>
          </a:lstStyle>
          <a:p>
            <a:pPr algn="l">
              <a:defRPr sz="2475" b="1">
                <a:solidFill>
                  <a:srgbClr val="FFFFFF"/>
                </a:solidFill>
                <a:latin typeface="Calibri"/>
                <a:ea typeface="Calibri"/>
                <a:cs typeface="Calibri"/>
              </a:defRPr>
            </a:pPr>
            <a:r>
              <a:rPr sz="2475" b="1">
                <a:solidFill>
                  <a:srgbClr val="FFFFFF"/>
                </a:solidFill>
                <a:latin typeface="Calibri"/>
                <a:ea typeface="Calibri"/>
                <a:cs typeface="Calibri"/>
              </a:rPr>
              <a:t>Your specialists, coordinated by Socius</a:t>
            </a:r>
          </a:p>
        </p:txBody>
      </p:sp>
      <p:sp>
        <p:nvSpPr>
          <p:cNvPr id="127" name="One desktop workspace with personal bots, editable memory and rev">
            <a:extLst>
              <a:ext uri="{FF2B5EF4-FFF2-40B4-BE49-F238E27FC236}">
                <ns4:creationId id="{267BBBE8-9360-424E-ABF6-D35A0407CF3C}"/>
              </a:ext>
            </a:extLst>
          </p:cNvPr>
          <p:cNvSpPr>
            <a:spLocks noGrp="1"/>
          </p:cNvSpPr>
          <p:nvPr/>
        </p:nvSpPr>
        <p:spPr>
          <a:xfrm>
            <a:off x="990600" y="2343150"/>
            <a:ext cx="10191750" cy="523875"/>
          </a:xfrm>
          <a:prstGeom prst="rect">
            <a:avLst/>
          </a:prstGeom>
          <a:noFill/>
          <a:ln w="0">
            <a:noFill/>
          </a:ln>
        </p:spPr>
        <p:txBody>
          <a:bodyPr lIns="0" tIns="0" rIns="0" bIns="0" anchor="t"/>
          <a:lstStyle>
            <a:defPPr algn="l">
              <a:defRPr sz="1800" b="0">
                <a:solidFill>
                  <a:srgbClr val="C1C5CE"/>
                </a:solidFill>
                <a:latin typeface="Calibri"/>
                <a:ea typeface="Calibri"/>
                <a:cs typeface="Calibri"/>
              </a:defRPr>
            </a:defPPr>
          </a:lstStyle>
          <a:p>
            <a:pPr algn="l">
              <a:defRPr sz="1800" b="0">
                <a:solidFill>
                  <a:srgbClr val="C1C5CE"/>
                </a:solidFill>
                <a:latin typeface="Calibri"/>
                <a:ea typeface="Calibri"/>
                <a:cs typeface="Calibri"/>
              </a:defRPr>
            </a:pPr>
            <a:r>
              <a:rPr sz="1800" b="0">
                <a:solidFill>
                  <a:srgbClr val="C1C5CE"/>
                </a:solidFill>
                <a:latin typeface="Calibri"/>
                <a:ea typeface="Calibri"/>
                <a:cs typeface="Calibri"/>
              </a:rPr>
              <a:t>One desktop workspace with personal bots, editable memory and reviewed app actions.</a:t>
            </a:r>
          </a:p>
        </p:txBody>
      </p:sp>
      <p:pic>
        <p:nvPicPr>
          <p:cNvPr id="128" name="">
            <a:extLst>
              <a:ext uri="{FF2B5EF4-FFF2-40B4-BE49-F238E27FC236}">
                <ns4:creationId id="{8A8656E2-3215-4716-A51A-499B85BC1D55}"/>
              </a:ext>
            </a:extLst>
          </p:cNvPr>
          <p:cNvPicPr>
            <a:picLocks noChangeAspect="1"/>
          </p:cNvPicPr>
          <p:nvPr/>
        </p:nvPicPr>
        <p:blipFill>
          <a:blip r:embed="rIdSocius1"/>
          <a:stretch/>
        </p:blipFill>
        <p:spPr>
          <a:xfrm>
            <a:off x="990600" y="2928703"/>
            <a:ext cx="7105650" cy="2562693"/>
          </a:xfrm>
          <a:prstGeom prst="rect">
            <a:avLst/>
          </a:prstGeom>
        </p:spPr>
      </p:pic>
      <p:pic>
        <p:nvPicPr>
          <p:cNvPr id="129" name="">
            <a:extLst>
              <a:ext uri="{FF2B5EF4-FFF2-40B4-BE49-F238E27FC236}">
                <ns4:creationId id="{F72580CD-43A2-4D47-8657-FA36584F03C4}"/>
              </a:ext>
            </a:extLst>
          </p:cNvPr>
          <p:cNvPicPr>
            <a:picLocks noChangeAspect="1"/>
          </p:cNvPicPr>
          <p:nvPr/>
        </p:nvPicPr>
        <p:blipFill>
          <a:blip r:embed="rIdSocius2"/>
          <a:stretch/>
        </p:blipFill>
        <p:spPr>
          <a:xfrm>
            <a:off x="8658225" y="2878455"/>
            <a:ext cx="2476500" cy="2129790"/>
          </a:xfrm>
          <a:prstGeom prst="rect">
            <a:avLst/>
          </a:prstGeom>
        </p:spPr>
      </p:pic>
      <p:sp>
        <p:nvSpPr>
          <p:cNvPr id="130" name="Specialists answer in the same conversation">
            <a:extLst>
              <a:ext uri="{FF2B5EF4-FFF2-40B4-BE49-F238E27FC236}">
                <ns4:creationId id="{85994827-4A6E-40EF-8262-19C0D8896B9A}"/>
              </a:ext>
            </a:extLst>
          </p:cNvPr>
          <p:cNvSpPr>
            <a:spLocks noGrp="1"/>
          </p:cNvSpPr>
          <p:nvPr/>
        </p:nvSpPr>
        <p:spPr>
          <a:xfrm>
            <a:off x="990600" y="5553075"/>
            <a:ext cx="7105650" cy="266700"/>
          </a:xfrm>
          <a:prstGeom prst="rect">
            <a:avLst/>
          </a:prstGeom>
          <a:noFill/>
          <a:ln w="0">
            <a:noFill/>
          </a:ln>
        </p:spPr>
        <p:txBody>
          <a:bodyPr lIns="0" tIns="0" rIns="0" bIns="0" anchor="t"/>
          <a:lstStyle>
            <a:defPPr algn="l">
              <a:defRPr sz="1725" b="1">
                <a:solidFill>
                  <a:srgbClr val="FFFFFF"/>
                </a:solidFill>
                <a:latin typeface="Calibri"/>
                <a:ea typeface="Calibri"/>
                <a:cs typeface="Calibri"/>
              </a:defRPr>
            </a:defPPr>
          </a:lstStyle>
          <a:p>
            <a:pPr algn="l">
              <a:defRPr sz="1725" b="1">
                <a:solidFill>
                  <a:srgbClr val="FFFFFF"/>
                </a:solidFill>
                <a:latin typeface="Calibri"/>
                <a:ea typeface="Calibri"/>
                <a:cs typeface="Calibri"/>
              </a:defRPr>
            </a:pPr>
            <a:r>
              <a:rPr sz="1725" b="1">
                <a:solidFill>
                  <a:srgbClr val="FFFFFF"/>
                </a:solidFill>
                <a:latin typeface="Calibri"/>
                <a:ea typeface="Calibri"/>
                <a:cs typeface="Calibri"/>
              </a:rPr>
              <a:t>Specialists answer in the same conversation</a:t>
            </a:r>
          </a:p>
        </p:txBody>
      </p:sp>
      <p:sp>
        <p:nvSpPr>
          <p:cNvPr id="131" name="Actual product UI with demo data">
            <a:extLst>
              <a:ext uri="{FF2B5EF4-FFF2-40B4-BE49-F238E27FC236}">
                <ns4:creationId id="{2E37F819-11BD-4030-A7D5-F11AF59EE405}"/>
              </a:ext>
            </a:extLst>
          </p:cNvPr>
          <p:cNvSpPr>
            <a:spLocks noGrp="1"/>
          </p:cNvSpPr>
          <p:nvPr/>
        </p:nvSpPr>
        <p:spPr>
          <a:xfrm>
            <a:off x="990600" y="5838825"/>
            <a:ext cx="7105650" cy="171450"/>
          </a:xfrm>
          <a:prstGeom prst="rect">
            <a:avLst/>
          </a:prstGeom>
          <a:noFill/>
          <a:ln w="0">
            <a:noFill/>
          </a:ln>
        </p:spPr>
        <p:txBody>
          <a:bodyPr lIns="0" tIns="0" rIns="0" bIns="0" anchor="t"/>
          <a:lstStyle>
            <a:defPPr algn="l">
              <a:defRPr sz="1125" b="0">
                <a:solidFill>
                  <a:srgbClr val="969DAE"/>
                </a:solidFill>
                <a:latin typeface="Calibri"/>
                <a:ea typeface="Calibri"/>
                <a:cs typeface="Calibri"/>
              </a:defRPr>
            </a:defPPr>
          </a:lstStyle>
          <a:p>
            <a:pPr algn="l">
              <a:defRPr sz="1125" b="0">
                <a:solidFill>
                  <a:srgbClr val="969DAE"/>
                </a:solidFill>
                <a:latin typeface="Calibri"/>
                <a:ea typeface="Calibri"/>
                <a:cs typeface="Calibri"/>
              </a:defRPr>
            </a:pPr>
            <a:r>
              <a:rPr sz="1125" b="0">
                <a:solidFill>
                  <a:srgbClr val="969DAE"/>
                </a:solidFill>
                <a:latin typeface="Calibri"/>
                <a:ea typeface="Calibri"/>
                <a:cs typeface="Calibri"/>
              </a:rPr>
              <a:t>Actual product UI with demo data</a:t>
            </a:r>
          </a:p>
        </p:txBody>
      </p:sp>
      <p:sp>
        <p:nvSpPr>
          <p:cNvPr id="132" name="A personal AI ally">
            <a:extLst>
              <a:ext uri="{FF2B5EF4-FFF2-40B4-BE49-F238E27FC236}">
                <ns4:creationId id="{C62E696D-7531-4A11-91D3-BAC0A8F18A6D}"/>
              </a:ext>
            </a:extLst>
          </p:cNvPr>
          <p:cNvSpPr>
            <a:spLocks noGrp="1"/>
          </p:cNvSpPr>
          <p:nvPr/>
        </p:nvSpPr>
        <p:spPr>
          <a:xfrm>
            <a:off x="8562975" y="5238750"/>
            <a:ext cx="2667000" cy="323850"/>
          </a:xfrm>
          <a:prstGeom prst="rect">
            <a:avLst/>
          </a:prstGeom>
          <a:noFill/>
          <a:ln w="0">
            <a:noFill/>
          </a:ln>
        </p:spPr>
        <p:txBody>
          <a:bodyPr lIns="0" tIns="0" rIns="0" bIns="0" anchor="t"/>
          <a:lstStyle>
            <a:defPPr algn="ctr">
              <a:defRPr sz="1950" b="1">
                <a:solidFill>
                  <a:srgbClr val="FFFFFF"/>
                </a:solidFill>
                <a:latin typeface="Calibri"/>
                <a:ea typeface="Calibri"/>
                <a:cs typeface="Calibri"/>
              </a:defRPr>
            </a:defPPr>
          </a:lstStyle>
          <a:p>
            <a:pPr algn="ctr">
              <a:defRPr sz="1950" b="1">
                <a:solidFill>
                  <a:srgbClr val="FFFFFF"/>
                </a:solidFill>
                <a:latin typeface="Calibri"/>
                <a:ea typeface="Calibri"/>
                <a:cs typeface="Calibri"/>
              </a:defRPr>
            </a:pPr>
            <a:r>
              <a:rPr sz="1950" b="1">
                <a:solidFill>
                  <a:srgbClr val="FFFFFF"/>
                </a:solidFill>
                <a:latin typeface="Calibri"/>
                <a:ea typeface="Calibri"/>
                <a:cs typeface="Calibri"/>
              </a:rPr>
              <a:t>A personal AI ally</a:t>
            </a:r>
          </a:p>
        </p:txBody>
      </p:sp>
      <p:sp>
        <p:nvSpPr>
          <p:cNvPr id="133" name="Same workspace on&#10;laptop and phone.">
            <a:extLst>
              <a:ext uri="{FF2B5EF4-FFF2-40B4-BE49-F238E27FC236}">
                <ns4:creationId id="{F37BB257-8C80-463A-868B-723907DE99A5}"/>
              </a:ext>
            </a:extLst>
          </p:cNvPr>
          <p:cNvSpPr>
            <a:spLocks noGrp="1"/>
          </p:cNvSpPr>
          <p:nvPr/>
        </p:nvSpPr>
        <p:spPr>
          <a:xfrm>
            <a:off x="8477250" y="5610225"/>
            <a:ext cx="2762250" cy="428625"/>
          </a:xfrm>
          <a:prstGeom prst="rect">
            <a:avLst/>
          </a:prstGeom>
          <a:noFill/>
          <a:ln w="0">
            <a:noFill/>
          </a:ln>
        </p:spPr>
        <p:txBody>
          <a:bodyPr lIns="0" tIns="0" rIns="0" bIns="0" anchor="t"/>
          <a:lstStyle>
            <a:defPPr algn="ctr">
              <a:defRPr sz="1575" b="0">
                <a:solidFill>
                  <a:srgbClr val="C1C5CE"/>
                </a:solidFill>
                <a:latin typeface="Calibri"/>
                <a:ea typeface="Calibri"/>
                <a:cs typeface="Calibri"/>
              </a:defRPr>
            </a:defPPr>
          </a:lstStyle>
          <a:p>
            <a:pPr algn="ctr">
              <a:defRPr sz="1575" b="0">
                <a:solidFill>
                  <a:srgbClr val="C1C5CE"/>
                </a:solidFill>
                <a:latin typeface="Calibri"/>
                <a:ea typeface="Calibri"/>
                <a:cs typeface="Calibri"/>
              </a:defRPr>
            </a:pPr>
            <a:r>
              <a:rPr sz="1575" b="0">
                <a:solidFill>
                  <a:srgbClr val="C1C5CE"/>
                </a:solidFill>
                <a:latin typeface="Calibri"/>
                <a:ea typeface="Calibri"/>
                <a:cs typeface="Calibri"/>
              </a:rPr>
              <a:t>Same workspace on</a:t>
            </a:r>
          </a:p>
          <a:p>
            <a:pPr algn="ctr">
              <a:defRPr sz="1575" b="0">
                <a:solidFill>
                  <a:srgbClr val="C1C5CE"/>
                </a:solidFill>
                <a:latin typeface="Calibri"/>
                <a:ea typeface="Calibri"/>
                <a:cs typeface="Calibri"/>
              </a:defRPr>
            </a:pPr>
            <a:r>
              <a:rPr sz="1575" b="0">
                <a:solidFill>
                  <a:srgbClr val="C1C5CE"/>
                </a:solidFill>
                <a:latin typeface="Calibri"/>
                <a:ea typeface="Calibri"/>
                <a:cs typeface="Calibri"/>
              </a:rPr>
              <a:t>laptop and phone.</a:t>
            </a:r>
          </a:p>
        </p:txBody>
      </p:sp>
    </p:spTree>
  </p:cSld>
  <p:clrMapOvr>
    <a:masterClrMapping/>
  </p:clrMapOvr>
</p:sld>
</file>

<file path=ppt/slides/slide4.xml><?xml version="1.0" encoding="utf-8"?>
<p:sld xmlns:a="http://schemas.openxmlformats.org/drawingml/2006/main" xmlns:ns3="http://schemas.microsoft.com/office/mac/drawingml/2011/main" xmlns:ns4="http://schemas.microsoft.com/office/drawing/2014/main" xmlns:p="http://schemas.openxmlformats.org/presentationml/2006/main" xmlns:r="http://schemas.openxmlformats.org/officeDocument/2006/relationships">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Content Panel"/>
          <p:cNvSpPr/>
          <p:nvPr/>
        </p:nvSpPr>
        <p:spPr>
          <a:xfrm>
            <a:off x="640080" y="1600200"/>
            <a:ext cx="10908792" cy="4480560"/>
          </a:xfrm>
          <a:prstGeom prst="rect">
            <a:avLst/>
          </a:prstGeom>
          <a:solidFill>
            <a:schemeClr val="bg2">
              <a:alpha val="65000"/>
            </a:schemeClr>
          </a:solidFill>
          <a:ln w="15875">
            <a:solidFill>
              <a:schemeClr val="accent1"/>
            </a:solidFill>
            <a:prstDash val="solid"/>
          </a:ln>
        </p:spPr>
      </p:sp>
      <p:sp>
        <p:nvSpPr>
          <p:cNvPr id="3" name="Section Tag"/>
          <p:cNvSpPr txBox="1"/>
          <p:nvPr/>
        </p:nvSpPr>
        <p:spPr>
          <a:xfrm>
            <a:off x="640080" y="365760"/>
            <a:ext cx="2743200" cy="274320"/>
          </a:xfrm>
          <a:prstGeom prst="rect">
            <a:avLst/>
          </a:prstGeom>
          <a:noFill/>
          <a:ln/>
        </p:spPr>
        <p:txBody>
          <a:bodyPr wrap="square" lIns="0" tIns="0" rIns="0" bIns="0" rtlCol="0" anchor="ctr"/>
          <a:lstStyle/>
          <a:p>
            <a:pPr marL="0" indent="0">
              <a:buNone/>
            </a:pPr>
            <a:r>
              <a:rPr lang="en-US" sz="1100" b="1" kern="0" spc="400" dirty="0">
                <a:solidFill>
                  <a:schemeClr val="accent2"/>
                </a:solidFill>
              </a:rPr>
              <a:t>03  /  06</a:t>
            </a:r>
            <a:endParaRPr lang="en-US" sz="1100" dirty="0"/>
          </a:p>
        </p:txBody>
      </p:sp>
      <p:sp>
        <p:nvSpPr>
          <p:cNvPr id="4" name="Text 0"/>
          <p:cNvSpPr>
            <a:spLocks noGrp="1"/>
          </p:cNvSpPr>
          <p:nvPr>
            <p:ph type="title" idx="100" hasCustomPrompt="1"/>
          </p:nvPr>
        </p:nvSpPr>
        <p:spPr>
          <a:xfrm>
            <a:off x="640080" y="685800"/>
            <a:ext cx="10908792" cy="777240"/>
          </a:xfrm>
          <a:prstGeom prst="rect">
            <a:avLst/>
          </a:prstGeom>
          <a:noFill/>
          <a:ln/>
        </p:spPr>
        <p:txBody>
          <a:bodyPr wrap="square" lIns="0" tIns="0" rIns="0" bIns="0" rtlCol="0" anchor="ctr"/>
          <a:lstStyle/>
          <a:p>
            <a:pPr marL="0" indent="0" algn="l">
              <a:buNone/>
            </a:pPr>
            <a:r>
              <a:rPr lang="en-US" sz="3400" b="1" kern="0" spc="200" dirty="0">
                <a:solidFill>
                  <a:schemeClr val="tx1"/>
                </a:solidFill>
              </a:rPr>
              <a:t>INNOVATION &amp; KEY FEATURES</a:t>
            </a:r>
            <a:endParaRPr lang="en-US" sz="3400" dirty="0"/>
          </a:p>
        </p:txBody>
      </p:sp>
      <p:sp>
        <p:nvSpPr>
          <p:cNvPr id="5" name="Text 0"/>
          <p:cNvSpPr>
            <a:spLocks noGrp="1"/>
          </p:cNvSpPr>
          <p:nvPr>
            <p:ph type="body" idx="101" hasCustomPrompt="1"/>
          </p:nvPr>
        </p:nvSpPr>
        <p:spPr>
          <a:xfrm>
            <a:off x="960120" y="1874520"/>
            <a:ext cx="10268712" cy="3931920"/>
          </a:xfrm>
          <a:prstGeom prst="rect">
            <a:avLst/>
          </a:prstGeom>
          <a:noFill/>
          <a:ln/>
        </p:spPr>
        <p:txBody>
          <a:bodyPr wrap="square" lIns="0" tIns="0" rIns="0" bIns="0" rtlCol="0" anchor="t"/>
          <a:lstStyle/>
          <a:p>
            <a:pPr marL="0" indent="0">
              <a:buNone/>
            </a:pPr>
            <a:endParaRPr lang="en-US" sz="1800" dirty="0"/>
          </a:p>
        </p:txBody>
      </p:sp>
      <p:sp>
        <p:nvSpPr>
          <p:cNvPr id="6" name="Footer"/>
          <p:cNvSpPr txBox="1"/>
          <p:nvPr/>
        </p:nvSpPr>
        <p:spPr>
          <a:xfrm>
            <a:off x="640080" y="6355080"/>
            <a:ext cx="4572000" cy="274320"/>
          </a:xfrm>
          <a:prstGeom prst="rect">
            <a:avLst/>
          </a:prstGeom>
          <a:noFill/>
          <a:ln/>
        </p:spPr>
        <p:txBody>
          <a:bodyPr wrap="square" lIns="0" tIns="0" rIns="0" bIns="0" rtlCol="0" anchor="ctr"/>
          <a:lstStyle/>
          <a:p>
            <a:pPr marL="0" indent="0">
              <a:buNone/>
            </a:pPr>
            <a:r>
              <a:rPr lang="en-US" sz="1000" kern="0" spc="400" dirty="0">
                <a:solidFill>
                  <a:schemeClr val="tx2"/>
                </a:solidFill>
              </a:rPr>
              <a:t>CINTEL IDEATHON 3.0</a:t>
            </a:r>
            <a:endParaRPr lang="en-US" sz="1000" dirty="0"/>
          </a:p>
        </p:txBody>
      </p:sp>
      <p:sp>
        <p:nvSpPr>
          <p:cNvPr id="25" name="Slide Number Placeholder 0"/>
          <p:cNvSpPr>
            <a:spLocks noGrp="1"/>
          </p:cNvSpPr>
          <p:nvPr>
            <p:ph type="sldNum" sz="quarter" idx="4294967295"/>
          </p:nvPr>
        </p:nvSpPr>
        <p:spPr>
          <a:xfrm>
            <a:off x="10817352" y="6355080"/>
            <a:ext cx="731520" cy="274320"/>
          </a:xfrm>
          <a:prstGeom prst="rect">
            <a:avLst/>
          </a:prstGeom>
          <a:extLst>
            <a:ext uri="{C572A759-6A51-4108-AA02-DFA0A04FC94B}">
              <ns3:wrappingTextBoxFlag val="0"/>
            </a:ext>
          </a:extLst>
        </p:spPr>
        <p:txBody>
          <a:bodyPr lIns="0" tIns="0" rIns="0" bIns="0"/>
          <a:lstStyle>
            <a:lvl1pPr>
              <a:defRPr sz="1000">
                <a:solidFill>
                  <a:schemeClr val="accent1"/>
                </a:solidFill>
              </a:defRPr>
            </a:lvl1pPr>
          </a:lstStyle>
          <a:p>
            <a:pPr algn="r"/>
            <a:fld id="{F7021451-1387-4CA6-816F-3879F97B5CBC}" type="slidenum">
              <a:rPr lang="en-US" b="0"/>
              <a:t>4</a:t>
            </a:fld>
            <a:endParaRPr lang="en-US"/>
          </a:p>
        </p:txBody>
      </p:sp>
      <p:pic>
        <p:nvPicPr>
          <p:cNvPr id="8" name="Picture 7" descr="Cintel Association (@cintel_association) · Chennai">
            <a:extLst>
              <a:ext uri="{FF2B5EF4-FFF2-40B4-BE49-F238E27FC236}">
                <ns4:creationId id="{EC790905-5120-D107-BB0F-EE3D491B4C0D}"/>
              </a:ext>
            </a:extLst>
          </p:cNvPr>
          <p:cNvPicPr>
            <a:picLocks noChangeAspect="1"/>
          </p:cNvPicPr>
          <p:nvPr/>
        </p:nvPicPr>
        <p:blipFill>
          <a:blip r:embed="rId4"/>
          <a:stretch>
            <a:fillRect/>
          </a:stretch>
        </p:blipFill>
        <p:spPr>
          <a:xfrm>
            <a:off x="11069052" y="228600"/>
            <a:ext cx="815691" cy="815691"/>
          </a:xfrm>
          <a:prstGeom prst="rect">
            <a:avLst/>
          </a:prstGeom>
        </p:spPr>
      </p:pic>
      <p:sp>
        <p:nvSpPr>
          <p:cNvPr id="150" name="Delegation stays personal and permissioned">
            <a:extLst>
              <a:ext uri="{FF2B5EF4-FFF2-40B4-BE49-F238E27FC236}">
                <ns4:creationId id="{D4737C3C-9E14-41CE-95CE-7C88D293CB2B}"/>
              </a:ext>
            </a:extLst>
          </p:cNvPr>
          <p:cNvSpPr>
            <a:spLocks noGrp="1"/>
          </p:cNvSpPr>
          <p:nvPr/>
        </p:nvSpPr>
        <p:spPr>
          <a:xfrm>
            <a:off x="990600" y="1876425"/>
            <a:ext cx="10191750" cy="419100"/>
          </a:xfrm>
          <a:prstGeom prst="rect">
            <a:avLst/>
          </a:prstGeom>
          <a:noFill/>
          <a:ln w="0">
            <a:noFill/>
          </a:ln>
        </p:spPr>
        <p:txBody>
          <a:bodyPr lIns="0" tIns="0" rIns="0" bIns="0" anchor="t"/>
          <a:lstStyle>
            <a:defPPr algn="l">
              <a:defRPr sz="2400" b="1">
                <a:solidFill>
                  <a:srgbClr val="FFFFFF"/>
                </a:solidFill>
                <a:latin typeface="Calibri"/>
                <a:ea typeface="Calibri"/>
                <a:cs typeface="Calibri"/>
              </a:defRPr>
            </a:defPPr>
          </a:lstStyle>
          <a:p>
            <a:pPr algn="l">
              <a:defRPr sz="2400" b="1">
                <a:solidFill>
                  <a:srgbClr val="FFFFFF"/>
                </a:solidFill>
                <a:latin typeface="Calibri"/>
                <a:ea typeface="Calibri"/>
                <a:cs typeface="Calibri"/>
              </a:defRPr>
            </a:pPr>
            <a:r>
              <a:rPr sz="2400" b="1">
                <a:solidFill>
                  <a:srgbClr val="FFFFFF"/>
                </a:solidFill>
                <a:latin typeface="Calibri"/>
                <a:ea typeface="Calibri"/>
                <a:cs typeface="Calibri"/>
              </a:rPr>
              <a:t>Delegation stays personal and permissioned</a:t>
            </a:r>
          </a:p>
        </p:txBody>
      </p:sp>
      <p:sp>
        <p:nvSpPr>
          <p:cNvPr id="127" name="Specialists with boundaries">
            <a:extLst>
              <a:ext uri="{FF2B5EF4-FFF2-40B4-BE49-F238E27FC236}">
                <ns4:creationId id="{8BF0CE70-8B46-4171-AB14-6EB579FEB6F2}"/>
              </a:ext>
            </a:extLst>
          </p:cNvPr>
          <p:cNvSpPr>
            <a:spLocks noGrp="1"/>
          </p:cNvSpPr>
          <p:nvPr/>
        </p:nvSpPr>
        <p:spPr>
          <a:xfrm>
            <a:off x="990600" y="2543175"/>
            <a:ext cx="4810125" cy="352425"/>
          </a:xfrm>
          <a:prstGeom prst="rect">
            <a:avLst/>
          </a:prstGeom>
          <a:noFill/>
          <a:ln w="0">
            <a:noFill/>
          </a:ln>
        </p:spPr>
        <p:txBody>
          <a:bodyPr lIns="0" tIns="0" rIns="0" bIns="0" anchor="t"/>
          <a:lstStyle>
            <a:defPPr algn="l">
              <a:defRPr sz="2100" b="1">
                <a:solidFill>
                  <a:srgbClr val="FFFFFF"/>
                </a:solidFill>
                <a:latin typeface="Calibri"/>
                <a:ea typeface="Calibri"/>
                <a:cs typeface="Calibri"/>
              </a:defRPr>
            </a:defPPr>
          </a:lstStyle>
          <a:p>
            <a:pPr algn="l">
              <a:defRPr sz="2100" b="1">
                <a:solidFill>
                  <a:srgbClr val="FFFFFF"/>
                </a:solidFill>
                <a:latin typeface="Calibri"/>
                <a:ea typeface="Calibri"/>
                <a:cs typeface="Calibri"/>
              </a:defRPr>
            </a:pPr>
            <a:r>
              <a:rPr sz="2100" b="1">
                <a:solidFill>
                  <a:srgbClr val="FFFFFF"/>
                </a:solidFill>
                <a:latin typeface="Calibri"/>
                <a:ea typeface="Calibri"/>
                <a:cs typeface="Calibri"/>
              </a:rPr>
              <a:t>Specialists with boundaries</a:t>
            </a:r>
          </a:p>
        </p:txBody>
      </p:sp>
      <p:sp>
        <p:nvSpPr>
          <p:cNvPr id="128" name="Each bot has its own instructions,&#10;model, memory and app grants.">
            <a:extLst>
              <a:ext uri="{FF2B5EF4-FFF2-40B4-BE49-F238E27FC236}">
                <ns4:creationId id="{8D5DEA08-D870-4217-9D80-BB78815DB9A3}"/>
              </a:ext>
            </a:extLst>
          </p:cNvPr>
          <p:cNvSpPr>
            <a:spLocks noGrp="1"/>
          </p:cNvSpPr>
          <p:nvPr/>
        </p:nvSpPr>
        <p:spPr>
          <a:xfrm>
            <a:off x="990600" y="2952750"/>
            <a:ext cx="4810125" cy="695325"/>
          </a:xfrm>
          <a:prstGeom prst="rect">
            <a:avLst/>
          </a:prstGeom>
          <a:noFill/>
          <a:ln w="0">
            <a:noFill/>
          </a:ln>
        </p:spPr>
        <p:txBody>
          <a:bodyPr lIns="0" tIns="0" rIns="0" bIns="0" anchor="t"/>
          <a:lstStyle>
            <a:defPPr algn="l">
              <a:defRPr sz="1800" b="0">
                <a:solidFill>
                  <a:srgbClr val="C1C5CE"/>
                </a:solidFill>
                <a:latin typeface="Calibri"/>
                <a:ea typeface="Calibri"/>
                <a:cs typeface="Calibri"/>
              </a:defRPr>
            </a:defPPr>
          </a:lstStyle>
          <a:p>
            <a:pPr algn="l">
              <a:defRPr sz="1800" b="0">
                <a:solidFill>
                  <a:srgbClr val="C1C5CE"/>
                </a:solidFill>
                <a:latin typeface="Calibri"/>
                <a:ea typeface="Calibri"/>
                <a:cs typeface="Calibri"/>
              </a:defRPr>
            </a:pPr>
            <a:r>
              <a:rPr sz="1800" b="0">
                <a:solidFill>
                  <a:srgbClr val="C1C5CE"/>
                </a:solidFill>
                <a:latin typeface="Calibri"/>
                <a:ea typeface="Calibri"/>
                <a:cs typeface="Calibri"/>
              </a:rPr>
              <a:t>Each bot has its own instructions,</a:t>
            </a:r>
          </a:p>
          <a:p>
            <a:pPr algn="l">
              <a:defRPr sz="1800" b="0">
                <a:solidFill>
                  <a:srgbClr val="C1C5CE"/>
                </a:solidFill>
                <a:latin typeface="Calibri"/>
                <a:ea typeface="Calibri"/>
                <a:cs typeface="Calibri"/>
              </a:defRPr>
            </a:pPr>
            <a:r>
              <a:rPr sz="1800" b="0">
                <a:solidFill>
                  <a:srgbClr val="C1C5CE"/>
                </a:solidFill>
                <a:latin typeface="Calibri"/>
                <a:ea typeface="Calibri"/>
                <a:cs typeface="Calibri"/>
              </a:rPr>
              <a:t>model, memory and app grants.</a:t>
            </a:r>
          </a:p>
        </p:txBody>
      </p:sp>
      <p:sp>
        <p:nvSpPr>
          <p:cNvPr id="129" name="Memory you can inspect">
            <a:extLst>
              <a:ext uri="{FF2B5EF4-FFF2-40B4-BE49-F238E27FC236}">
                <ns4:creationId id="{28429B8E-0AE4-4F06-9E90-A2BA90615D11}"/>
              </a:ext>
            </a:extLst>
          </p:cNvPr>
          <p:cNvSpPr>
            <a:spLocks noGrp="1"/>
          </p:cNvSpPr>
          <p:nvPr/>
        </p:nvSpPr>
        <p:spPr>
          <a:xfrm>
            <a:off x="6315075" y="2543175"/>
            <a:ext cx="4810125" cy="352425"/>
          </a:xfrm>
          <a:prstGeom prst="rect">
            <a:avLst/>
          </a:prstGeom>
          <a:noFill/>
          <a:ln w="0">
            <a:noFill/>
          </a:ln>
        </p:spPr>
        <p:txBody>
          <a:bodyPr lIns="0" tIns="0" rIns="0" bIns="0" anchor="t"/>
          <a:lstStyle>
            <a:defPPr algn="l">
              <a:defRPr sz="2100" b="1">
                <a:solidFill>
                  <a:srgbClr val="FFFFFF"/>
                </a:solidFill>
                <a:latin typeface="Calibri"/>
                <a:ea typeface="Calibri"/>
                <a:cs typeface="Calibri"/>
              </a:defRPr>
            </a:defPPr>
          </a:lstStyle>
          <a:p>
            <a:pPr algn="l">
              <a:defRPr sz="2100" b="1">
                <a:solidFill>
                  <a:srgbClr val="FFFFFF"/>
                </a:solidFill>
                <a:latin typeface="Calibri"/>
                <a:ea typeface="Calibri"/>
                <a:cs typeface="Calibri"/>
              </a:defRPr>
            </a:pPr>
            <a:r>
              <a:rPr sz="2100" b="1">
                <a:solidFill>
                  <a:srgbClr val="FFFFFF"/>
                </a:solidFill>
                <a:latin typeface="Calibri"/>
                <a:ea typeface="Calibri"/>
                <a:cs typeface="Calibri"/>
              </a:rPr>
              <a:t>Memory you can inspect</a:t>
            </a:r>
          </a:p>
        </p:txBody>
      </p:sp>
      <p:sp>
        <p:nvSpPr>
          <p:cNvPr id="130" name="Edit or delete notes. Choose whether&#10;Dreaming consolidates them w">
            <a:extLst>
              <a:ext uri="{FF2B5EF4-FFF2-40B4-BE49-F238E27FC236}">
                <ns4:creationId id="{3800D688-75FB-425F-8AA4-B1AAF496FED2}"/>
              </a:ext>
            </a:extLst>
          </p:cNvPr>
          <p:cNvSpPr>
            <a:spLocks noGrp="1"/>
          </p:cNvSpPr>
          <p:nvPr/>
        </p:nvSpPr>
        <p:spPr>
          <a:xfrm>
            <a:off x="6315075" y="2952750"/>
            <a:ext cx="4810125" cy="695325"/>
          </a:xfrm>
          <a:prstGeom prst="rect">
            <a:avLst/>
          </a:prstGeom>
          <a:noFill/>
          <a:ln w="0">
            <a:noFill/>
          </a:ln>
        </p:spPr>
        <p:txBody>
          <a:bodyPr lIns="0" tIns="0" rIns="0" bIns="0" anchor="t"/>
          <a:lstStyle>
            <a:defPPr algn="l">
              <a:defRPr sz="1800" b="0">
                <a:solidFill>
                  <a:srgbClr val="C1C5CE"/>
                </a:solidFill>
                <a:latin typeface="Calibri"/>
                <a:ea typeface="Calibri"/>
                <a:cs typeface="Calibri"/>
              </a:defRPr>
            </a:defPPr>
          </a:lstStyle>
          <a:p>
            <a:pPr algn="l">
              <a:defRPr sz="1800" b="0">
                <a:solidFill>
                  <a:srgbClr val="C1C5CE"/>
                </a:solidFill>
                <a:latin typeface="Calibri"/>
                <a:ea typeface="Calibri"/>
                <a:cs typeface="Calibri"/>
              </a:defRPr>
            </a:pPr>
            <a:r>
              <a:rPr sz="1800" b="0">
                <a:solidFill>
                  <a:srgbClr val="C1C5CE"/>
                </a:solidFill>
                <a:latin typeface="Calibri"/>
                <a:ea typeface="Calibri"/>
                <a:cs typeface="Calibri"/>
              </a:rPr>
              <a:t>Edit or delete notes. Choose whether</a:t>
            </a:r>
          </a:p>
          <a:p>
            <a:pPr algn="l">
              <a:defRPr sz="1800" b="0">
                <a:solidFill>
                  <a:srgbClr val="C1C5CE"/>
                </a:solidFill>
                <a:latin typeface="Calibri"/>
                <a:ea typeface="Calibri"/>
                <a:cs typeface="Calibri"/>
              </a:defRPr>
            </a:pPr>
            <a:r>
              <a:rPr sz="1800" b="0">
                <a:solidFill>
                  <a:srgbClr val="C1C5CE"/>
                </a:solidFill>
                <a:latin typeface="Calibri"/>
                <a:ea typeface="Calibri"/>
                <a:cs typeface="Calibri"/>
              </a:rPr>
              <a:t>Dreaming consolidates them while idle.</a:t>
            </a:r>
          </a:p>
        </p:txBody>
      </p:sp>
      <p:sp>
        <p:nvSpPr>
          <p:cNvPr id="131" name="Skills you choose">
            <a:extLst>
              <a:ext uri="{FF2B5EF4-FFF2-40B4-BE49-F238E27FC236}">
                <ns4:creationId id="{936180D3-740A-4A3C-9311-BE0AEC76FF4B}"/>
              </a:ext>
            </a:extLst>
          </p:cNvPr>
          <p:cNvSpPr>
            <a:spLocks noGrp="1"/>
          </p:cNvSpPr>
          <p:nvPr/>
        </p:nvSpPr>
        <p:spPr>
          <a:xfrm>
            <a:off x="990600" y="3905250"/>
            <a:ext cx="4810125" cy="352425"/>
          </a:xfrm>
          <a:prstGeom prst="rect">
            <a:avLst/>
          </a:prstGeom>
          <a:noFill/>
          <a:ln w="0">
            <a:noFill/>
          </a:ln>
        </p:spPr>
        <p:txBody>
          <a:bodyPr lIns="0" tIns="0" rIns="0" bIns="0" anchor="t"/>
          <a:lstStyle>
            <a:defPPr algn="l">
              <a:defRPr sz="2100" b="1">
                <a:solidFill>
                  <a:srgbClr val="FFFFFF"/>
                </a:solidFill>
                <a:latin typeface="Calibri"/>
                <a:ea typeface="Calibri"/>
                <a:cs typeface="Calibri"/>
              </a:defRPr>
            </a:defPPr>
          </a:lstStyle>
          <a:p>
            <a:pPr algn="l">
              <a:defRPr sz="2100" b="1">
                <a:solidFill>
                  <a:srgbClr val="FFFFFF"/>
                </a:solidFill>
                <a:latin typeface="Calibri"/>
                <a:ea typeface="Calibri"/>
                <a:cs typeface="Calibri"/>
              </a:defRPr>
            </a:pPr>
            <a:r>
              <a:rPr sz="2100" b="1">
                <a:solidFill>
                  <a:srgbClr val="FFFFFF"/>
                </a:solidFill>
                <a:latin typeface="Calibri"/>
                <a:ea typeface="Calibri"/>
                <a:cs typeface="Calibri"/>
              </a:rPr>
              <a:t>Skills you choose</a:t>
            </a:r>
          </a:p>
        </p:txBody>
      </p:sp>
      <p:sp>
        <p:nvSpPr>
          <p:cNvPr id="132" name="Assign reviewed, versioned skills&#10;to individual bots.">
            <a:extLst>
              <a:ext uri="{FF2B5EF4-FFF2-40B4-BE49-F238E27FC236}">
                <ns4:creationId id="{8BC4388B-2875-4EBE-B9CD-6F00F3BCA2BD}"/>
              </a:ext>
            </a:extLst>
          </p:cNvPr>
          <p:cNvSpPr>
            <a:spLocks noGrp="1"/>
          </p:cNvSpPr>
          <p:nvPr/>
        </p:nvSpPr>
        <p:spPr>
          <a:xfrm>
            <a:off x="990600" y="4314825"/>
            <a:ext cx="4810125" cy="695325"/>
          </a:xfrm>
          <a:prstGeom prst="rect">
            <a:avLst/>
          </a:prstGeom>
          <a:noFill/>
          <a:ln w="0">
            <a:noFill/>
          </a:ln>
        </p:spPr>
        <p:txBody>
          <a:bodyPr lIns="0" tIns="0" rIns="0" bIns="0" anchor="t"/>
          <a:lstStyle>
            <a:defPPr algn="l">
              <a:defRPr sz="1800" b="0">
                <a:solidFill>
                  <a:srgbClr val="C1C5CE"/>
                </a:solidFill>
                <a:latin typeface="Calibri"/>
                <a:ea typeface="Calibri"/>
                <a:cs typeface="Calibri"/>
              </a:defRPr>
            </a:defPPr>
          </a:lstStyle>
          <a:p>
            <a:pPr algn="l">
              <a:defRPr sz="1800" b="0">
                <a:solidFill>
                  <a:srgbClr val="C1C5CE"/>
                </a:solidFill>
                <a:latin typeface="Calibri"/>
                <a:ea typeface="Calibri"/>
                <a:cs typeface="Calibri"/>
              </a:defRPr>
            </a:pPr>
            <a:r>
              <a:rPr sz="1800" b="0">
                <a:solidFill>
                  <a:srgbClr val="C1C5CE"/>
                </a:solidFill>
                <a:latin typeface="Calibri"/>
                <a:ea typeface="Calibri"/>
                <a:cs typeface="Calibri"/>
              </a:rPr>
              <a:t>Assign reviewed, versioned skills</a:t>
            </a:r>
          </a:p>
          <a:p>
            <a:pPr algn="l">
              <a:defRPr sz="1800" b="0">
                <a:solidFill>
                  <a:srgbClr val="C1C5CE"/>
                </a:solidFill>
                <a:latin typeface="Calibri"/>
                <a:ea typeface="Calibri"/>
                <a:cs typeface="Calibri"/>
              </a:defRPr>
            </a:pPr>
            <a:r>
              <a:rPr sz="1800" b="0">
                <a:solidFill>
                  <a:srgbClr val="C1C5CE"/>
                </a:solidFill>
                <a:latin typeface="Calibri"/>
                <a:ea typeface="Calibri"/>
                <a:cs typeface="Calibri"/>
              </a:rPr>
              <a:t>to individual bots.</a:t>
            </a:r>
          </a:p>
        </p:txBody>
      </p:sp>
      <p:sp>
        <p:nvSpPr>
          <p:cNvPr id="133" name="Actions you review">
            <a:extLst>
              <a:ext uri="{FF2B5EF4-FFF2-40B4-BE49-F238E27FC236}">
                <ns4:creationId id="{6F34A6DA-F190-43E8-99B7-A0A47370882A}"/>
              </a:ext>
            </a:extLst>
          </p:cNvPr>
          <p:cNvSpPr>
            <a:spLocks noGrp="1"/>
          </p:cNvSpPr>
          <p:nvPr/>
        </p:nvSpPr>
        <p:spPr>
          <a:xfrm>
            <a:off x="6315075" y="3905250"/>
            <a:ext cx="4810125" cy="352425"/>
          </a:xfrm>
          <a:prstGeom prst="rect">
            <a:avLst/>
          </a:prstGeom>
          <a:noFill/>
          <a:ln w="0">
            <a:noFill/>
          </a:ln>
        </p:spPr>
        <p:txBody>
          <a:bodyPr lIns="0" tIns="0" rIns="0" bIns="0" anchor="t"/>
          <a:lstStyle>
            <a:defPPr algn="l">
              <a:defRPr sz="2100" b="1">
                <a:solidFill>
                  <a:srgbClr val="FFFFFF"/>
                </a:solidFill>
                <a:latin typeface="Calibri"/>
                <a:ea typeface="Calibri"/>
                <a:cs typeface="Calibri"/>
              </a:defRPr>
            </a:defPPr>
          </a:lstStyle>
          <a:p>
            <a:pPr algn="l">
              <a:defRPr sz="2100" b="1">
                <a:solidFill>
                  <a:srgbClr val="FFFFFF"/>
                </a:solidFill>
                <a:latin typeface="Calibri"/>
                <a:ea typeface="Calibri"/>
                <a:cs typeface="Calibri"/>
              </a:defRPr>
            </a:pPr>
            <a:r>
              <a:rPr sz="2100" b="1">
                <a:solidFill>
                  <a:srgbClr val="FFFFFF"/>
                </a:solidFill>
                <a:latin typeface="Calibri"/>
                <a:ea typeface="Calibri"/>
                <a:cs typeface="Calibri"/>
              </a:rPr>
              <a:t>Actions you review</a:t>
            </a:r>
          </a:p>
        </p:txBody>
      </p:sp>
      <p:sp>
        <p:nvSpPr>
          <p:cNvPr id="134" name="Approve the exact external change.&#10;Inspect the activity history.">
            <a:extLst>
              <a:ext uri="{FF2B5EF4-FFF2-40B4-BE49-F238E27FC236}">
                <ns4:creationId id="{82308390-BACC-48A7-B321-4E0A93E341A6}"/>
              </a:ext>
            </a:extLst>
          </p:cNvPr>
          <p:cNvSpPr>
            <a:spLocks noGrp="1"/>
          </p:cNvSpPr>
          <p:nvPr/>
        </p:nvSpPr>
        <p:spPr>
          <a:xfrm>
            <a:off x="6315075" y="4314825"/>
            <a:ext cx="4810125" cy="695325"/>
          </a:xfrm>
          <a:prstGeom prst="rect">
            <a:avLst/>
          </a:prstGeom>
          <a:noFill/>
          <a:ln w="0">
            <a:noFill/>
          </a:ln>
        </p:spPr>
        <p:txBody>
          <a:bodyPr lIns="0" tIns="0" rIns="0" bIns="0" anchor="t"/>
          <a:lstStyle>
            <a:defPPr algn="l">
              <a:defRPr sz="1800" b="0">
                <a:solidFill>
                  <a:srgbClr val="C1C5CE"/>
                </a:solidFill>
                <a:latin typeface="Calibri"/>
                <a:ea typeface="Calibri"/>
                <a:cs typeface="Calibri"/>
              </a:defRPr>
            </a:defPPr>
          </a:lstStyle>
          <a:p>
            <a:pPr algn="l">
              <a:defRPr sz="1800" b="0">
                <a:solidFill>
                  <a:srgbClr val="C1C5CE"/>
                </a:solidFill>
                <a:latin typeface="Calibri"/>
                <a:ea typeface="Calibri"/>
                <a:cs typeface="Calibri"/>
              </a:defRPr>
            </a:pPr>
            <a:r>
              <a:rPr sz="1800" b="0">
                <a:solidFill>
                  <a:srgbClr val="C1C5CE"/>
                </a:solidFill>
                <a:latin typeface="Calibri"/>
                <a:ea typeface="Calibri"/>
                <a:cs typeface="Calibri"/>
              </a:rPr>
              <a:t>Approve the exact external change.</a:t>
            </a:r>
          </a:p>
          <a:p>
            <a:pPr algn="l">
              <a:defRPr sz="1800" b="0">
                <a:solidFill>
                  <a:srgbClr val="C1C5CE"/>
                </a:solidFill>
                <a:latin typeface="Calibri"/>
                <a:ea typeface="Calibri"/>
                <a:cs typeface="Calibri"/>
              </a:defRPr>
            </a:pPr>
            <a:r>
              <a:rPr sz="1800" b="0">
                <a:solidFill>
                  <a:srgbClr val="C1C5CE"/>
                </a:solidFill>
                <a:latin typeface="Calibri"/>
                <a:ea typeface="Calibri"/>
                <a:cs typeface="Calibri"/>
              </a:rPr>
              <a:t>Inspect the activity history.</a:t>
            </a:r>
          </a:p>
        </p:txBody>
      </p:sp>
      <p:sp>
        <p:nvSpPr>
          <p:cNvPr id="135" name="REVIEWED APP CONNECTORS">
            <a:extLst>
              <a:ext uri="{FF2B5EF4-FFF2-40B4-BE49-F238E27FC236}">
                <ns4:creationId id="{C9D42045-19C2-425F-8CAC-833F4387A5F8}"/>
              </a:ext>
            </a:extLst>
          </p:cNvPr>
          <p:cNvSpPr>
            <a:spLocks noGrp="1"/>
          </p:cNvSpPr>
          <p:nvPr/>
        </p:nvSpPr>
        <p:spPr>
          <a:xfrm>
            <a:off x="990600" y="5267325"/>
            <a:ext cx="10191750" cy="238125"/>
          </a:xfrm>
          <a:prstGeom prst="rect">
            <a:avLst/>
          </a:prstGeom>
          <a:noFill/>
          <a:ln w="0">
            <a:noFill/>
          </a:ln>
        </p:spPr>
        <p:txBody>
          <a:bodyPr lIns="0" tIns="0" rIns="0" bIns="0" anchor="t"/>
          <a:lstStyle>
            <a:defPPr algn="l">
              <a:defRPr sz="1350" b="1">
                <a:solidFill>
                  <a:srgbClr val="969DAE"/>
                </a:solidFill>
                <a:latin typeface="Calibri"/>
                <a:ea typeface="Calibri"/>
                <a:cs typeface="Calibri"/>
              </a:defRPr>
            </a:defPPr>
          </a:lstStyle>
          <a:p>
            <a:pPr algn="l">
              <a:defRPr sz="1350" b="1">
                <a:solidFill>
                  <a:srgbClr val="969DAE"/>
                </a:solidFill>
                <a:latin typeface="Calibri"/>
                <a:ea typeface="Calibri"/>
                <a:cs typeface="Calibri"/>
              </a:defRPr>
            </a:pPr>
            <a:r>
              <a:rPr sz="1350" b="1">
                <a:solidFill>
                  <a:srgbClr val="969DAE"/>
                </a:solidFill>
                <a:latin typeface="Calibri"/>
                <a:ea typeface="Calibri"/>
                <a:cs typeface="Calibri"/>
              </a:rPr>
              <a:t>REVIEWED APP CONNECTORS</a:t>
            </a:r>
          </a:p>
        </p:txBody>
      </p:sp>
      <p:pic>
        <p:nvPicPr>
          <p:cNvPr id="136" name="">
            <a:extLst>
              <a:ext uri="{FF2B5EF4-FFF2-40B4-BE49-F238E27FC236}">
                <ns4:creationId id="{F2193F69-2147-4811-AE73-A0186AC9179F}"/>
              </a:ext>
            </a:extLst>
          </p:cNvPr>
          <p:cNvPicPr>
            <a:picLocks noChangeAspect="1"/>
          </p:cNvPicPr>
          <p:nvPr/>
        </p:nvPicPr>
        <p:blipFill>
          <a:blip r:embed="rIdSocius1"/>
          <a:stretch/>
        </p:blipFill>
        <p:spPr>
          <a:xfrm>
            <a:off x="990600" y="5638800"/>
            <a:ext cx="323850" cy="323850"/>
          </a:xfrm>
          <a:prstGeom prst="rect">
            <a:avLst/>
          </a:prstGeom>
        </p:spPr>
      </p:pic>
      <p:sp>
        <p:nvSpPr>
          <p:cNvPr id="137" name="Notion">
            <a:extLst>
              <a:ext uri="{FF2B5EF4-FFF2-40B4-BE49-F238E27FC236}">
                <ns4:creationId id="{621B7A97-304E-4DE6-A1FC-96A8989AC114}"/>
              </a:ext>
            </a:extLst>
          </p:cNvPr>
          <p:cNvSpPr>
            <a:spLocks noGrp="1"/>
          </p:cNvSpPr>
          <p:nvPr/>
        </p:nvSpPr>
        <p:spPr>
          <a:xfrm>
            <a:off x="1390650" y="5686425"/>
            <a:ext cx="1028700" cy="247650"/>
          </a:xfrm>
          <a:prstGeom prst="rect">
            <a:avLst/>
          </a:prstGeom>
          <a:noFill/>
          <a:ln w="0">
            <a:noFill/>
          </a:ln>
        </p:spPr>
        <p:txBody>
          <a:bodyPr lIns="0" tIns="0" rIns="0" bIns="0" anchor="t"/>
          <a:lstStyle>
            <a:defPPr algn="l">
              <a:defRPr sz="1575" b="0">
                <a:solidFill>
                  <a:srgbClr val="C1C5CE"/>
                </a:solidFill>
                <a:latin typeface="Calibri"/>
                <a:ea typeface="Calibri"/>
                <a:cs typeface="Calibri"/>
              </a:defRPr>
            </a:defPPr>
          </a:lstStyle>
          <a:p>
            <a:pPr algn="l">
              <a:defRPr sz="1575" b="0">
                <a:solidFill>
                  <a:srgbClr val="C1C5CE"/>
                </a:solidFill>
                <a:latin typeface="Calibri"/>
                <a:ea typeface="Calibri"/>
                <a:cs typeface="Calibri"/>
              </a:defRPr>
            </a:pPr>
            <a:r>
              <a:rPr sz="1575" b="0">
                <a:solidFill>
                  <a:srgbClr val="C1C5CE"/>
                </a:solidFill>
                <a:latin typeface="Calibri"/>
                <a:ea typeface="Calibri"/>
                <a:cs typeface="Calibri"/>
              </a:rPr>
              <a:t>Notion</a:t>
            </a:r>
          </a:p>
        </p:txBody>
      </p:sp>
      <p:pic>
        <p:nvPicPr>
          <p:cNvPr id="138" name="">
            <a:extLst>
              <a:ext uri="{FF2B5EF4-FFF2-40B4-BE49-F238E27FC236}">
                <ns4:creationId id="{59CD7C43-2C9A-4953-BE97-F590C41CB7DC}"/>
              </a:ext>
            </a:extLst>
          </p:cNvPr>
          <p:cNvPicPr>
            <a:picLocks noChangeAspect="1"/>
          </p:cNvPicPr>
          <p:nvPr/>
        </p:nvPicPr>
        <p:blipFill>
          <a:blip r:embed="rIdSocius2"/>
          <a:stretch/>
        </p:blipFill>
        <p:spPr>
          <a:xfrm>
            <a:off x="2466975" y="5638800"/>
            <a:ext cx="323850" cy="323850"/>
          </a:xfrm>
          <a:prstGeom prst="rect">
            <a:avLst/>
          </a:prstGeom>
        </p:spPr>
      </p:pic>
      <p:sp>
        <p:nvSpPr>
          <p:cNvPr id="139" name="Linear">
            <a:extLst>
              <a:ext uri="{FF2B5EF4-FFF2-40B4-BE49-F238E27FC236}">
                <ns4:creationId id="{73807B3A-4EA7-48F8-90C0-07AAF8C4B77F}"/>
              </a:ext>
            </a:extLst>
          </p:cNvPr>
          <p:cNvSpPr>
            <a:spLocks noGrp="1"/>
          </p:cNvSpPr>
          <p:nvPr/>
        </p:nvSpPr>
        <p:spPr>
          <a:xfrm>
            <a:off x="2867025" y="5686425"/>
            <a:ext cx="1028700" cy="247650"/>
          </a:xfrm>
          <a:prstGeom prst="rect">
            <a:avLst/>
          </a:prstGeom>
          <a:noFill/>
          <a:ln w="0">
            <a:noFill/>
          </a:ln>
        </p:spPr>
        <p:txBody>
          <a:bodyPr lIns="0" tIns="0" rIns="0" bIns="0" anchor="t"/>
          <a:lstStyle>
            <a:defPPr algn="l">
              <a:defRPr sz="1575" b="0">
                <a:solidFill>
                  <a:srgbClr val="C1C5CE"/>
                </a:solidFill>
                <a:latin typeface="Calibri"/>
                <a:ea typeface="Calibri"/>
                <a:cs typeface="Calibri"/>
              </a:defRPr>
            </a:defPPr>
          </a:lstStyle>
          <a:p>
            <a:pPr algn="l">
              <a:defRPr sz="1575" b="0">
                <a:solidFill>
                  <a:srgbClr val="C1C5CE"/>
                </a:solidFill>
                <a:latin typeface="Calibri"/>
                <a:ea typeface="Calibri"/>
                <a:cs typeface="Calibri"/>
              </a:defRPr>
            </a:pPr>
            <a:r>
              <a:rPr sz="1575" b="0">
                <a:solidFill>
                  <a:srgbClr val="C1C5CE"/>
                </a:solidFill>
                <a:latin typeface="Calibri"/>
                <a:ea typeface="Calibri"/>
                <a:cs typeface="Calibri"/>
              </a:rPr>
              <a:t>Linear</a:t>
            </a:r>
          </a:p>
        </p:txBody>
      </p:sp>
      <p:pic>
        <p:nvPicPr>
          <p:cNvPr id="140" name="">
            <a:extLst>
              <a:ext uri="{FF2B5EF4-FFF2-40B4-BE49-F238E27FC236}">
                <ns4:creationId id="{6ECCDD60-1151-45A7-B10F-D5E28BD11147}"/>
              </a:ext>
            </a:extLst>
          </p:cNvPr>
          <p:cNvPicPr>
            <a:picLocks noChangeAspect="1"/>
          </p:cNvPicPr>
          <p:nvPr/>
        </p:nvPicPr>
        <p:blipFill>
          <a:blip r:embed="rIdSocius3"/>
          <a:stretch/>
        </p:blipFill>
        <p:spPr>
          <a:xfrm>
            <a:off x="3943350" y="5638800"/>
            <a:ext cx="323850" cy="323850"/>
          </a:xfrm>
          <a:prstGeom prst="rect">
            <a:avLst/>
          </a:prstGeom>
        </p:spPr>
      </p:pic>
      <p:sp>
        <p:nvSpPr>
          <p:cNvPr id="141" name="GitHub">
            <a:extLst>
              <a:ext uri="{FF2B5EF4-FFF2-40B4-BE49-F238E27FC236}">
                <ns4:creationId id="{E21F6E83-7EB0-40C5-96AF-CC595B816566}"/>
              </a:ext>
            </a:extLst>
          </p:cNvPr>
          <p:cNvSpPr>
            <a:spLocks noGrp="1"/>
          </p:cNvSpPr>
          <p:nvPr/>
        </p:nvSpPr>
        <p:spPr>
          <a:xfrm>
            <a:off x="4343400" y="5686425"/>
            <a:ext cx="1028700" cy="247650"/>
          </a:xfrm>
          <a:prstGeom prst="rect">
            <a:avLst/>
          </a:prstGeom>
          <a:noFill/>
          <a:ln w="0">
            <a:noFill/>
          </a:ln>
        </p:spPr>
        <p:txBody>
          <a:bodyPr lIns="0" tIns="0" rIns="0" bIns="0" anchor="t"/>
          <a:lstStyle>
            <a:defPPr algn="l">
              <a:defRPr sz="1575" b="0">
                <a:solidFill>
                  <a:srgbClr val="C1C5CE"/>
                </a:solidFill>
                <a:latin typeface="Calibri"/>
                <a:ea typeface="Calibri"/>
                <a:cs typeface="Calibri"/>
              </a:defRPr>
            </a:defPPr>
          </a:lstStyle>
          <a:p>
            <a:pPr algn="l">
              <a:defRPr sz="1575" b="0">
                <a:solidFill>
                  <a:srgbClr val="C1C5CE"/>
                </a:solidFill>
                <a:latin typeface="Calibri"/>
                <a:ea typeface="Calibri"/>
                <a:cs typeface="Calibri"/>
              </a:defRPr>
            </a:pPr>
            <a:r>
              <a:rPr sz="1575" b="0">
                <a:solidFill>
                  <a:srgbClr val="C1C5CE"/>
                </a:solidFill>
                <a:latin typeface="Calibri"/>
                <a:ea typeface="Calibri"/>
                <a:cs typeface="Calibri"/>
              </a:rPr>
              <a:t>GitHub</a:t>
            </a:r>
          </a:p>
        </p:txBody>
      </p:sp>
      <p:pic>
        <p:nvPicPr>
          <p:cNvPr id="142" name="">
            <a:extLst>
              <a:ext uri="{FF2B5EF4-FFF2-40B4-BE49-F238E27FC236}">
                <ns4:creationId id="{CCC1D18F-0F89-4284-B837-7196C03B2EED}"/>
              </a:ext>
            </a:extLst>
          </p:cNvPr>
          <p:cNvPicPr>
            <a:picLocks noChangeAspect="1"/>
          </p:cNvPicPr>
          <p:nvPr/>
        </p:nvPicPr>
        <p:blipFill>
          <a:blip r:embed="rIdSocius4"/>
          <a:stretch/>
        </p:blipFill>
        <p:spPr>
          <a:xfrm>
            <a:off x="5419725" y="5638800"/>
            <a:ext cx="323850" cy="323850"/>
          </a:xfrm>
          <a:prstGeom prst="rect">
            <a:avLst/>
          </a:prstGeom>
        </p:spPr>
      </p:pic>
      <p:sp>
        <p:nvSpPr>
          <p:cNvPr id="143" name="Gmail">
            <a:extLst>
              <a:ext uri="{FF2B5EF4-FFF2-40B4-BE49-F238E27FC236}">
                <ns4:creationId id="{2C89DE60-4AEF-4722-BB21-B4999C7C0521}"/>
              </a:ext>
            </a:extLst>
          </p:cNvPr>
          <p:cNvSpPr>
            <a:spLocks noGrp="1"/>
          </p:cNvSpPr>
          <p:nvPr/>
        </p:nvSpPr>
        <p:spPr>
          <a:xfrm>
            <a:off x="5819775" y="5686425"/>
            <a:ext cx="1028700" cy="247650"/>
          </a:xfrm>
          <a:prstGeom prst="rect">
            <a:avLst/>
          </a:prstGeom>
          <a:noFill/>
          <a:ln w="0">
            <a:noFill/>
          </a:ln>
        </p:spPr>
        <p:txBody>
          <a:bodyPr lIns="0" tIns="0" rIns="0" bIns="0" anchor="t"/>
          <a:lstStyle>
            <a:defPPr algn="l">
              <a:defRPr sz="1575" b="0">
                <a:solidFill>
                  <a:srgbClr val="C1C5CE"/>
                </a:solidFill>
                <a:latin typeface="Calibri"/>
                <a:ea typeface="Calibri"/>
                <a:cs typeface="Calibri"/>
              </a:defRPr>
            </a:defPPr>
          </a:lstStyle>
          <a:p>
            <a:pPr algn="l">
              <a:defRPr sz="1575" b="0">
                <a:solidFill>
                  <a:srgbClr val="C1C5CE"/>
                </a:solidFill>
                <a:latin typeface="Calibri"/>
                <a:ea typeface="Calibri"/>
                <a:cs typeface="Calibri"/>
              </a:defRPr>
            </a:pPr>
            <a:r>
              <a:rPr sz="1575" b="0">
                <a:solidFill>
                  <a:srgbClr val="C1C5CE"/>
                </a:solidFill>
                <a:latin typeface="Calibri"/>
                <a:ea typeface="Calibri"/>
                <a:cs typeface="Calibri"/>
              </a:rPr>
              <a:t>Gmail</a:t>
            </a:r>
          </a:p>
        </p:txBody>
      </p:sp>
      <p:pic>
        <p:nvPicPr>
          <p:cNvPr id="144" name="">
            <a:extLst>
              <a:ext uri="{FF2B5EF4-FFF2-40B4-BE49-F238E27FC236}">
                <ns4:creationId id="{8A318C70-2B24-4745-B423-1FBDF546448E}"/>
              </a:ext>
            </a:extLst>
          </p:cNvPr>
          <p:cNvPicPr>
            <a:picLocks noChangeAspect="1"/>
          </p:cNvPicPr>
          <p:nvPr/>
        </p:nvPicPr>
        <p:blipFill>
          <a:blip r:embed="rIdSocius5"/>
          <a:stretch/>
        </p:blipFill>
        <p:spPr>
          <a:xfrm>
            <a:off x="6896100" y="5638800"/>
            <a:ext cx="323850" cy="323850"/>
          </a:xfrm>
          <a:prstGeom prst="rect">
            <a:avLst/>
          </a:prstGeom>
        </p:spPr>
      </p:pic>
      <p:sp>
        <p:nvSpPr>
          <p:cNvPr id="145" name="Calendar">
            <a:extLst>
              <a:ext uri="{FF2B5EF4-FFF2-40B4-BE49-F238E27FC236}">
                <ns4:creationId id="{C0F28A74-C73F-4256-AD2B-3B06AC6C39CB}"/>
              </a:ext>
            </a:extLst>
          </p:cNvPr>
          <p:cNvSpPr>
            <a:spLocks noGrp="1"/>
          </p:cNvSpPr>
          <p:nvPr/>
        </p:nvSpPr>
        <p:spPr>
          <a:xfrm>
            <a:off x="7296150" y="5686425"/>
            <a:ext cx="1028700" cy="247650"/>
          </a:xfrm>
          <a:prstGeom prst="rect">
            <a:avLst/>
          </a:prstGeom>
          <a:noFill/>
          <a:ln w="0">
            <a:noFill/>
          </a:ln>
        </p:spPr>
        <p:txBody>
          <a:bodyPr lIns="0" tIns="0" rIns="0" bIns="0" anchor="t"/>
          <a:lstStyle>
            <a:defPPr algn="l">
              <a:defRPr sz="1575" b="0">
                <a:solidFill>
                  <a:srgbClr val="C1C5CE"/>
                </a:solidFill>
                <a:latin typeface="Calibri"/>
                <a:ea typeface="Calibri"/>
                <a:cs typeface="Calibri"/>
              </a:defRPr>
            </a:defPPr>
          </a:lstStyle>
          <a:p>
            <a:pPr algn="l">
              <a:defRPr sz="1575" b="0">
                <a:solidFill>
                  <a:srgbClr val="C1C5CE"/>
                </a:solidFill>
                <a:latin typeface="Calibri"/>
                <a:ea typeface="Calibri"/>
                <a:cs typeface="Calibri"/>
              </a:defRPr>
            </a:pPr>
            <a:r>
              <a:rPr sz="1575" b="0">
                <a:solidFill>
                  <a:srgbClr val="C1C5CE"/>
                </a:solidFill>
                <a:latin typeface="Calibri"/>
                <a:ea typeface="Calibri"/>
                <a:cs typeface="Calibri"/>
              </a:rPr>
              <a:t>Calendar</a:t>
            </a:r>
          </a:p>
        </p:txBody>
      </p:sp>
      <p:pic>
        <p:nvPicPr>
          <p:cNvPr id="146" name="">
            <a:extLst>
              <a:ext uri="{FF2B5EF4-FFF2-40B4-BE49-F238E27FC236}">
                <ns4:creationId id="{B491FB3E-0E40-4442-B7C3-5583DCB67B52}"/>
              </a:ext>
            </a:extLst>
          </p:cNvPr>
          <p:cNvPicPr>
            <a:picLocks noChangeAspect="1"/>
          </p:cNvPicPr>
          <p:nvPr/>
        </p:nvPicPr>
        <p:blipFill>
          <a:blip r:embed="rIdSocius6"/>
          <a:stretch/>
        </p:blipFill>
        <p:spPr>
          <a:xfrm>
            <a:off x="8372475" y="5638800"/>
            <a:ext cx="323850" cy="323850"/>
          </a:xfrm>
          <a:prstGeom prst="rect">
            <a:avLst/>
          </a:prstGeom>
        </p:spPr>
      </p:pic>
      <p:sp>
        <p:nvSpPr>
          <p:cNvPr id="147" name="Slack">
            <a:extLst>
              <a:ext uri="{FF2B5EF4-FFF2-40B4-BE49-F238E27FC236}">
                <ns4:creationId id="{A9BA2F3C-D081-4B3A-A65B-C3E83B18BD0C}"/>
              </a:ext>
            </a:extLst>
          </p:cNvPr>
          <p:cNvSpPr>
            <a:spLocks noGrp="1"/>
          </p:cNvSpPr>
          <p:nvPr/>
        </p:nvSpPr>
        <p:spPr>
          <a:xfrm>
            <a:off x="8772525" y="5686425"/>
            <a:ext cx="1028700" cy="247650"/>
          </a:xfrm>
          <a:prstGeom prst="rect">
            <a:avLst/>
          </a:prstGeom>
          <a:noFill/>
          <a:ln w="0">
            <a:noFill/>
          </a:ln>
        </p:spPr>
        <p:txBody>
          <a:bodyPr lIns="0" tIns="0" rIns="0" bIns="0" anchor="t"/>
          <a:lstStyle>
            <a:defPPr algn="l">
              <a:defRPr sz="1575" b="0">
                <a:solidFill>
                  <a:srgbClr val="C1C5CE"/>
                </a:solidFill>
                <a:latin typeface="Calibri"/>
                <a:ea typeface="Calibri"/>
                <a:cs typeface="Calibri"/>
              </a:defRPr>
            </a:defPPr>
          </a:lstStyle>
          <a:p>
            <a:pPr algn="l">
              <a:defRPr sz="1575" b="0">
                <a:solidFill>
                  <a:srgbClr val="C1C5CE"/>
                </a:solidFill>
                <a:latin typeface="Calibri"/>
                <a:ea typeface="Calibri"/>
                <a:cs typeface="Calibri"/>
              </a:defRPr>
            </a:pPr>
            <a:r>
              <a:rPr sz="1575" b="0">
                <a:solidFill>
                  <a:srgbClr val="C1C5CE"/>
                </a:solidFill>
                <a:latin typeface="Calibri"/>
                <a:ea typeface="Calibri"/>
                <a:cs typeface="Calibri"/>
              </a:rPr>
              <a:t>Slack</a:t>
            </a:r>
          </a:p>
        </p:txBody>
      </p:sp>
      <p:pic>
        <p:nvPicPr>
          <p:cNvPr id="148" name="">
            <a:extLst>
              <a:ext uri="{FF2B5EF4-FFF2-40B4-BE49-F238E27FC236}">
                <ns4:creationId id="{BB26E706-F584-4811-86AD-913BB7A63A6B}"/>
              </a:ext>
            </a:extLst>
          </p:cNvPr>
          <p:cNvPicPr>
            <a:picLocks noChangeAspect="1"/>
          </p:cNvPicPr>
          <p:nvPr/>
        </p:nvPicPr>
        <p:blipFill>
          <a:blip r:embed="rIdSocius7"/>
          <a:stretch/>
        </p:blipFill>
        <p:spPr>
          <a:xfrm>
            <a:off x="9848850" y="5638800"/>
            <a:ext cx="323850" cy="323850"/>
          </a:xfrm>
          <a:prstGeom prst="rect">
            <a:avLst/>
          </a:prstGeom>
        </p:spPr>
      </p:pic>
      <p:sp>
        <p:nvSpPr>
          <p:cNvPr id="149" name="Drive">
            <a:extLst>
              <a:ext uri="{FF2B5EF4-FFF2-40B4-BE49-F238E27FC236}">
                <ns4:creationId id="{EDCF33FF-4512-4736-A7A2-F1CAA9C0049C}"/>
              </a:ext>
            </a:extLst>
          </p:cNvPr>
          <p:cNvSpPr>
            <a:spLocks noGrp="1"/>
          </p:cNvSpPr>
          <p:nvPr/>
        </p:nvSpPr>
        <p:spPr>
          <a:xfrm>
            <a:off x="10248900" y="5686425"/>
            <a:ext cx="1028700" cy="247650"/>
          </a:xfrm>
          <a:prstGeom prst="rect">
            <a:avLst/>
          </a:prstGeom>
          <a:noFill/>
          <a:ln w="0">
            <a:noFill/>
          </a:ln>
        </p:spPr>
        <p:txBody>
          <a:bodyPr lIns="0" tIns="0" rIns="0" bIns="0" anchor="t"/>
          <a:lstStyle>
            <a:defPPr algn="l">
              <a:defRPr sz="1575" b="0">
                <a:solidFill>
                  <a:srgbClr val="C1C5CE"/>
                </a:solidFill>
                <a:latin typeface="Calibri"/>
                <a:ea typeface="Calibri"/>
                <a:cs typeface="Calibri"/>
              </a:defRPr>
            </a:defPPr>
          </a:lstStyle>
          <a:p>
            <a:pPr algn="l">
              <a:defRPr sz="1575" b="0">
                <a:solidFill>
                  <a:srgbClr val="C1C5CE"/>
                </a:solidFill>
                <a:latin typeface="Calibri"/>
                <a:ea typeface="Calibri"/>
                <a:cs typeface="Calibri"/>
              </a:defRPr>
            </a:pPr>
            <a:r>
              <a:rPr sz="1575" b="0">
                <a:solidFill>
                  <a:srgbClr val="C1C5CE"/>
                </a:solidFill>
                <a:latin typeface="Calibri"/>
                <a:ea typeface="Calibri"/>
                <a:cs typeface="Calibri"/>
              </a:rPr>
              <a:t>Drive</a:t>
            </a:r>
          </a:p>
        </p:txBody>
      </p:sp>
    </p:spTree>
  </p:cSld>
  <p:clrMapOvr>
    <a:masterClrMapping/>
  </p:clrMapOvr>
</p:sld>
</file>

<file path=ppt/slides/slide5.xml><?xml version="1.0" encoding="utf-8"?>
<p:sld xmlns:a="http://schemas.openxmlformats.org/drawingml/2006/main" xmlns:ns3="http://schemas.microsoft.com/office/mac/drawingml/2011/main" xmlns:ns4="http://schemas.microsoft.com/office/drawing/2014/main" xmlns:p="http://schemas.openxmlformats.org/presentationml/2006/main" xmlns:r="http://schemas.openxmlformats.org/officeDocument/2006/relationships">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Content Panel"/>
          <p:cNvSpPr/>
          <p:nvPr/>
        </p:nvSpPr>
        <p:spPr>
          <a:xfrm>
            <a:off x="640080" y="1600200"/>
            <a:ext cx="10908792" cy="4480560"/>
          </a:xfrm>
          <a:prstGeom prst="rect">
            <a:avLst/>
          </a:prstGeom>
          <a:solidFill>
            <a:schemeClr val="bg2">
              <a:alpha val="65000"/>
            </a:schemeClr>
          </a:solidFill>
          <a:ln w="15875">
            <a:solidFill>
              <a:schemeClr val="accent1"/>
            </a:solidFill>
            <a:prstDash val="solid"/>
          </a:ln>
        </p:spPr>
      </p:sp>
      <p:sp>
        <p:nvSpPr>
          <p:cNvPr id="3" name="Section Tag"/>
          <p:cNvSpPr txBox="1"/>
          <p:nvPr/>
        </p:nvSpPr>
        <p:spPr>
          <a:xfrm>
            <a:off x="640080" y="365760"/>
            <a:ext cx="2743200" cy="274320"/>
          </a:xfrm>
          <a:prstGeom prst="rect">
            <a:avLst/>
          </a:prstGeom>
          <a:noFill/>
          <a:ln/>
        </p:spPr>
        <p:txBody>
          <a:bodyPr wrap="square" lIns="0" tIns="0" rIns="0" bIns="0" rtlCol="0" anchor="ctr"/>
          <a:lstStyle/>
          <a:p>
            <a:pPr marL="0" indent="0">
              <a:buNone/>
            </a:pPr>
            <a:r>
              <a:rPr lang="en-US" sz="1100" b="1" kern="0" spc="400" dirty="0">
                <a:solidFill>
                  <a:schemeClr val="accent2"/>
                </a:solidFill>
              </a:rPr>
              <a:t>04  /  06</a:t>
            </a:r>
            <a:endParaRPr lang="en-US" sz="1100" dirty="0"/>
          </a:p>
        </p:txBody>
      </p:sp>
      <p:sp>
        <p:nvSpPr>
          <p:cNvPr id="4" name="Text 0"/>
          <p:cNvSpPr>
            <a:spLocks noGrp="1"/>
          </p:cNvSpPr>
          <p:nvPr>
            <p:ph type="title" idx="100" hasCustomPrompt="1"/>
          </p:nvPr>
        </p:nvSpPr>
        <p:spPr>
          <a:xfrm>
            <a:off x="640080" y="685800"/>
            <a:ext cx="10908792" cy="777240"/>
          </a:xfrm>
          <a:prstGeom prst="rect">
            <a:avLst/>
          </a:prstGeom>
          <a:noFill/>
          <a:ln/>
        </p:spPr>
        <p:txBody>
          <a:bodyPr wrap="square" lIns="0" tIns="0" rIns="0" bIns="0" rtlCol="0" anchor="ctr"/>
          <a:lstStyle/>
          <a:p>
            <a:pPr marL="0" indent="0" algn="l">
              <a:buNone/>
            </a:pPr>
            <a:r>
              <a:rPr lang="en-US" sz="3400" b="1" kern="0" spc="200" dirty="0">
                <a:solidFill>
                  <a:schemeClr val="tx1"/>
                </a:solidFill>
              </a:rPr>
              <a:t>TECHNICAL APPROACH &amp; PROTOTYPE</a:t>
            </a:r>
            <a:endParaRPr lang="en-US" sz="3400" dirty="0"/>
          </a:p>
        </p:txBody>
      </p:sp>
      <p:sp>
        <p:nvSpPr>
          <p:cNvPr id="5" name="Text 0"/>
          <p:cNvSpPr>
            <a:spLocks noGrp="1"/>
          </p:cNvSpPr>
          <p:nvPr>
            <p:ph type="body" idx="101" hasCustomPrompt="1"/>
          </p:nvPr>
        </p:nvSpPr>
        <p:spPr>
          <a:xfrm>
            <a:off x="960120" y="1874520"/>
            <a:ext cx="10268712" cy="3931920"/>
          </a:xfrm>
          <a:prstGeom prst="rect">
            <a:avLst/>
          </a:prstGeom>
          <a:noFill/>
          <a:ln/>
        </p:spPr>
        <p:txBody>
          <a:bodyPr wrap="square" lIns="0" tIns="0" rIns="0" bIns="0" rtlCol="0" anchor="t"/>
          <a:lstStyle/>
          <a:p>
            <a:pPr marL="0" indent="0">
              <a:buNone/>
            </a:pPr>
            <a:endParaRPr lang="en-US" sz="1800" dirty="0"/>
          </a:p>
        </p:txBody>
      </p:sp>
      <p:sp>
        <p:nvSpPr>
          <p:cNvPr id="6" name="Footer"/>
          <p:cNvSpPr txBox="1"/>
          <p:nvPr/>
        </p:nvSpPr>
        <p:spPr>
          <a:xfrm>
            <a:off x="640080" y="6355080"/>
            <a:ext cx="4572000" cy="274320"/>
          </a:xfrm>
          <a:prstGeom prst="rect">
            <a:avLst/>
          </a:prstGeom>
          <a:noFill/>
          <a:ln/>
        </p:spPr>
        <p:txBody>
          <a:bodyPr wrap="square" lIns="0" tIns="0" rIns="0" bIns="0" rtlCol="0" anchor="ctr"/>
          <a:lstStyle/>
          <a:p>
            <a:pPr marL="0" indent="0">
              <a:buNone/>
            </a:pPr>
            <a:r>
              <a:rPr lang="en-US" sz="1000" kern="0" spc="400" dirty="0">
                <a:solidFill>
                  <a:schemeClr val="tx2"/>
                </a:solidFill>
              </a:rPr>
              <a:t>CINTEL IDEATHON 3.0</a:t>
            </a:r>
            <a:endParaRPr lang="en-US" sz="1000" dirty="0"/>
          </a:p>
        </p:txBody>
      </p:sp>
      <p:sp>
        <p:nvSpPr>
          <p:cNvPr id="25" name="Slide Number Placeholder 0"/>
          <p:cNvSpPr>
            <a:spLocks noGrp="1"/>
          </p:cNvSpPr>
          <p:nvPr>
            <p:ph type="sldNum" sz="quarter" idx="4294967295"/>
          </p:nvPr>
        </p:nvSpPr>
        <p:spPr>
          <a:xfrm>
            <a:off x="10817352" y="6355080"/>
            <a:ext cx="731520" cy="274320"/>
          </a:xfrm>
          <a:prstGeom prst="rect">
            <a:avLst/>
          </a:prstGeom>
          <a:extLst>
            <a:ext uri="{C572A759-6A51-4108-AA02-DFA0A04FC94B}">
              <ns3:wrappingTextBoxFlag val="0"/>
            </a:ext>
          </a:extLst>
        </p:spPr>
        <p:txBody>
          <a:bodyPr lIns="0" tIns="0" rIns="0" bIns="0"/>
          <a:lstStyle>
            <a:lvl1pPr>
              <a:defRPr sz="1000">
                <a:solidFill>
                  <a:schemeClr val="accent1"/>
                </a:solidFill>
              </a:defRPr>
            </a:lvl1pPr>
          </a:lstStyle>
          <a:p>
            <a:pPr algn="r"/>
            <a:fld id="{F7021451-1387-4CA6-816F-3879F97B5CBC}" type="slidenum">
              <a:rPr lang="en-US" b="0"/>
              <a:t>5</a:t>
            </a:fld>
            <a:endParaRPr lang="en-US"/>
          </a:p>
        </p:txBody>
      </p:sp>
      <p:pic>
        <p:nvPicPr>
          <p:cNvPr id="8" name="Picture 7" descr="Cintel Association (@cintel_association) · Chennai">
            <a:extLst>
              <a:ext uri="{FF2B5EF4-FFF2-40B4-BE49-F238E27FC236}">
                <ns4:creationId id="{E7AC66BE-200B-F622-1B08-CBD3C0757E20}"/>
              </a:ext>
            </a:extLst>
          </p:cNvPr>
          <p:cNvPicPr>
            <a:picLocks noChangeAspect="1"/>
          </p:cNvPicPr>
          <p:nvPr/>
        </p:nvPicPr>
        <p:blipFill>
          <a:blip r:embed="rId4"/>
          <a:stretch>
            <a:fillRect/>
          </a:stretch>
        </p:blipFill>
        <p:spPr>
          <a:xfrm>
            <a:off x="11069052" y="228600"/>
            <a:ext cx="815691" cy="815691"/>
          </a:xfrm>
          <a:prstGeom prst="rect">
            <a:avLst/>
          </a:prstGeom>
        </p:spPr>
      </p:pic>
      <p:sp>
        <p:nvSpPr>
          <p:cNvPr id="130" name="One runtime, shared across desktop and phone">
            <a:extLst>
              <a:ext uri="{FF2B5EF4-FFF2-40B4-BE49-F238E27FC236}">
                <ns4:creationId id="{DD80BB64-14DA-4BC3-9220-08E243FF27A0}"/>
              </a:ext>
            </a:extLst>
          </p:cNvPr>
          <p:cNvSpPr>
            <a:spLocks noGrp="1"/>
          </p:cNvSpPr>
          <p:nvPr/>
        </p:nvSpPr>
        <p:spPr>
          <a:xfrm>
            <a:off x="990600" y="1857375"/>
            <a:ext cx="10191750" cy="419100"/>
          </a:xfrm>
          <a:prstGeom prst="rect">
            <a:avLst/>
          </a:prstGeom>
          <a:noFill/>
          <a:ln w="0">
            <a:noFill/>
          </a:ln>
        </p:spPr>
        <p:txBody>
          <a:bodyPr lIns="0" tIns="0" rIns="0" bIns="0" anchor="t"/>
          <a:lstStyle>
            <a:defPPr algn="l">
              <a:defRPr sz="2325" b="1">
                <a:solidFill>
                  <a:srgbClr val="FFFFFF"/>
                </a:solidFill>
                <a:latin typeface="Calibri"/>
                <a:ea typeface="Calibri"/>
                <a:cs typeface="Calibri"/>
              </a:defRPr>
            </a:defPPr>
          </a:lstStyle>
          <a:p>
            <a:pPr algn="l">
              <a:defRPr sz="2325" b="1">
                <a:solidFill>
                  <a:srgbClr val="FFFFFF"/>
                </a:solidFill>
                <a:latin typeface="Calibri"/>
                <a:ea typeface="Calibri"/>
                <a:cs typeface="Calibri"/>
              </a:defRPr>
            </a:pPr>
            <a:r>
              <a:rPr sz="2325" b="1">
                <a:solidFill>
                  <a:srgbClr val="FFFFFF"/>
                </a:solidFill>
                <a:latin typeface="Calibri"/>
                <a:ea typeface="Calibri"/>
                <a:cs typeface="Calibri"/>
              </a:rPr>
              <a:t>One runtime, shared across desktop and phone</a:t>
            </a:r>
          </a:p>
        </p:txBody>
      </p:sp>
      <p:sp>
        <p:nvSpPr>
          <p:cNvPr id="127" name="Tools use the same policy and approval boundary.">
            <a:extLst>
              <a:ext uri="{FF2B5EF4-FFF2-40B4-BE49-F238E27FC236}">
                <ns4:creationId id="{5B245AE0-9AC8-4271-923B-D6F36CC11242}"/>
              </a:ext>
            </a:extLst>
          </p:cNvPr>
          <p:cNvSpPr>
            <a:spLocks noGrp="1"/>
          </p:cNvSpPr>
          <p:nvPr/>
        </p:nvSpPr>
        <p:spPr>
          <a:xfrm>
            <a:off x="990600" y="2295525"/>
            <a:ext cx="10191750" cy="333375"/>
          </a:xfrm>
          <a:prstGeom prst="rect">
            <a:avLst/>
          </a:prstGeom>
          <a:noFill/>
          <a:ln w="0">
            <a:noFill/>
          </a:ln>
        </p:spPr>
        <p:txBody>
          <a:bodyPr lIns="0" tIns="0" rIns="0" bIns="0" anchor="t"/>
          <a:lstStyle>
            <a:defPPr algn="l">
              <a:defRPr sz="1725" b="0">
                <a:solidFill>
                  <a:srgbClr val="C1C5CE"/>
                </a:solidFill>
                <a:latin typeface="Calibri"/>
                <a:ea typeface="Calibri"/>
                <a:cs typeface="Calibri"/>
              </a:defRPr>
            </a:defPPr>
          </a:lstStyle>
          <a:p>
            <a:pPr algn="l">
              <a:defRPr sz="1725" b="0">
                <a:solidFill>
                  <a:srgbClr val="C1C5CE"/>
                </a:solidFill>
                <a:latin typeface="Calibri"/>
                <a:ea typeface="Calibri"/>
                <a:cs typeface="Calibri"/>
              </a:defRPr>
            </a:pPr>
            <a:r>
              <a:rPr sz="1725" b="0">
                <a:solidFill>
                  <a:srgbClr val="C1C5CE"/>
                </a:solidFill>
                <a:latin typeface="Calibri"/>
                <a:ea typeface="Calibri"/>
                <a:cs typeface="Calibri"/>
              </a:rPr>
              <a:t>Tools use the same policy and approval boundary.</a:t>
            </a:r>
          </a:p>
        </p:txBody>
      </p:sp>
      <p:pic>
        <p:nvPicPr>
          <p:cNvPr id="128" name="">
            <a:extLst>
              <a:ext uri="{FF2B5EF4-FFF2-40B4-BE49-F238E27FC236}">
                <ns4:creationId id="{010DB191-3193-4803-BA50-1571E903FF02}"/>
              </a:ext>
            </a:extLst>
          </p:cNvPr>
          <p:cNvPicPr>
            <a:picLocks noChangeAspect="1"/>
          </p:cNvPicPr>
          <p:nvPr/>
        </p:nvPicPr>
        <p:blipFill>
          <a:blip r:embed="rIdSocius1"/>
          <a:stretch/>
        </p:blipFill>
        <p:spPr>
          <a:xfrm>
            <a:off x="990600" y="2695575"/>
            <a:ext cx="10191750" cy="3057525"/>
          </a:xfrm>
          <a:prstGeom prst="rect">
            <a:avLst/>
          </a:prstGeom>
        </p:spPr>
      </p:pic>
      <p:sp>
        <p:nvSpPr>
          <p:cNvPr id="129" name="React + Electron     AI SDK     SQLite + Markdown     Tailscale H">
            <a:extLst>
              <a:ext uri="{FF2B5EF4-FFF2-40B4-BE49-F238E27FC236}">
                <ns4:creationId id="{47740619-C66C-4B6B-AE57-B3D390C96470}"/>
              </a:ext>
            </a:extLst>
          </p:cNvPr>
          <p:cNvSpPr>
            <a:spLocks noGrp="1"/>
          </p:cNvSpPr>
          <p:nvPr/>
        </p:nvSpPr>
        <p:spPr>
          <a:xfrm>
            <a:off x="990600" y="5829300"/>
            <a:ext cx="10191750" cy="228600"/>
          </a:xfrm>
          <a:prstGeom prst="rect">
            <a:avLst/>
          </a:prstGeom>
          <a:noFill/>
          <a:ln w="0">
            <a:noFill/>
          </a:ln>
        </p:spPr>
        <p:txBody>
          <a:bodyPr lIns="0" tIns="0" rIns="0" bIns="0" anchor="t"/>
          <a:lstStyle>
            <a:defPPr algn="l">
              <a:defRPr sz="1425" b="0">
                <a:solidFill>
                  <a:srgbClr val="C1C5CE"/>
                </a:solidFill>
                <a:latin typeface="Calibri"/>
                <a:ea typeface="Calibri"/>
                <a:cs typeface="Calibri"/>
              </a:defRPr>
            </a:defPPr>
          </a:lstStyle>
          <a:p>
            <a:pPr algn="l">
              <a:defRPr sz="1425" b="0">
                <a:solidFill>
                  <a:srgbClr val="C1C5CE"/>
                </a:solidFill>
                <a:latin typeface="Calibri"/>
                <a:ea typeface="Calibri"/>
                <a:cs typeface="Calibri"/>
              </a:defRPr>
            </a:pPr>
            <a:r>
              <a:rPr sz="1425" b="0">
                <a:solidFill>
                  <a:srgbClr val="C1C5CE"/>
                </a:solidFill>
                <a:latin typeface="Calibri"/>
                <a:ea typeface="Calibri"/>
                <a:cs typeface="Calibri"/>
              </a:rPr>
              <a:t>React + Electron     AI SDK     SQLite + Markdown     Tailscale HTTPS     MCP</a:t>
            </a:r>
          </a:p>
        </p:txBody>
      </p:sp>
    </p:spTree>
  </p:cSld>
  <p:clrMapOvr>
    <a:masterClrMapping/>
  </p:clrMapOvr>
</p:sld>
</file>

<file path=ppt/slides/slide6.xml><?xml version="1.0" encoding="utf-8"?>
<p:sld xmlns:a="http://schemas.openxmlformats.org/drawingml/2006/main" xmlns:ns3="http://schemas.microsoft.com/office/mac/drawingml/2011/main" xmlns:ns4="http://schemas.microsoft.com/office/drawing/2014/main" xmlns:p="http://schemas.openxmlformats.org/presentationml/2006/main" xmlns:r="http://schemas.openxmlformats.org/officeDocument/2006/relationships">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Content Panel"/>
          <p:cNvSpPr/>
          <p:nvPr/>
        </p:nvSpPr>
        <p:spPr>
          <a:xfrm>
            <a:off x="640080" y="1600200"/>
            <a:ext cx="10908792" cy="4480560"/>
          </a:xfrm>
          <a:prstGeom prst="rect">
            <a:avLst/>
          </a:prstGeom>
          <a:solidFill>
            <a:schemeClr val="bg2">
              <a:alpha val="65000"/>
            </a:schemeClr>
          </a:solidFill>
          <a:ln w="15875">
            <a:solidFill>
              <a:schemeClr val="accent1"/>
            </a:solidFill>
            <a:prstDash val="solid"/>
          </a:ln>
        </p:spPr>
      </p:sp>
      <p:sp>
        <p:nvSpPr>
          <p:cNvPr id="3" name="Section Tag"/>
          <p:cNvSpPr txBox="1"/>
          <p:nvPr/>
        </p:nvSpPr>
        <p:spPr>
          <a:xfrm>
            <a:off x="640080" y="365760"/>
            <a:ext cx="2743200" cy="274320"/>
          </a:xfrm>
          <a:prstGeom prst="rect">
            <a:avLst/>
          </a:prstGeom>
          <a:noFill/>
          <a:ln/>
        </p:spPr>
        <p:txBody>
          <a:bodyPr wrap="square" lIns="0" tIns="0" rIns="0" bIns="0" rtlCol="0" anchor="ctr"/>
          <a:lstStyle/>
          <a:p>
            <a:pPr marL="0" indent="0">
              <a:buNone/>
            </a:pPr>
            <a:r>
              <a:rPr lang="en-US" sz="1100" b="1" kern="0" spc="400" dirty="0">
                <a:solidFill>
                  <a:schemeClr val="accent2"/>
                </a:solidFill>
              </a:rPr>
              <a:t>05  /  06</a:t>
            </a:r>
            <a:endParaRPr lang="en-US" sz="1100" dirty="0"/>
          </a:p>
        </p:txBody>
      </p:sp>
      <p:sp>
        <p:nvSpPr>
          <p:cNvPr id="4" name="Text 0"/>
          <p:cNvSpPr>
            <a:spLocks noGrp="1"/>
          </p:cNvSpPr>
          <p:nvPr>
            <p:ph type="title" idx="100" hasCustomPrompt="1"/>
          </p:nvPr>
        </p:nvSpPr>
        <p:spPr>
          <a:xfrm>
            <a:off x="640080" y="685800"/>
            <a:ext cx="10908792" cy="777240"/>
          </a:xfrm>
          <a:prstGeom prst="rect">
            <a:avLst/>
          </a:prstGeom>
          <a:noFill/>
          <a:ln/>
        </p:spPr>
        <p:txBody>
          <a:bodyPr wrap="square" lIns="0" tIns="0" rIns="0" bIns="0" rtlCol="0" anchor="ctr"/>
          <a:lstStyle/>
          <a:p>
            <a:pPr marL="0" indent="0" algn="l">
              <a:buNone/>
            </a:pPr>
            <a:r>
              <a:rPr lang="en-US" sz="3400" b="1" kern="0" spc="200" dirty="0">
                <a:solidFill>
                  <a:schemeClr val="tx1"/>
                </a:solidFill>
              </a:rPr>
              <a:t>FEASIBILITY &amp; VIABILITY</a:t>
            </a:r>
            <a:endParaRPr lang="en-US" sz="3400" dirty="0"/>
          </a:p>
        </p:txBody>
      </p:sp>
      <p:sp>
        <p:nvSpPr>
          <p:cNvPr id="5" name="Text 0"/>
          <p:cNvSpPr>
            <a:spLocks noGrp="1"/>
          </p:cNvSpPr>
          <p:nvPr>
            <p:ph type="body" idx="101" hasCustomPrompt="1"/>
          </p:nvPr>
        </p:nvSpPr>
        <p:spPr>
          <a:xfrm>
            <a:off x="960120" y="1874520"/>
            <a:ext cx="10268712" cy="3931920"/>
          </a:xfrm>
          <a:prstGeom prst="rect">
            <a:avLst/>
          </a:prstGeom>
          <a:noFill/>
          <a:ln/>
        </p:spPr>
        <p:txBody>
          <a:bodyPr wrap="square" lIns="0" tIns="0" rIns="0" bIns="0" rtlCol="0" anchor="t"/>
          <a:lstStyle/>
          <a:p>
            <a:pPr marL="0" indent="0">
              <a:buNone/>
            </a:pPr>
            <a:endParaRPr lang="en-US" sz="1800" dirty="0"/>
          </a:p>
        </p:txBody>
      </p:sp>
      <p:sp>
        <p:nvSpPr>
          <p:cNvPr id="6" name="Footer"/>
          <p:cNvSpPr txBox="1"/>
          <p:nvPr/>
        </p:nvSpPr>
        <p:spPr>
          <a:xfrm>
            <a:off x="640080" y="6355080"/>
            <a:ext cx="4572000" cy="274320"/>
          </a:xfrm>
          <a:prstGeom prst="rect">
            <a:avLst/>
          </a:prstGeom>
          <a:noFill/>
          <a:ln/>
        </p:spPr>
        <p:txBody>
          <a:bodyPr wrap="square" lIns="0" tIns="0" rIns="0" bIns="0" rtlCol="0" anchor="ctr"/>
          <a:lstStyle/>
          <a:p>
            <a:pPr marL="0" indent="0">
              <a:buNone/>
            </a:pPr>
            <a:r>
              <a:rPr lang="en-US" sz="1000" kern="0" spc="400" dirty="0">
                <a:solidFill>
                  <a:schemeClr val="tx2"/>
                </a:solidFill>
              </a:rPr>
              <a:t>CINTEL IDEATHON 3.0</a:t>
            </a:r>
            <a:endParaRPr lang="en-US" sz="1000" dirty="0"/>
          </a:p>
        </p:txBody>
      </p:sp>
      <p:sp>
        <p:nvSpPr>
          <p:cNvPr id="25" name="Slide Number Placeholder 0"/>
          <p:cNvSpPr>
            <a:spLocks noGrp="1"/>
          </p:cNvSpPr>
          <p:nvPr>
            <p:ph type="sldNum" sz="quarter" idx="4294967295"/>
          </p:nvPr>
        </p:nvSpPr>
        <p:spPr>
          <a:xfrm>
            <a:off x="10817352" y="6355080"/>
            <a:ext cx="731520" cy="274320"/>
          </a:xfrm>
          <a:prstGeom prst="rect">
            <a:avLst/>
          </a:prstGeom>
          <a:extLst>
            <a:ext uri="{C572A759-6A51-4108-AA02-DFA0A04FC94B}">
              <ns3:wrappingTextBoxFlag val="0"/>
            </a:ext>
          </a:extLst>
        </p:spPr>
        <p:txBody>
          <a:bodyPr lIns="0" tIns="0" rIns="0" bIns="0"/>
          <a:lstStyle>
            <a:lvl1pPr>
              <a:defRPr sz="1000">
                <a:solidFill>
                  <a:schemeClr val="accent1"/>
                </a:solidFill>
              </a:defRPr>
            </a:lvl1pPr>
          </a:lstStyle>
          <a:p>
            <a:pPr algn="r"/>
            <a:fld id="{F7021451-1387-4CA6-816F-3879F97B5CBC}" type="slidenum">
              <a:rPr lang="en-US" b="0"/>
              <a:t>6</a:t>
            </a:fld>
            <a:endParaRPr lang="en-US"/>
          </a:p>
        </p:txBody>
      </p:sp>
      <p:pic>
        <p:nvPicPr>
          <p:cNvPr id="8" name="Picture 7" descr="Cintel Association (@cintel_association) · Chennai">
            <a:extLst>
              <a:ext uri="{FF2B5EF4-FFF2-40B4-BE49-F238E27FC236}">
                <ns4:creationId id="{B3F9C345-3175-0FC3-774D-B65145684CE2}"/>
              </a:ext>
            </a:extLst>
          </p:cNvPr>
          <p:cNvPicPr>
            <a:picLocks noChangeAspect="1"/>
          </p:cNvPicPr>
          <p:nvPr/>
        </p:nvPicPr>
        <p:blipFill>
          <a:blip r:embed="rId4"/>
          <a:stretch>
            <a:fillRect/>
          </a:stretch>
        </p:blipFill>
        <p:spPr>
          <a:xfrm>
            <a:off x="11069052" y="228600"/>
            <a:ext cx="815691" cy="815691"/>
          </a:xfrm>
          <a:prstGeom prst="rect">
            <a:avLst/>
          </a:prstGeom>
        </p:spPr>
      </p:pic>
      <p:sp>
        <p:nvSpPr>
          <p:cNvPr id="136" name="Working prototype, with a focused path to pilot">
            <a:extLst>
              <a:ext uri="{FF2B5EF4-FFF2-40B4-BE49-F238E27FC236}">
                <ns4:creationId id="{D18ED0B0-02E8-4B20-A156-E85EA27C94D9}"/>
              </a:ext>
            </a:extLst>
          </p:cNvPr>
          <p:cNvSpPr>
            <a:spLocks noGrp="1"/>
          </p:cNvSpPr>
          <p:nvPr/>
        </p:nvSpPr>
        <p:spPr>
          <a:xfrm>
            <a:off x="990600" y="1866900"/>
            <a:ext cx="10191750" cy="409575"/>
          </a:xfrm>
          <a:prstGeom prst="rect">
            <a:avLst/>
          </a:prstGeom>
          <a:noFill/>
          <a:ln w="0">
            <a:noFill/>
          </a:ln>
        </p:spPr>
        <p:txBody>
          <a:bodyPr lIns="0" tIns="0" rIns="0" bIns="0" anchor="t"/>
          <a:lstStyle>
            <a:defPPr algn="l">
              <a:defRPr sz="2325" b="1">
                <a:solidFill>
                  <a:srgbClr val="FFFFFF"/>
                </a:solidFill>
                <a:latin typeface="Calibri"/>
                <a:ea typeface="Calibri"/>
                <a:cs typeface="Calibri"/>
              </a:defRPr>
            </a:defPPr>
          </a:lstStyle>
          <a:p>
            <a:pPr algn="l">
              <a:defRPr sz="2325" b="1">
                <a:solidFill>
                  <a:srgbClr val="FFFFFF"/>
                </a:solidFill>
                <a:latin typeface="Calibri"/>
                <a:ea typeface="Calibri"/>
                <a:cs typeface="Calibri"/>
              </a:defRPr>
            </a:pPr>
            <a:r>
              <a:rPr sz="2325" b="1">
                <a:solidFill>
                  <a:srgbClr val="FFFFFF"/>
                </a:solidFill>
                <a:latin typeface="Calibri"/>
                <a:ea typeface="Calibri"/>
                <a:cs typeface="Calibri"/>
              </a:rPr>
              <a:t>Working prototype, with a focused path to pilot</a:t>
            </a:r>
          </a:p>
        </p:txBody>
      </p:sp>
      <p:sp>
        <p:nvSpPr>
          <p:cNvPr id="127" name="Built today">
            <a:extLst>
              <a:ext uri="{FF2B5EF4-FFF2-40B4-BE49-F238E27FC236}">
                <ns4:creationId id="{49BD4064-B1FE-4A6C-A98D-55466277737A}"/>
              </a:ext>
            </a:extLst>
          </p:cNvPr>
          <p:cNvSpPr>
            <a:spLocks noGrp="1"/>
          </p:cNvSpPr>
          <p:nvPr/>
        </p:nvSpPr>
        <p:spPr>
          <a:xfrm>
            <a:off x="990600" y="2533650"/>
            <a:ext cx="4429125" cy="323850"/>
          </a:xfrm>
          <a:prstGeom prst="rect">
            <a:avLst/>
          </a:prstGeom>
          <a:noFill/>
          <a:ln w="0">
            <a:noFill/>
          </a:ln>
        </p:spPr>
        <p:txBody>
          <a:bodyPr lIns="0" tIns="0" rIns="0" bIns="0" anchor="t"/>
          <a:lstStyle>
            <a:defPPr algn="l">
              <a:defRPr sz="2100" b="1">
                <a:solidFill>
                  <a:srgbClr val="FFFFFF"/>
                </a:solidFill>
                <a:latin typeface="Calibri"/>
                <a:ea typeface="Calibri"/>
                <a:cs typeface="Calibri"/>
              </a:defRPr>
            </a:defPPr>
          </a:lstStyle>
          <a:p>
            <a:pPr algn="l">
              <a:defRPr sz="2100" b="1">
                <a:solidFill>
                  <a:srgbClr val="FFFFFF"/>
                </a:solidFill>
                <a:latin typeface="Calibri"/>
                <a:ea typeface="Calibri"/>
                <a:cs typeface="Calibri"/>
              </a:defRPr>
            </a:pPr>
            <a:r>
              <a:rPr sz="2100" b="1">
                <a:solidFill>
                  <a:srgbClr val="FFFFFF"/>
                </a:solidFill>
                <a:latin typeface="Calibri"/>
                <a:ea typeface="Calibri"/>
                <a:cs typeface="Calibri"/>
              </a:rPr>
              <a:t>Built today</a:t>
            </a:r>
          </a:p>
        </p:txBody>
      </p:sp>
      <p:sp>
        <p:nvSpPr>
          <p:cNvPr id="128" name="Desktop app and specialist orchestration&#10;&#10;Seven reviewed app conn">
            <a:extLst>
              <a:ext uri="{FF2B5EF4-FFF2-40B4-BE49-F238E27FC236}">
                <ns4:creationId id="{9E2A2AC4-F572-46C7-A2B3-88DCA047F6BF}"/>
              </a:ext>
            </a:extLst>
          </p:cNvPr>
          <p:cNvSpPr>
            <a:spLocks noGrp="1"/>
          </p:cNvSpPr>
          <p:nvPr/>
        </p:nvSpPr>
        <p:spPr>
          <a:xfrm>
            <a:off x="990600" y="2971800"/>
            <a:ext cx="4619625" cy="1647825"/>
          </a:xfrm>
          <a:prstGeom prst="rect">
            <a:avLst/>
          </a:prstGeom>
          <a:noFill/>
          <a:ln w="0">
            <a:noFill/>
          </a:ln>
        </p:spPr>
        <p:txBody>
          <a:bodyPr lIns="0" tIns="0" rIns="0" bIns="0" anchor="t"/>
          <a:lstStyle>
            <a:defPPr algn="l">
              <a:defRPr sz="1800" b="0">
                <a:solidFill>
                  <a:srgbClr val="C1C5CE"/>
                </a:solidFill>
                <a:latin typeface="Calibri"/>
                <a:ea typeface="Calibri"/>
                <a:cs typeface="Calibri"/>
              </a:defRPr>
            </a:defPPr>
          </a:lstStyle>
          <a:p>
            <a:pPr algn="l">
              <a:defRPr sz="1800" b="0">
                <a:solidFill>
                  <a:srgbClr val="C1C5CE"/>
                </a:solidFill>
                <a:latin typeface="Calibri"/>
                <a:ea typeface="Calibri"/>
                <a:cs typeface="Calibri"/>
              </a:defRPr>
            </a:pPr>
            <a:r>
              <a:rPr sz="1800" b="0">
                <a:solidFill>
                  <a:srgbClr val="C1C5CE"/>
                </a:solidFill>
                <a:latin typeface="Calibri"/>
                <a:ea typeface="Calibri"/>
                <a:cs typeface="Calibri"/>
              </a:rPr>
              <a:t>Desktop app and specialist orchestration</a:t>
            </a:r>
          </a:p>
          <a:p>
            <a:r>
              <a:t/>
            </a:r>
          </a:p>
          <a:p>
            <a:pPr algn="l">
              <a:defRPr sz="1800" b="0">
                <a:solidFill>
                  <a:srgbClr val="C1C5CE"/>
                </a:solidFill>
                <a:latin typeface="Calibri"/>
                <a:ea typeface="Calibri"/>
                <a:cs typeface="Calibri"/>
              </a:defRPr>
            </a:pPr>
            <a:r>
              <a:rPr sz="1800" b="0">
                <a:solidFill>
                  <a:srgbClr val="C1C5CE"/>
                </a:solidFill>
                <a:latin typeface="Calibri"/>
                <a:ea typeface="Calibri"/>
                <a:cs typeface="Calibri"/>
              </a:rPr>
              <a:t>Seven reviewed app connectors</a:t>
            </a:r>
          </a:p>
          <a:p>
            <a:r>
              <a:t/>
            </a:r>
          </a:p>
          <a:p>
            <a:pPr algn="l">
              <a:defRPr sz="1800" b="0">
                <a:solidFill>
                  <a:srgbClr val="C1C5CE"/>
                </a:solidFill>
                <a:latin typeface="Calibri"/>
                <a:ea typeface="Calibri"/>
                <a:cs typeface="Calibri"/>
              </a:defRPr>
            </a:pPr>
            <a:r>
              <a:rPr sz="1800" b="0">
                <a:solidFill>
                  <a:srgbClr val="C1C5CE"/>
                </a:solidFill>
                <a:latin typeface="Calibri"/>
                <a:ea typeface="Calibri"/>
                <a:cs typeface="Calibri"/>
              </a:rPr>
              <a:t>Editable memory and paired phone access</a:t>
            </a:r>
          </a:p>
        </p:txBody>
      </p:sp>
      <p:sp>
        <p:nvSpPr>
          <p:cNvPr id="129" name="Automated tests and limited live-provider checks">
            <a:extLst>
              <a:ext uri="{FF2B5EF4-FFF2-40B4-BE49-F238E27FC236}">
                <ns4:creationId id="{3CE1E012-78B5-496D-9A69-8699CBBD813C}"/>
              </a:ext>
            </a:extLst>
          </p:cNvPr>
          <p:cNvSpPr>
            <a:spLocks noGrp="1"/>
          </p:cNvSpPr>
          <p:nvPr/>
        </p:nvSpPr>
        <p:spPr>
          <a:xfrm>
            <a:off x="990600" y="4648200"/>
            <a:ext cx="4667250" cy="457200"/>
          </a:xfrm>
          <a:prstGeom prst="rect">
            <a:avLst/>
          </a:prstGeom>
          <a:noFill/>
          <a:ln w="0">
            <a:noFill/>
          </a:ln>
        </p:spPr>
        <p:txBody>
          <a:bodyPr lIns="0" tIns="0" rIns="0" bIns="0" anchor="t"/>
          <a:lstStyle>
            <a:defPPr algn="l">
              <a:defRPr sz="1500" b="0">
                <a:solidFill>
                  <a:srgbClr val="969DAE"/>
                </a:solidFill>
                <a:latin typeface="Calibri"/>
                <a:ea typeface="Calibri"/>
                <a:cs typeface="Calibri"/>
              </a:defRPr>
            </a:defPPr>
          </a:lstStyle>
          <a:p>
            <a:pPr algn="l">
              <a:defRPr sz="1500" b="0">
                <a:solidFill>
                  <a:srgbClr val="969DAE"/>
                </a:solidFill>
                <a:latin typeface="Calibri"/>
                <a:ea typeface="Calibri"/>
                <a:cs typeface="Calibri"/>
              </a:defRPr>
            </a:pPr>
            <a:r>
              <a:rPr sz="1500" b="0">
                <a:solidFill>
                  <a:srgbClr val="969DAE"/>
                </a:solidFill>
                <a:latin typeface="Calibri"/>
                <a:ea typeface="Calibri"/>
                <a:cs typeface="Calibri"/>
              </a:rPr>
              <a:t>Automated tests and limited live-provider checks</a:t>
            </a:r>
          </a:p>
        </p:txBody>
      </p:sp>
      <p:sp>
        <p:nvSpPr>
          <p:cNvPr id="130" name="Next to validate">
            <a:extLst>
              <a:ext uri="{FF2B5EF4-FFF2-40B4-BE49-F238E27FC236}">
                <ns4:creationId id="{644DC870-7F8F-4775-8C10-9CDF6CD503FA}"/>
              </a:ext>
            </a:extLst>
          </p:cNvPr>
          <p:cNvSpPr>
            <a:spLocks noGrp="1"/>
          </p:cNvSpPr>
          <p:nvPr/>
        </p:nvSpPr>
        <p:spPr>
          <a:xfrm>
            <a:off x="6038850" y="2533650"/>
            <a:ext cx="2762250" cy="342900"/>
          </a:xfrm>
          <a:prstGeom prst="rect">
            <a:avLst/>
          </a:prstGeom>
          <a:noFill/>
          <a:ln w="0">
            <a:noFill/>
          </a:ln>
        </p:spPr>
        <p:txBody>
          <a:bodyPr lIns="0" tIns="0" rIns="0" bIns="0" anchor="t"/>
          <a:lstStyle>
            <a:defPPr algn="l">
              <a:defRPr sz="2100" b="1">
                <a:solidFill>
                  <a:srgbClr val="FFFFFF"/>
                </a:solidFill>
                <a:latin typeface="Calibri"/>
                <a:ea typeface="Calibri"/>
                <a:cs typeface="Calibri"/>
              </a:defRPr>
            </a:defPPr>
          </a:lstStyle>
          <a:p>
            <a:pPr algn="l">
              <a:defRPr sz="2100" b="1">
                <a:solidFill>
                  <a:srgbClr val="FFFFFF"/>
                </a:solidFill>
                <a:latin typeface="Calibri"/>
                <a:ea typeface="Calibri"/>
                <a:cs typeface="Calibri"/>
              </a:defRPr>
            </a:pPr>
            <a:r>
              <a:rPr sz="2100" b="1">
                <a:solidFill>
                  <a:srgbClr val="FFFFFF"/>
                </a:solidFill>
                <a:latin typeface="Calibri"/>
                <a:ea typeface="Calibri"/>
                <a:cs typeface="Calibri"/>
              </a:rPr>
              <a:t>Next to validate</a:t>
            </a:r>
          </a:p>
        </p:txBody>
      </p:sp>
      <p:sp>
        <p:nvSpPr>
          <p:cNvPr id="131" name="Real tailnet and account pilots&#10;&#10;Browser control&#10;&#10;Routine UI">
            <a:extLst>
              <a:ext uri="{FF2B5EF4-FFF2-40B4-BE49-F238E27FC236}">
                <ns4:creationId id="{7467B3A7-9AF4-48B8-8CAF-04C2D42D3F37}"/>
              </a:ext>
            </a:extLst>
          </p:cNvPr>
          <p:cNvSpPr>
            <a:spLocks noGrp="1"/>
          </p:cNvSpPr>
          <p:nvPr/>
        </p:nvSpPr>
        <p:spPr>
          <a:xfrm>
            <a:off x="6038850" y="2971800"/>
            <a:ext cx="2667000" cy="1714500"/>
          </a:xfrm>
          <a:prstGeom prst="rect">
            <a:avLst/>
          </a:prstGeom>
          <a:noFill/>
          <a:ln w="0">
            <a:noFill/>
          </a:ln>
        </p:spPr>
        <p:txBody>
          <a:bodyPr lIns="0" tIns="0" rIns="0" bIns="0" anchor="t"/>
          <a:lstStyle>
            <a:defPPr algn="l">
              <a:defRPr sz="1725" b="0">
                <a:solidFill>
                  <a:srgbClr val="C1C5CE"/>
                </a:solidFill>
                <a:latin typeface="Calibri"/>
                <a:ea typeface="Calibri"/>
                <a:cs typeface="Calibri"/>
              </a:defRPr>
            </a:defPPr>
          </a:lstStyle>
          <a:p>
            <a:pPr algn="l">
              <a:defRPr sz="1725" b="0">
                <a:solidFill>
                  <a:srgbClr val="C1C5CE"/>
                </a:solidFill>
                <a:latin typeface="Calibri"/>
                <a:ea typeface="Calibri"/>
                <a:cs typeface="Calibri"/>
              </a:defRPr>
            </a:pPr>
            <a:r>
              <a:rPr sz="1725" b="0">
                <a:solidFill>
                  <a:srgbClr val="C1C5CE"/>
                </a:solidFill>
                <a:latin typeface="Calibri"/>
                <a:ea typeface="Calibri"/>
                <a:cs typeface="Calibri"/>
              </a:rPr>
              <a:t>Real tailnet and account pilots</a:t>
            </a:r>
          </a:p>
          <a:p>
            <a:r>
              <a:t/>
            </a:r>
          </a:p>
          <a:p>
            <a:pPr algn="l">
              <a:defRPr sz="1725" b="0">
                <a:solidFill>
                  <a:srgbClr val="C1C5CE"/>
                </a:solidFill>
                <a:latin typeface="Calibri"/>
                <a:ea typeface="Calibri"/>
                <a:cs typeface="Calibri"/>
              </a:defRPr>
            </a:pPr>
            <a:r>
              <a:rPr sz="1725" b="0">
                <a:solidFill>
                  <a:srgbClr val="C1C5CE"/>
                </a:solidFill>
                <a:latin typeface="Calibri"/>
                <a:ea typeface="Calibri"/>
                <a:cs typeface="Calibri"/>
              </a:rPr>
              <a:t>Browser control</a:t>
            </a:r>
          </a:p>
          <a:p>
            <a:r>
              <a:t/>
            </a:r>
          </a:p>
          <a:p>
            <a:pPr algn="l">
              <a:defRPr sz="1725" b="0">
                <a:solidFill>
                  <a:srgbClr val="C1C5CE"/>
                </a:solidFill>
                <a:latin typeface="Calibri"/>
                <a:ea typeface="Calibri"/>
                <a:cs typeface="Calibri"/>
              </a:defRPr>
            </a:pPr>
            <a:r>
              <a:rPr sz="1725" b="0">
                <a:solidFill>
                  <a:srgbClr val="C1C5CE"/>
                </a:solidFill>
                <a:latin typeface="Calibri"/>
                <a:ea typeface="Calibri"/>
                <a:cs typeface="Calibri"/>
              </a:rPr>
              <a:t>Routine UI</a:t>
            </a:r>
          </a:p>
        </p:txBody>
      </p:sp>
      <p:pic>
        <p:nvPicPr>
          <p:cNvPr id="132" name="">
            <a:extLst>
              <a:ext uri="{FF2B5EF4-FFF2-40B4-BE49-F238E27FC236}">
                <ns4:creationId id="{5A74535A-80CA-40AE-8C99-03E41CE9ABF7}"/>
              </a:ext>
            </a:extLst>
          </p:cNvPr>
          <p:cNvPicPr>
            <a:picLocks noChangeAspect="1"/>
          </p:cNvPicPr>
          <p:nvPr/>
        </p:nvPicPr>
        <p:blipFill>
          <a:blip r:embed="rIdSocius1"/>
          <a:stretch/>
        </p:blipFill>
        <p:spPr>
          <a:xfrm>
            <a:off x="9316879" y="2524125"/>
            <a:ext cx="1597343" cy="2971800"/>
          </a:xfrm>
          <a:prstGeom prst="rect">
            <a:avLst/>
          </a:prstGeom>
        </p:spPr>
      </p:pic>
      <p:sp>
        <p:nvSpPr>
          <p:cNvPr id="133" name="Phone UI, demo data">
            <a:extLst>
              <a:ext uri="{FF2B5EF4-FFF2-40B4-BE49-F238E27FC236}">
                <ns4:creationId id="{59F340F5-6F25-45BB-86C4-A7687A752403}"/>
              </a:ext>
            </a:extLst>
          </p:cNvPr>
          <p:cNvSpPr>
            <a:spLocks noGrp="1"/>
          </p:cNvSpPr>
          <p:nvPr/>
        </p:nvSpPr>
        <p:spPr>
          <a:xfrm>
            <a:off x="9191625" y="5553075"/>
            <a:ext cx="1866900" cy="228600"/>
          </a:xfrm>
          <a:prstGeom prst="rect">
            <a:avLst/>
          </a:prstGeom>
          <a:noFill/>
          <a:ln w="0">
            <a:noFill/>
          </a:ln>
        </p:spPr>
        <p:txBody>
          <a:bodyPr lIns="0" tIns="0" rIns="0" bIns="0" anchor="t"/>
          <a:lstStyle>
            <a:defPPr algn="ctr">
              <a:defRPr sz="1125" b="0">
                <a:solidFill>
                  <a:srgbClr val="969DAE"/>
                </a:solidFill>
                <a:latin typeface="Calibri"/>
                <a:ea typeface="Calibri"/>
                <a:cs typeface="Calibri"/>
              </a:defRPr>
            </a:defPPr>
          </a:lstStyle>
          <a:p>
            <a:pPr algn="ctr">
              <a:defRPr sz="1125" b="0">
                <a:solidFill>
                  <a:srgbClr val="969DAE"/>
                </a:solidFill>
                <a:latin typeface="Calibri"/>
                <a:ea typeface="Calibri"/>
                <a:cs typeface="Calibri"/>
              </a:defRPr>
            </a:pPr>
            <a:r>
              <a:rPr sz="1125" b="0">
                <a:solidFill>
                  <a:srgbClr val="969DAE"/>
                </a:solidFill>
                <a:latin typeface="Calibri"/>
                <a:ea typeface="Calibri"/>
                <a:cs typeface="Calibri"/>
              </a:rPr>
              <a:t>Phone UI, demo data</a:t>
            </a:r>
          </a:p>
        </p:txBody>
      </p:sp>
      <p:sp>
        <p:nvSpPr>
          <p:cNvPr id="134" name="Proposed business model">
            <a:extLst>
              <a:ext uri="{FF2B5EF4-FFF2-40B4-BE49-F238E27FC236}">
                <ns4:creationId id="{01385889-545F-434A-A094-E151E72A7C37}"/>
              </a:ext>
            </a:extLst>
          </p:cNvPr>
          <p:cNvSpPr>
            <a:spLocks noGrp="1"/>
          </p:cNvSpPr>
          <p:nvPr/>
        </p:nvSpPr>
        <p:spPr>
          <a:xfrm>
            <a:off x="990600" y="5114925"/>
            <a:ext cx="7524750" cy="314325"/>
          </a:xfrm>
          <a:prstGeom prst="rect">
            <a:avLst/>
          </a:prstGeom>
          <a:noFill/>
          <a:ln w="0">
            <a:noFill/>
          </a:ln>
        </p:spPr>
        <p:txBody>
          <a:bodyPr lIns="0" tIns="0" rIns="0" bIns="0" anchor="t"/>
          <a:lstStyle>
            <a:defPPr algn="l">
              <a:defRPr sz="1950" b="1">
                <a:solidFill>
                  <a:srgbClr val="FFFFFF"/>
                </a:solidFill>
                <a:latin typeface="Calibri"/>
                <a:ea typeface="Calibri"/>
                <a:cs typeface="Calibri"/>
              </a:defRPr>
            </a:defPPr>
          </a:lstStyle>
          <a:p>
            <a:pPr algn="l">
              <a:defRPr sz="1950" b="1">
                <a:solidFill>
                  <a:srgbClr val="FFFFFF"/>
                </a:solidFill>
                <a:latin typeface="Calibri"/>
                <a:ea typeface="Calibri"/>
                <a:cs typeface="Calibri"/>
              </a:defRPr>
            </a:pPr>
            <a:r>
              <a:rPr sz="1950" b="1">
                <a:solidFill>
                  <a:srgbClr val="FFFFFF"/>
                </a:solidFill>
                <a:latin typeface="Calibri"/>
                <a:ea typeface="Calibri"/>
                <a:cs typeface="Calibri"/>
              </a:rPr>
              <a:t>Proposed business model</a:t>
            </a:r>
          </a:p>
        </p:txBody>
      </p:sp>
      <p:sp>
        <p:nvSpPr>
          <p:cNvPr id="135" name="Free core. Optional managed hosting in INR,&#10;team plans and paid-s">
            <a:extLst>
              <a:ext uri="{FF2B5EF4-FFF2-40B4-BE49-F238E27FC236}">
                <ns4:creationId id="{C2A777B9-F397-4CD1-A97B-F13130E11C27}"/>
              </a:ext>
            </a:extLst>
          </p:cNvPr>
          <p:cNvSpPr>
            <a:spLocks noGrp="1"/>
          </p:cNvSpPr>
          <p:nvPr/>
        </p:nvSpPr>
        <p:spPr>
          <a:xfrm>
            <a:off x="990600" y="5495925"/>
            <a:ext cx="7524750" cy="485775"/>
          </a:xfrm>
          <a:prstGeom prst="rect">
            <a:avLst/>
          </a:prstGeom>
          <a:noFill/>
          <a:ln w="0">
            <a:noFill/>
          </a:ln>
        </p:spPr>
        <p:txBody>
          <a:bodyPr lIns="0" tIns="0" rIns="0" bIns="0" anchor="t"/>
          <a:lstStyle>
            <a:defPPr algn="l">
              <a:defRPr sz="1725" b="0">
                <a:solidFill>
                  <a:srgbClr val="C1C5CE"/>
                </a:solidFill>
                <a:latin typeface="Calibri"/>
                <a:ea typeface="Calibri"/>
                <a:cs typeface="Calibri"/>
              </a:defRPr>
            </a:defPPr>
          </a:lstStyle>
          <a:p>
            <a:pPr algn="l">
              <a:defRPr sz="1725" b="0">
                <a:solidFill>
                  <a:srgbClr val="C1C5CE"/>
                </a:solidFill>
                <a:latin typeface="Calibri"/>
                <a:ea typeface="Calibri"/>
                <a:cs typeface="Calibri"/>
              </a:defRPr>
            </a:pPr>
            <a:r>
              <a:rPr sz="1725" b="0">
                <a:solidFill>
                  <a:srgbClr val="C1C5CE"/>
                </a:solidFill>
                <a:latin typeface="Calibri"/>
                <a:ea typeface="Calibri"/>
                <a:cs typeface="Calibri"/>
              </a:rPr>
              <a:t>Free core. Optional managed hosting in INR,</a:t>
            </a:r>
          </a:p>
          <a:p>
            <a:pPr algn="l">
              <a:defRPr sz="1725" b="0">
                <a:solidFill>
                  <a:srgbClr val="C1C5CE"/>
                </a:solidFill>
                <a:latin typeface="Calibri"/>
                <a:ea typeface="Calibri"/>
                <a:cs typeface="Calibri"/>
              </a:defRPr>
            </a:pPr>
            <a:r>
              <a:rPr sz="1725" b="0">
                <a:solidFill>
                  <a:srgbClr val="C1C5CE"/>
                </a:solidFill>
                <a:latin typeface="Calibri"/>
                <a:ea typeface="Calibri"/>
                <a:cs typeface="Calibri"/>
              </a:rPr>
              <a:t>team plans and paid-skill commission.</a:t>
            </a:r>
          </a:p>
        </p:txBody>
      </p:sp>
    </p:spTree>
  </p:cSld>
  <p:clrMapOvr>
    <a:masterClrMapping/>
  </p:clrMapOvr>
</p:sld>
</file>

<file path=ppt/slides/slide7.xml><?xml version="1.0" encoding="utf-8"?>
<p:sld xmlns:a="http://schemas.openxmlformats.org/drawingml/2006/main" xmlns:ns3="http://schemas.microsoft.com/office/mac/drawingml/2011/main" xmlns:ns4="http://schemas.microsoft.com/office/drawing/2014/main" xmlns:p="http://schemas.openxmlformats.org/presentationml/2006/main" xmlns:r="http://schemas.openxmlformats.org/officeDocument/2006/relationships">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Content Panel"/>
          <p:cNvSpPr/>
          <p:nvPr/>
        </p:nvSpPr>
        <p:spPr>
          <a:xfrm>
            <a:off x="640080" y="1600200"/>
            <a:ext cx="10908792" cy="4480560"/>
          </a:xfrm>
          <a:prstGeom prst="rect">
            <a:avLst/>
          </a:prstGeom>
          <a:solidFill>
            <a:schemeClr val="bg2">
              <a:alpha val="65000"/>
            </a:schemeClr>
          </a:solidFill>
          <a:ln w="15875">
            <a:solidFill>
              <a:schemeClr val="accent1"/>
            </a:solidFill>
            <a:prstDash val="solid"/>
          </a:ln>
        </p:spPr>
      </p:sp>
      <p:sp>
        <p:nvSpPr>
          <p:cNvPr id="3" name="Section Tag"/>
          <p:cNvSpPr txBox="1"/>
          <p:nvPr/>
        </p:nvSpPr>
        <p:spPr>
          <a:xfrm>
            <a:off x="640080" y="365760"/>
            <a:ext cx="2743200" cy="274320"/>
          </a:xfrm>
          <a:prstGeom prst="rect">
            <a:avLst/>
          </a:prstGeom>
          <a:noFill/>
          <a:ln/>
        </p:spPr>
        <p:txBody>
          <a:bodyPr wrap="square" lIns="0" tIns="0" rIns="0" bIns="0" rtlCol="0" anchor="ctr"/>
          <a:lstStyle/>
          <a:p>
            <a:pPr marL="0" indent="0">
              <a:buNone/>
            </a:pPr>
            <a:r>
              <a:rPr lang="en-US" sz="1100" b="1" kern="0" spc="400" dirty="0">
                <a:solidFill>
                  <a:schemeClr val="accent2"/>
                </a:solidFill>
              </a:rPr>
              <a:t>06  /  06</a:t>
            </a:r>
            <a:endParaRPr lang="en-US" sz="1100" dirty="0"/>
          </a:p>
        </p:txBody>
      </p:sp>
      <p:sp>
        <p:nvSpPr>
          <p:cNvPr id="4" name="Text 0"/>
          <p:cNvSpPr>
            <a:spLocks noGrp="1"/>
          </p:cNvSpPr>
          <p:nvPr>
            <p:ph type="title" idx="100" hasCustomPrompt="1"/>
          </p:nvPr>
        </p:nvSpPr>
        <p:spPr>
          <a:xfrm>
            <a:off x="640080" y="685800"/>
            <a:ext cx="10908792" cy="777240"/>
          </a:xfrm>
          <a:prstGeom prst="rect">
            <a:avLst/>
          </a:prstGeom>
          <a:noFill/>
          <a:ln/>
        </p:spPr>
        <p:txBody>
          <a:bodyPr wrap="square" lIns="0" tIns="0" rIns="0" bIns="0" rtlCol="0" anchor="ctr"/>
          <a:lstStyle/>
          <a:p>
            <a:pPr marL="0" indent="0" algn="l">
              <a:buNone/>
            </a:pPr>
            <a:r>
              <a:rPr lang="en-US" sz="3400" b="1" kern="0" spc="200" dirty="0">
                <a:solidFill>
                  <a:schemeClr val="tx1"/>
                </a:solidFill>
              </a:rPr>
              <a:t>IMPACT &amp; BENEFITS</a:t>
            </a:r>
            <a:endParaRPr lang="en-US" sz="3400" dirty="0"/>
          </a:p>
        </p:txBody>
      </p:sp>
      <p:sp>
        <p:nvSpPr>
          <p:cNvPr id="5" name="Text 0"/>
          <p:cNvSpPr>
            <a:spLocks noGrp="1"/>
          </p:cNvSpPr>
          <p:nvPr>
            <p:ph type="body" idx="101" hasCustomPrompt="1"/>
          </p:nvPr>
        </p:nvSpPr>
        <p:spPr>
          <a:xfrm>
            <a:off x="960120" y="1874520"/>
            <a:ext cx="10268712" cy="3931920"/>
          </a:xfrm>
          <a:prstGeom prst="rect">
            <a:avLst/>
          </a:prstGeom>
          <a:noFill/>
          <a:ln/>
        </p:spPr>
        <p:txBody>
          <a:bodyPr wrap="square" lIns="0" tIns="0" rIns="0" bIns="0" rtlCol="0" anchor="t"/>
          <a:lstStyle/>
          <a:p>
            <a:pPr marL="0" indent="0">
              <a:buNone/>
            </a:pPr>
            <a:endParaRPr lang="en-US" sz="1800" dirty="0"/>
          </a:p>
        </p:txBody>
      </p:sp>
      <p:sp>
        <p:nvSpPr>
          <p:cNvPr id="6" name="Footer"/>
          <p:cNvSpPr txBox="1"/>
          <p:nvPr/>
        </p:nvSpPr>
        <p:spPr>
          <a:xfrm>
            <a:off x="640080" y="6355080"/>
            <a:ext cx="4572000" cy="274320"/>
          </a:xfrm>
          <a:prstGeom prst="rect">
            <a:avLst/>
          </a:prstGeom>
          <a:noFill/>
          <a:ln/>
        </p:spPr>
        <p:txBody>
          <a:bodyPr wrap="square" lIns="0" tIns="0" rIns="0" bIns="0" rtlCol="0" anchor="ctr"/>
          <a:lstStyle/>
          <a:p>
            <a:pPr marL="0" indent="0">
              <a:buNone/>
            </a:pPr>
            <a:r>
              <a:rPr lang="en-US" sz="1000" kern="0" spc="400" dirty="0">
                <a:solidFill>
                  <a:schemeClr val="tx2"/>
                </a:solidFill>
              </a:rPr>
              <a:t>CINTEL IDEATHON 3.0</a:t>
            </a:r>
            <a:endParaRPr lang="en-US" sz="1000" dirty="0"/>
          </a:p>
        </p:txBody>
      </p:sp>
      <p:sp>
        <p:nvSpPr>
          <p:cNvPr id="25" name="Slide Number Placeholder 0"/>
          <p:cNvSpPr>
            <a:spLocks noGrp="1"/>
          </p:cNvSpPr>
          <p:nvPr>
            <p:ph type="sldNum" sz="quarter" idx="4294967295"/>
          </p:nvPr>
        </p:nvSpPr>
        <p:spPr>
          <a:xfrm>
            <a:off x="10817352" y="6355080"/>
            <a:ext cx="731520" cy="274320"/>
          </a:xfrm>
          <a:prstGeom prst="rect">
            <a:avLst/>
          </a:prstGeom>
          <a:extLst>
            <a:ext uri="{C572A759-6A51-4108-AA02-DFA0A04FC94B}">
              <ns3:wrappingTextBoxFlag val="0"/>
            </a:ext>
          </a:extLst>
        </p:spPr>
        <p:txBody>
          <a:bodyPr lIns="0" tIns="0" rIns="0" bIns="0"/>
          <a:lstStyle>
            <a:lvl1pPr>
              <a:defRPr sz="1000">
                <a:solidFill>
                  <a:schemeClr val="accent1"/>
                </a:solidFill>
              </a:defRPr>
            </a:lvl1pPr>
          </a:lstStyle>
          <a:p>
            <a:pPr algn="r"/>
            <a:fld id="{F7021451-1387-4CA6-816F-3879F97B5CBC}" type="slidenum">
              <a:rPr lang="en-US" b="0"/>
              <a:t>7</a:t>
            </a:fld>
            <a:endParaRPr lang="en-US"/>
          </a:p>
        </p:txBody>
      </p:sp>
      <p:pic>
        <p:nvPicPr>
          <p:cNvPr id="8" name="Picture 7" descr="Cintel Association (@cintel_association) · Chennai">
            <a:extLst>
              <a:ext uri="{FF2B5EF4-FFF2-40B4-BE49-F238E27FC236}">
                <ns4:creationId id="{4C292BB1-9370-B915-6759-5A0E082E6DBA}"/>
              </a:ext>
            </a:extLst>
          </p:cNvPr>
          <p:cNvPicPr>
            <a:picLocks noChangeAspect="1"/>
          </p:cNvPicPr>
          <p:nvPr/>
        </p:nvPicPr>
        <p:blipFill>
          <a:blip r:embed="rId4"/>
          <a:stretch>
            <a:fillRect/>
          </a:stretch>
        </p:blipFill>
        <p:spPr>
          <a:xfrm>
            <a:off x="11069052" y="228600"/>
            <a:ext cx="815691" cy="815691"/>
          </a:xfrm>
          <a:prstGeom prst="rect">
            <a:avLst/>
          </a:prstGeom>
        </p:spPr>
      </p:pic>
      <p:sp>
        <p:nvSpPr>
          <p:cNvPr id="137" name="An India-first pilot, built around everyday work">
            <a:extLst>
              <a:ext uri="{FF2B5EF4-FFF2-40B4-BE49-F238E27FC236}">
                <ns4:creationId id="{3345F61E-547E-4CBF-A8FF-C2AEC83C11F6}"/>
              </a:ext>
            </a:extLst>
          </p:cNvPr>
          <p:cNvSpPr>
            <a:spLocks noGrp="1"/>
          </p:cNvSpPr>
          <p:nvPr/>
        </p:nvSpPr>
        <p:spPr>
          <a:xfrm>
            <a:off x="990600" y="1866900"/>
            <a:ext cx="10191750" cy="419100"/>
          </a:xfrm>
          <a:prstGeom prst="rect">
            <a:avLst/>
          </a:prstGeom>
          <a:noFill/>
          <a:ln w="0">
            <a:noFill/>
          </a:ln>
        </p:spPr>
        <p:txBody>
          <a:bodyPr lIns="0" tIns="0" rIns="0" bIns="0" anchor="t"/>
          <a:lstStyle>
            <a:defPPr algn="l">
              <a:defRPr sz="2325" b="1">
                <a:solidFill>
                  <a:srgbClr val="FFFFFF"/>
                </a:solidFill>
                <a:latin typeface="Calibri"/>
                <a:ea typeface="Calibri"/>
                <a:cs typeface="Calibri"/>
              </a:defRPr>
            </a:defPPr>
          </a:lstStyle>
          <a:p>
            <a:pPr algn="l">
              <a:defRPr sz="2325" b="1">
                <a:solidFill>
                  <a:srgbClr val="FFFFFF"/>
                </a:solidFill>
                <a:latin typeface="Calibri"/>
                <a:ea typeface="Calibri"/>
                <a:cs typeface="Calibri"/>
              </a:defRPr>
            </a:pPr>
            <a:r>
              <a:rPr sz="2325" b="1">
                <a:solidFill>
                  <a:srgbClr val="FFFFFF"/>
                </a:solidFill>
                <a:latin typeface="Calibri"/>
                <a:ea typeface="Calibri"/>
                <a:cs typeface="Calibri"/>
              </a:rPr>
              <a:t>An India-first pilot, built around everyday work</a:t>
            </a:r>
          </a:p>
        </p:txBody>
      </p:sp>
      <p:sp>
        <p:nvSpPr>
          <p:cNvPr id="127" name="21.9M">
            <a:extLst>
              <a:ext uri="{FF2B5EF4-FFF2-40B4-BE49-F238E27FC236}">
                <ns4:creationId id="{9A22EEF5-7FE4-4081-AE6F-5ECEC8F3DD3C}"/>
              </a:ext>
            </a:extLst>
          </p:cNvPr>
          <p:cNvSpPr>
            <a:spLocks noGrp="1"/>
          </p:cNvSpPr>
          <p:nvPr/>
        </p:nvSpPr>
        <p:spPr>
          <a:xfrm>
            <a:off x="990600" y="2590800"/>
            <a:ext cx="3714750" cy="847725"/>
          </a:xfrm>
          <a:prstGeom prst="rect">
            <a:avLst/>
          </a:prstGeom>
          <a:noFill/>
          <a:ln w="0">
            <a:noFill/>
          </a:ln>
        </p:spPr>
        <p:txBody>
          <a:bodyPr lIns="0" tIns="0" rIns="0" bIns="0" anchor="t"/>
          <a:lstStyle>
            <a:defPPr algn="l">
              <a:defRPr sz="5925" b="1">
                <a:solidFill>
                  <a:srgbClr val="FFFFFF"/>
                </a:solidFill>
                <a:latin typeface="Calibri"/>
                <a:ea typeface="Calibri"/>
                <a:cs typeface="Calibri"/>
              </a:defRPr>
            </a:defPPr>
          </a:lstStyle>
          <a:p>
            <a:pPr algn="l">
              <a:defRPr sz="5925" b="1">
                <a:solidFill>
                  <a:srgbClr val="FFFFFF"/>
                </a:solidFill>
                <a:latin typeface="Calibri"/>
                <a:ea typeface="Calibri"/>
                <a:cs typeface="Calibri"/>
              </a:defRPr>
            </a:pPr>
            <a:r>
              <a:rPr sz="5925" b="1">
                <a:solidFill>
                  <a:srgbClr val="FFFFFF"/>
                </a:solidFill>
                <a:latin typeface="Calibri"/>
                <a:ea typeface="Calibri"/>
                <a:cs typeface="Calibri"/>
              </a:rPr>
              <a:t>21.9M</a:t>
            </a:r>
          </a:p>
        </p:txBody>
      </p:sp>
      <p:sp>
        <p:nvSpPr>
          <p:cNvPr id="128" name="developers in India on GitHub&#10;in 2025">
            <a:extLst>
              <a:ext uri="{FF2B5EF4-FFF2-40B4-BE49-F238E27FC236}">
                <ns4:creationId id="{FED14E5E-573B-48AA-9060-6F9BF6342028}"/>
              </a:ext>
            </a:extLst>
          </p:cNvPr>
          <p:cNvSpPr>
            <a:spLocks noGrp="1"/>
          </p:cNvSpPr>
          <p:nvPr/>
        </p:nvSpPr>
        <p:spPr>
          <a:xfrm>
            <a:off x="1028700" y="3543300"/>
            <a:ext cx="3524250" cy="609600"/>
          </a:xfrm>
          <a:prstGeom prst="rect">
            <a:avLst/>
          </a:prstGeom>
          <a:noFill/>
          <a:ln w="0">
            <a:noFill/>
          </a:ln>
        </p:spPr>
        <p:txBody>
          <a:bodyPr lIns="0" tIns="0" rIns="0" bIns="0" anchor="t"/>
          <a:lstStyle>
            <a:defPPr algn="l">
              <a:defRPr sz="1875" b="0">
                <a:solidFill>
                  <a:srgbClr val="C1C5CE"/>
                </a:solidFill>
                <a:latin typeface="Calibri"/>
                <a:ea typeface="Calibri"/>
                <a:cs typeface="Calibri"/>
              </a:defRPr>
            </a:defPPr>
          </a:lstStyle>
          <a:p>
            <a:pPr algn="l">
              <a:defRPr sz="1875" b="0">
                <a:solidFill>
                  <a:srgbClr val="C1C5CE"/>
                </a:solidFill>
                <a:latin typeface="Calibri"/>
                <a:ea typeface="Calibri"/>
                <a:cs typeface="Calibri"/>
              </a:defRPr>
            </a:pPr>
            <a:r>
              <a:rPr sz="1875" b="0">
                <a:solidFill>
                  <a:srgbClr val="C1C5CE"/>
                </a:solidFill>
                <a:latin typeface="Calibri"/>
                <a:ea typeface="Calibri"/>
                <a:cs typeface="Calibri"/>
              </a:rPr>
              <a:t>developers in India on GitHub</a:t>
            </a:r>
          </a:p>
          <a:p>
            <a:pPr algn="l">
              <a:defRPr sz="1875" b="0">
                <a:solidFill>
                  <a:srgbClr val="C1C5CE"/>
                </a:solidFill>
                <a:latin typeface="Calibri"/>
                <a:ea typeface="Calibri"/>
                <a:cs typeface="Calibri"/>
              </a:defRPr>
            </a:pPr>
            <a:r>
              <a:rPr sz="1875" b="0">
                <a:solidFill>
                  <a:srgbClr val="C1C5CE"/>
                </a:solidFill>
                <a:latin typeface="Calibri"/>
                <a:ea typeface="Calibri"/>
                <a:cs typeface="Calibri"/>
              </a:rPr>
              <a:t>in 2025</a:t>
            </a:r>
          </a:p>
        </p:txBody>
      </p:sp>
      <p:sp>
        <p:nvSpPr>
          <p:cNvPr id="129" name="Source: GitHub Octoverse 2025">
            <a:extLst>
              <a:ext uri="{FF2B5EF4-FFF2-40B4-BE49-F238E27FC236}">
                <ns4:creationId id="{23192BFA-949E-445F-9829-211B406D6FA2}"/>
              </a:ext>
            </a:extLst>
          </p:cNvPr>
          <p:cNvSpPr>
            <a:spLocks noGrp="1"/>
          </p:cNvSpPr>
          <p:nvPr/>
        </p:nvSpPr>
        <p:spPr>
          <a:xfrm>
            <a:off x="1028700" y="4305300"/>
            <a:ext cx="3714750" cy="228600"/>
          </a:xfrm>
          <a:prstGeom prst="rect">
            <a:avLst/>
          </a:prstGeom>
          <a:noFill/>
          <a:ln w="0">
            <a:noFill/>
          </a:ln>
        </p:spPr>
        <p:txBody>
          <a:bodyPr lIns="0" tIns="0" rIns="0" bIns="0" anchor="t"/>
          <a:lstStyle>
            <a:defPPr algn="l">
              <a:defRPr sz="1200" b="0">
                <a:solidFill>
                  <a:srgbClr val="969DAE"/>
                </a:solidFill>
                <a:latin typeface="Calibri"/>
                <a:ea typeface="Calibri"/>
                <a:cs typeface="Calibri"/>
              </a:defRPr>
            </a:defPPr>
          </a:lstStyle>
          <a:p>
            <a:pPr algn="l">
              <a:defRPr sz="1200" b="0">
                <a:solidFill>
                  <a:srgbClr val="969DAE"/>
                </a:solidFill>
                <a:latin typeface="Calibri"/>
                <a:ea typeface="Calibri"/>
                <a:cs typeface="Calibri"/>
              </a:defRPr>
            </a:pPr>
            <a:r>
              <a:rPr sz="1200" b="0">
                <a:solidFill>
                  <a:srgbClr val="969DAE"/>
                </a:solidFill>
                <a:latin typeface="Calibri"/>
                <a:ea typeface="Calibri"/>
                <a:cs typeface="Calibri"/>
              </a:rPr>
              <a:t>Source: GitHub Octoverse 2025</a:t>
            </a:r>
          </a:p>
        </p:txBody>
      </p:sp>
      <p:sp>
        <p:nvSpPr>
          <p:cNvPr id="130" name="Potential builders of local skills">
            <a:extLst>
              <a:ext uri="{FF2B5EF4-FFF2-40B4-BE49-F238E27FC236}">
                <ns4:creationId id="{13D52365-0D2E-40D9-B3E7-E99607D99A87}"/>
              </a:ext>
            </a:extLst>
          </p:cNvPr>
          <p:cNvSpPr>
            <a:spLocks noGrp="1"/>
          </p:cNvSpPr>
          <p:nvPr/>
        </p:nvSpPr>
        <p:spPr>
          <a:xfrm>
            <a:off x="1028700" y="4657725"/>
            <a:ext cx="4000500" cy="266700"/>
          </a:xfrm>
          <a:prstGeom prst="rect">
            <a:avLst/>
          </a:prstGeom>
          <a:noFill/>
          <a:ln w="0">
            <a:noFill/>
          </a:ln>
        </p:spPr>
        <p:txBody>
          <a:bodyPr lIns="0" tIns="0" rIns="0" bIns="0" anchor="t"/>
          <a:lstStyle>
            <a:defPPr algn="l">
              <a:defRPr sz="1575" b="0">
                <a:solidFill>
                  <a:srgbClr val="C1C5CE"/>
                </a:solidFill>
                <a:latin typeface="Calibri"/>
                <a:ea typeface="Calibri"/>
                <a:cs typeface="Calibri"/>
              </a:defRPr>
            </a:defPPr>
          </a:lstStyle>
          <a:p>
            <a:pPr algn="l">
              <a:defRPr sz="1575" b="0">
                <a:solidFill>
                  <a:srgbClr val="C1C5CE"/>
                </a:solidFill>
                <a:latin typeface="Calibri"/>
                <a:ea typeface="Calibri"/>
                <a:cs typeface="Calibri"/>
              </a:defRPr>
            </a:pPr>
            <a:r>
              <a:rPr sz="1575" b="0">
                <a:solidFill>
                  <a:srgbClr val="C1C5CE"/>
                </a:solidFill>
                <a:latin typeface="Calibri"/>
                <a:ea typeface="Calibri"/>
                <a:cs typeface="Calibri"/>
              </a:rPr>
              <a:t>Potential builders of local skills</a:t>
            </a:r>
          </a:p>
        </p:txBody>
      </p:sp>
      <p:sp>
        <p:nvSpPr>
          <p:cNvPr id="131" name="First audience">
            <a:extLst>
              <a:ext uri="{FF2B5EF4-FFF2-40B4-BE49-F238E27FC236}">
                <ns4:creationId id="{4D5FBFD2-6BF8-431D-817D-3188B6E874F9}"/>
              </a:ext>
            </a:extLst>
          </p:cNvPr>
          <p:cNvSpPr>
            <a:spLocks noGrp="1"/>
          </p:cNvSpPr>
          <p:nvPr/>
        </p:nvSpPr>
        <p:spPr>
          <a:xfrm>
            <a:off x="5400675" y="2571750"/>
            <a:ext cx="5572125" cy="342900"/>
          </a:xfrm>
          <a:prstGeom prst="rect">
            <a:avLst/>
          </a:prstGeom>
          <a:noFill/>
          <a:ln w="0">
            <a:noFill/>
          </a:ln>
        </p:spPr>
        <p:txBody>
          <a:bodyPr lIns="0" tIns="0" rIns="0" bIns="0" anchor="t"/>
          <a:lstStyle>
            <a:defPPr algn="l">
              <a:defRPr sz="2100" b="1">
                <a:solidFill>
                  <a:srgbClr val="FFFFFF"/>
                </a:solidFill>
                <a:latin typeface="Calibri"/>
                <a:ea typeface="Calibri"/>
                <a:cs typeface="Calibri"/>
              </a:defRPr>
            </a:defPPr>
          </a:lstStyle>
          <a:p>
            <a:pPr algn="l">
              <a:defRPr sz="2100" b="1">
                <a:solidFill>
                  <a:srgbClr val="FFFFFF"/>
                </a:solidFill>
                <a:latin typeface="Calibri"/>
                <a:ea typeface="Calibri"/>
                <a:cs typeface="Calibri"/>
              </a:defRPr>
            </a:pPr>
            <a:r>
              <a:rPr sz="2100" b="1">
                <a:solidFill>
                  <a:srgbClr val="FFFFFF"/>
                </a:solidFill>
                <a:latin typeface="Calibri"/>
                <a:ea typeface="Calibri"/>
                <a:cs typeface="Calibri"/>
              </a:rPr>
              <a:t>First audience</a:t>
            </a:r>
          </a:p>
        </p:txBody>
      </p:sp>
      <p:sp>
        <p:nvSpPr>
          <p:cNvPr id="132" name="Students coordinating campus work.&#10;Freelancers handling client fo">
            <a:extLst>
              <a:ext uri="{FF2B5EF4-FFF2-40B4-BE49-F238E27FC236}">
                <ns4:creationId id="{736C2AA8-5CB6-460D-875E-8BFE954EC748}"/>
              </a:ext>
            </a:extLst>
          </p:cNvPr>
          <p:cNvSpPr>
            <a:spLocks noGrp="1"/>
          </p:cNvSpPr>
          <p:nvPr/>
        </p:nvSpPr>
        <p:spPr>
          <a:xfrm>
            <a:off x="5400675" y="2971800"/>
            <a:ext cx="5572125" cy="638175"/>
          </a:xfrm>
          <a:prstGeom prst="rect">
            <a:avLst/>
          </a:prstGeom>
          <a:noFill/>
          <a:ln w="0">
            <a:noFill/>
          </a:ln>
        </p:spPr>
        <p:txBody>
          <a:bodyPr lIns="0" tIns="0" rIns="0" bIns="0" anchor="t"/>
          <a:lstStyle>
            <a:defPPr algn="l">
              <a:defRPr sz="1875" b="0">
                <a:solidFill>
                  <a:srgbClr val="C1C5CE"/>
                </a:solidFill>
                <a:latin typeface="Calibri"/>
                <a:ea typeface="Calibri"/>
                <a:cs typeface="Calibri"/>
              </a:defRPr>
            </a:defPPr>
          </a:lstStyle>
          <a:p>
            <a:pPr algn="l">
              <a:defRPr sz="1875" b="0">
                <a:solidFill>
                  <a:srgbClr val="C1C5CE"/>
                </a:solidFill>
                <a:latin typeface="Calibri"/>
                <a:ea typeface="Calibri"/>
                <a:cs typeface="Calibri"/>
              </a:defRPr>
            </a:pPr>
            <a:r>
              <a:rPr sz="1875" b="0">
                <a:solidFill>
                  <a:srgbClr val="C1C5CE"/>
                </a:solidFill>
                <a:latin typeface="Calibri"/>
                <a:ea typeface="Calibri"/>
                <a:cs typeface="Calibri"/>
              </a:rPr>
              <a:t>Students coordinating campus work.</a:t>
            </a:r>
          </a:p>
          <a:p>
            <a:pPr algn="l">
              <a:defRPr sz="1875" b="0">
                <a:solidFill>
                  <a:srgbClr val="C1C5CE"/>
                </a:solidFill>
                <a:latin typeface="Calibri"/>
                <a:ea typeface="Calibri"/>
                <a:cs typeface="Calibri"/>
              </a:defRPr>
            </a:pPr>
            <a:r>
              <a:rPr sz="1875" b="0">
                <a:solidFill>
                  <a:srgbClr val="C1C5CE"/>
                </a:solidFill>
                <a:latin typeface="Calibri"/>
                <a:ea typeface="Calibri"/>
                <a:cs typeface="Calibri"/>
              </a:rPr>
              <a:t>Freelancers handling client follow-ups.</a:t>
            </a:r>
          </a:p>
        </p:txBody>
      </p:sp>
      <p:sp>
        <p:nvSpPr>
          <p:cNvPr id="133" name="India-focused roadmap">
            <a:extLst>
              <a:ext uri="{FF2B5EF4-FFF2-40B4-BE49-F238E27FC236}">
                <ns4:creationId id="{15A46C70-C702-4D8D-A0B2-A730CD3A8EBA}"/>
              </a:ext>
            </a:extLst>
          </p:cNvPr>
          <p:cNvSpPr>
            <a:spLocks noGrp="1"/>
          </p:cNvSpPr>
          <p:nvPr/>
        </p:nvSpPr>
        <p:spPr>
          <a:xfrm>
            <a:off x="5400675" y="3914775"/>
            <a:ext cx="5572125" cy="342900"/>
          </a:xfrm>
          <a:prstGeom prst="rect">
            <a:avLst/>
          </a:prstGeom>
          <a:noFill/>
          <a:ln w="0">
            <a:noFill/>
          </a:ln>
        </p:spPr>
        <p:txBody>
          <a:bodyPr lIns="0" tIns="0" rIns="0" bIns="0" anchor="t"/>
          <a:lstStyle>
            <a:defPPr algn="l">
              <a:defRPr sz="2100" b="1">
                <a:solidFill>
                  <a:srgbClr val="FFFFFF"/>
                </a:solidFill>
                <a:latin typeface="Calibri"/>
                <a:ea typeface="Calibri"/>
                <a:cs typeface="Calibri"/>
              </a:defRPr>
            </a:defPPr>
          </a:lstStyle>
          <a:p>
            <a:pPr algn="l">
              <a:defRPr sz="2100" b="1">
                <a:solidFill>
                  <a:srgbClr val="FFFFFF"/>
                </a:solidFill>
                <a:latin typeface="Calibri"/>
                <a:ea typeface="Calibri"/>
                <a:cs typeface="Calibri"/>
              </a:defRPr>
            </a:pPr>
            <a:r>
              <a:rPr sz="2100" b="1">
                <a:solidFill>
                  <a:srgbClr val="FFFFFF"/>
                </a:solidFill>
                <a:latin typeface="Calibri"/>
                <a:ea typeface="Calibri"/>
                <a:cs typeface="Calibri"/>
              </a:rPr>
              <a:t>India-focused roadmap</a:t>
            </a:r>
          </a:p>
        </p:txBody>
      </p:sp>
      <p:sp>
        <p:nvSpPr>
          <p:cNvPr id="134" name="Hindi and Tamil workflows, local skills&#10;and clear model costs.">
            <a:extLst>
              <a:ext uri="{FF2B5EF4-FFF2-40B4-BE49-F238E27FC236}">
                <ns4:creationId id="{DC2685D3-5AF0-487E-85F6-BA71CA579477}"/>
              </a:ext>
            </a:extLst>
          </p:cNvPr>
          <p:cNvSpPr>
            <a:spLocks noGrp="1"/>
          </p:cNvSpPr>
          <p:nvPr/>
        </p:nvSpPr>
        <p:spPr>
          <a:xfrm>
            <a:off x="5400675" y="4324350"/>
            <a:ext cx="5572125" cy="638175"/>
          </a:xfrm>
          <a:prstGeom prst="rect">
            <a:avLst/>
          </a:prstGeom>
          <a:noFill/>
          <a:ln w="0">
            <a:noFill/>
          </a:ln>
        </p:spPr>
        <p:txBody>
          <a:bodyPr lIns="0" tIns="0" rIns="0" bIns="0" anchor="t"/>
          <a:lstStyle>
            <a:defPPr algn="l">
              <a:defRPr sz="1875" b="0">
                <a:solidFill>
                  <a:srgbClr val="C1C5CE"/>
                </a:solidFill>
                <a:latin typeface="Calibri"/>
                <a:ea typeface="Calibri"/>
                <a:cs typeface="Calibri"/>
              </a:defRPr>
            </a:defPPr>
          </a:lstStyle>
          <a:p>
            <a:pPr algn="l">
              <a:defRPr sz="1875" b="0">
                <a:solidFill>
                  <a:srgbClr val="C1C5CE"/>
                </a:solidFill>
                <a:latin typeface="Calibri"/>
                <a:ea typeface="Calibri"/>
                <a:cs typeface="Calibri"/>
              </a:defRPr>
            </a:pPr>
            <a:r>
              <a:rPr sz="1875" b="0">
                <a:solidFill>
                  <a:srgbClr val="C1C5CE"/>
                </a:solidFill>
                <a:latin typeface="Calibri"/>
                <a:ea typeface="Calibri"/>
                <a:cs typeface="Calibri"/>
              </a:rPr>
              <a:t>Hindi and Tamil workflows, local skills</a:t>
            </a:r>
          </a:p>
          <a:p>
            <a:pPr algn="l">
              <a:defRPr sz="1875" b="0">
                <a:solidFill>
                  <a:srgbClr val="C1C5CE"/>
                </a:solidFill>
                <a:latin typeface="Calibri"/>
                <a:ea typeface="Calibri"/>
                <a:cs typeface="Calibri"/>
              </a:defRPr>
            </a:pPr>
            <a:r>
              <a:rPr sz="1875" b="0">
                <a:solidFill>
                  <a:srgbClr val="C1C5CE"/>
                </a:solidFill>
                <a:latin typeface="Calibri"/>
                <a:ea typeface="Calibri"/>
                <a:cs typeface="Calibri"/>
              </a:rPr>
              <a:t>and clear model costs.</a:t>
            </a:r>
          </a:p>
        </p:txBody>
      </p:sp>
      <p:sp>
        <p:nvSpPr>
          <p:cNvPr id="135" name="Pilot with one campus">
            <a:extLst>
              <a:ext uri="{FF2B5EF4-FFF2-40B4-BE49-F238E27FC236}">
                <ns4:creationId id="{51F2FE36-39AE-4B40-9E28-FD19A6B02035}"/>
              </a:ext>
            </a:extLst>
          </p:cNvPr>
          <p:cNvSpPr>
            <a:spLocks noGrp="1"/>
          </p:cNvSpPr>
          <p:nvPr/>
        </p:nvSpPr>
        <p:spPr>
          <a:xfrm>
            <a:off x="990600" y="5238750"/>
            <a:ext cx="10191750" cy="361950"/>
          </a:xfrm>
          <a:prstGeom prst="rect">
            <a:avLst/>
          </a:prstGeom>
          <a:noFill/>
          <a:ln w="0">
            <a:noFill/>
          </a:ln>
        </p:spPr>
        <p:txBody>
          <a:bodyPr lIns="0" tIns="0" rIns="0" bIns="0" anchor="t"/>
          <a:lstStyle>
            <a:defPPr algn="l">
              <a:defRPr sz="2250" b="1">
                <a:solidFill>
                  <a:srgbClr val="FFFFFF"/>
                </a:solidFill>
                <a:latin typeface="Calibri"/>
                <a:ea typeface="Calibri"/>
                <a:cs typeface="Calibri"/>
              </a:defRPr>
            </a:defPPr>
          </a:lstStyle>
          <a:p>
            <a:pPr algn="l">
              <a:defRPr sz="2250" b="1">
                <a:solidFill>
                  <a:srgbClr val="FFFFFF"/>
                </a:solidFill>
                <a:latin typeface="Calibri"/>
                <a:ea typeface="Calibri"/>
                <a:cs typeface="Calibri"/>
              </a:defRPr>
            </a:pPr>
            <a:r>
              <a:rPr sz="2250" b="1">
                <a:solidFill>
                  <a:srgbClr val="FFFFFF"/>
                </a:solidFill>
                <a:latin typeface="Calibri"/>
                <a:ea typeface="Calibri"/>
                <a:cs typeface="Calibri"/>
              </a:rPr>
              <a:t>Pilot with one campus</a:t>
            </a:r>
          </a:p>
        </p:txBody>
      </p:sp>
      <p:sp>
        <p:nvSpPr>
          <p:cNvPr id="136" name="Measure completed tasks, time saved, repeat use and approval accu">
            <a:extLst>
              <a:ext uri="{FF2B5EF4-FFF2-40B4-BE49-F238E27FC236}">
                <ns4:creationId id="{DD607FA2-91A6-44D9-9564-140A27A4A3F1}"/>
              </a:ext>
            </a:extLst>
          </p:cNvPr>
          <p:cNvSpPr>
            <a:spLocks noGrp="1"/>
          </p:cNvSpPr>
          <p:nvPr/>
        </p:nvSpPr>
        <p:spPr>
          <a:xfrm>
            <a:off x="990600" y="5705475"/>
            <a:ext cx="10191750" cy="361950"/>
          </a:xfrm>
          <a:prstGeom prst="rect">
            <a:avLst/>
          </a:prstGeom>
          <a:noFill/>
          <a:ln w="0">
            <a:noFill/>
          </a:ln>
        </p:spPr>
        <p:txBody>
          <a:bodyPr lIns="0" tIns="0" rIns="0" bIns="0" anchor="t"/>
          <a:lstStyle>
            <a:defPPr algn="l">
              <a:defRPr sz="1800" b="0">
                <a:solidFill>
                  <a:srgbClr val="C1C5CE"/>
                </a:solidFill>
                <a:latin typeface="Calibri"/>
                <a:ea typeface="Calibri"/>
                <a:cs typeface="Calibri"/>
              </a:defRPr>
            </a:defPPr>
          </a:lstStyle>
          <a:p>
            <a:pPr algn="l">
              <a:defRPr sz="1800" b="0">
                <a:solidFill>
                  <a:srgbClr val="C1C5CE"/>
                </a:solidFill>
                <a:latin typeface="Calibri"/>
                <a:ea typeface="Calibri"/>
                <a:cs typeface="Calibri"/>
              </a:defRPr>
            </a:pPr>
            <a:r>
              <a:rPr sz="1800" b="0">
                <a:solidFill>
                  <a:srgbClr val="C1C5CE"/>
                </a:solidFill>
                <a:latin typeface="Calibri"/>
                <a:ea typeface="Calibri"/>
                <a:cs typeface="Calibri"/>
              </a:rPr>
              <a:t>Measure completed tasks, time saved, repeat use and approval accuracy.</a:t>
            </a:r>
          </a:p>
        </p:txBody>
      </p:sp>
    </p:spTree>
  </p:cSld>
  <p:clrMapOvr>
    <a:masterClrMapping/>
  </p:clrMapOvr>
</p:sld>
</file>

<file path=ppt/theme/theme1.xml><?xml version="1.0" encoding="utf-8"?>
<a:theme xmlns:a="http://schemas.openxmlformats.org/drawingml/2006/main" name="CINTEL Neon">
  <a:themeElements>
    <a:clrScheme name="CINTEL Neon">
      <a:dk1>
        <a:srgbClr val="FFFFFF"/>
      </a:dk1>
      <a:lt1>
        <a:srgbClr val="05060B"/>
      </a:lt1>
      <a:dk2>
        <a:srgbClr val="AEB6CC"/>
      </a:dk2>
      <a:lt2>
        <a:srgbClr val="0B1020"/>
      </a:lt2>
      <a:accent1>
        <a:srgbClr val="00E5FF"/>
      </a:accent1>
      <a:accent2>
        <a:srgbClr val="FF2BD6"/>
      </a:accent2>
      <a:accent3>
        <a:srgbClr val="7C4DFF"/>
      </a:accent3>
      <a:accent4>
        <a:srgbClr val="FFB000"/>
      </a:accent4>
      <a:accent5>
        <a:srgbClr val="FF3D6E"/>
      </a:accent5>
      <a:accent6>
        <a:srgbClr val="2BFF9A"/>
      </a:accent6>
      <a:hlink>
        <a:srgbClr val="00E5FF"/>
      </a:hlink>
      <a:folHlink>
        <a:srgbClr val="FF2BD6"/>
      </a:folHlink>
    </a:clrScheme>
    <a:fontScheme name="CINTEL Ne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453</TotalTime>
  <Words>100</Words>
  <Application>Microsoft Office PowerPoint</Application>
  <PresentationFormat>Widescreen</PresentationFormat>
  <Paragraphs>39</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Arial Black</vt:lpstr>
      <vt:lpstr>Calibri</vt:lpstr>
      <vt:lpstr>CINTEL Neon</vt:lpstr>
      <vt:lpstr>IDEATHON 3.0</vt:lpstr>
      <vt:lpstr>PROBLEM STATEMENT</vt:lpstr>
      <vt:lpstr>PROPOSED SOLUTION</vt:lpstr>
      <vt:lpstr>INNOVATION &amp; KEY FEATURES</vt:lpstr>
      <vt:lpstr>TECHNICAL APPROACH &amp; PROTOTYPE</vt:lpstr>
      <vt:lpstr>FEASIBILITY &amp; VIABILITY</vt:lpstr>
      <vt:lpstr>IMPACT &amp; BENEFITS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CINTEL Ideathon 3.0 – Pitch Deck Template</dc:title>
  <dc:subject>PptxGenJS Presentation</dc:subject>
  <dc:creator>CINTEL Student Association</dc:creator>
  <cp:lastModifiedBy>Nataasha Leo</cp:lastModifiedBy>
  <cp:revision>4</cp:revision>
  <dcterms:created xsi:type="dcterms:W3CDTF">2026-10-13T17:27:27Z</dcterms:created>
  <dcterms:modified xsi:type="dcterms:W3CDTF">2026-10-14T01:05:27Z</dcterms:modified>
</cp:coreProperties>
</file>